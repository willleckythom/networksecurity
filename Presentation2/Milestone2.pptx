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CA317E-BE69-4155-A6CB-EEA715F6C29F}" v="22" dt="2026-04-16T06:33:43.4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82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794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73152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4008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Firewall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Hardening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22402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— Reverse Proxy Security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834640"/>
            <a:ext cx="3200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8" name="Text 5"/>
          <p:cNvSpPr/>
          <p:nvPr/>
        </p:nvSpPr>
        <p:spPr>
          <a:xfrm>
            <a:off x="457200" y="3017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security features implemented on the reverse proxy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4663440"/>
            <a:ext cx="2560320" cy="3017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0" name="Text 7"/>
          <p:cNvSpPr/>
          <p:nvPr/>
        </p:nvSpPr>
        <p:spPr>
          <a:xfrm>
            <a:off x="457200" y="466344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INFO-H303 · Network Security · ULB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— Why a WAF on the Reverse Proxy?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554480" cy="3474720"/>
          </a:xfrm>
          <a:prstGeom prst="rect">
            <a:avLst/>
          </a:prstGeom>
          <a:solidFill>
            <a:srgbClr val="FFE8E8"/>
          </a:solidFill>
          <a:ln w="254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03120" y="822960"/>
            <a:ext cx="1828800" cy="3474720"/>
          </a:xfrm>
          <a:prstGeom prst="rect">
            <a:avLst/>
          </a:prstGeom>
          <a:solidFill>
            <a:srgbClr val="E0F2F4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7" name="Text 5"/>
          <p:cNvSpPr/>
          <p:nvPr/>
        </p:nvSpPr>
        <p:spPr>
          <a:xfrm>
            <a:off x="2103120" y="914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(WAF)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06240" y="822960"/>
            <a:ext cx="1828800" cy="3474720"/>
          </a:xfrm>
          <a:prstGeom prst="rect">
            <a:avLst/>
          </a:prstGeom>
          <a:solidFill>
            <a:srgbClr val="E8F8F0"/>
          </a:solidFill>
          <a:ln w="25400">
            <a:solidFill>
              <a:srgbClr val="1B8C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9" name="Text 7"/>
          <p:cNvSpPr/>
          <p:nvPr/>
        </p:nvSpPr>
        <p:spPr>
          <a:xfrm>
            <a:off x="4206240" y="914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8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Network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554480"/>
            <a:ext cx="118872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1" name="Text 9"/>
          <p:cNvSpPr/>
          <p:nvPr/>
        </p:nvSpPr>
        <p:spPr>
          <a:xfrm>
            <a:off x="411480" y="15544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2194560"/>
            <a:ext cx="118872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3" name="Text 11"/>
          <p:cNvSpPr/>
          <p:nvPr/>
        </p:nvSpPr>
        <p:spPr>
          <a:xfrm>
            <a:off x="411480" y="21945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194560" y="1463040"/>
            <a:ext cx="1645920" cy="1645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15" name="Text 13"/>
          <p:cNvSpPr/>
          <p:nvPr/>
        </p:nvSpPr>
        <p:spPr>
          <a:xfrm>
            <a:off x="2194560" y="14630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WAF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1417320"/>
            <a:ext cx="1371600" cy="411480"/>
          </a:xfrm>
          <a:prstGeom prst="rect">
            <a:avLst/>
          </a:prstGeom>
          <a:solidFill>
            <a:srgbClr val="1B8C5E"/>
          </a:solidFill>
          <a:ln w="12700">
            <a:solidFill>
              <a:srgbClr val="1B8C5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7" name="Text 15"/>
          <p:cNvSpPr/>
          <p:nvPr/>
        </p:nvSpPr>
        <p:spPr>
          <a:xfrm>
            <a:off x="4343400" y="1417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Server-1 (NGINX)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343400" y="2011680"/>
            <a:ext cx="1371600" cy="411480"/>
          </a:xfrm>
          <a:prstGeom prst="rect">
            <a:avLst/>
          </a:prstGeom>
          <a:solidFill>
            <a:srgbClr val="1B8C5E"/>
          </a:solidFill>
          <a:ln w="12700">
            <a:solidFill>
              <a:srgbClr val="1B8C5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9" name="Text 17"/>
          <p:cNvSpPr/>
          <p:nvPr/>
        </p:nvSpPr>
        <p:spPr>
          <a:xfrm>
            <a:off x="4343400" y="20116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Server-2 (NGINX)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28800" y="2286000"/>
            <a:ext cx="2743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21" name="Shape 19"/>
          <p:cNvSpPr/>
          <p:nvPr/>
        </p:nvSpPr>
        <p:spPr>
          <a:xfrm>
            <a:off x="3931920" y="2286000"/>
            <a:ext cx="2743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22" name="Shape 20"/>
          <p:cNvSpPr/>
          <p:nvPr/>
        </p:nvSpPr>
        <p:spPr>
          <a:xfrm>
            <a:off x="6309360" y="914400"/>
            <a:ext cx="25603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23" name="Text 21"/>
          <p:cNvSpPr/>
          <p:nvPr/>
        </p:nvSpPr>
        <p:spPr>
          <a:xfrm>
            <a:off x="6400800" y="1005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Inspect HTTP traffic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13533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classic filter IP/port — WAF inspects the content of the HTTP requests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309360" y="2286000"/>
            <a:ext cx="25603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26" name="Text 24"/>
          <p:cNvSpPr/>
          <p:nvPr/>
        </p:nvSpPr>
        <p:spPr>
          <a:xfrm>
            <a:off x="6400800" y="23774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Single control point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27249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internet traffic → Servers go through the proxy → one single point to secure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09360" y="3657600"/>
            <a:ext cx="25603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29" name="Text 27"/>
          <p:cNvSpPr/>
          <p:nvPr/>
        </p:nvSpPr>
        <p:spPr>
          <a:xfrm>
            <a:off x="6400800" y="37490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Link with M1 attacks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409651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(sniffing), A4 (flood), A1 (server access) — WAF directly addresses these attacks</a:t>
            </a:r>
            <a:endParaRPr lang="fr-B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Security Features —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301752" y="896112"/>
            <a:ext cx="384048" cy="38404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301752" y="896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914400"/>
            <a:ext cx="1280160" cy="411480"/>
          </a:xfrm>
          <a:prstGeom prst="rect">
            <a:avLst/>
          </a:prstGeom>
          <a:solidFill>
            <a:srgbClr val="1A2A4E"/>
          </a:solidFill>
          <a:ln w="12700">
            <a:solidFill>
              <a:srgbClr val="1A2A4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8" name="Text 6"/>
          <p:cNvSpPr/>
          <p:nvPr/>
        </p:nvSpPr>
        <p:spPr>
          <a:xfrm>
            <a:off x="777240" y="914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3898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Server Version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04872" y="82296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11" name="Shape 9"/>
          <p:cNvSpPr/>
          <p:nvPr/>
        </p:nvSpPr>
        <p:spPr>
          <a:xfrm>
            <a:off x="2478024" y="896112"/>
            <a:ext cx="384048" cy="38404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2" name="Text 10"/>
          <p:cNvSpPr/>
          <p:nvPr/>
        </p:nvSpPr>
        <p:spPr>
          <a:xfrm>
            <a:off x="2478024" y="896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53512" y="914400"/>
            <a:ext cx="1280160" cy="411480"/>
          </a:xfrm>
          <a:prstGeom prst="rect">
            <a:avLst/>
          </a:prstGeom>
          <a:solidFill>
            <a:srgbClr val="1A2A4E"/>
          </a:solidFill>
          <a:ln w="12700">
            <a:solidFill>
              <a:srgbClr val="1A2A4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4" name="Text 12"/>
          <p:cNvSpPr/>
          <p:nvPr/>
        </p:nvSpPr>
        <p:spPr>
          <a:xfrm>
            <a:off x="2953512" y="914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496312" y="13898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HTTP Headers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81144" y="822960"/>
            <a:ext cx="20116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17" name="Shape 15"/>
          <p:cNvSpPr/>
          <p:nvPr/>
        </p:nvSpPr>
        <p:spPr>
          <a:xfrm>
            <a:off x="4654296" y="89611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8" name="Text 16"/>
          <p:cNvSpPr/>
          <p:nvPr/>
        </p:nvSpPr>
        <p:spPr>
          <a:xfrm>
            <a:off x="4654296" y="896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29784" y="914400"/>
            <a:ext cx="1280160" cy="411480"/>
          </a:xfrm>
          <a:prstGeom prst="rect">
            <a:avLst/>
          </a:prstGeom>
          <a:solidFill>
            <a:srgbClr val="005A64"/>
          </a:solidFill>
          <a:ln w="12700">
            <a:solidFill>
              <a:srgbClr val="005A64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20" name="Text 18"/>
          <p:cNvSpPr/>
          <p:nvPr/>
        </p:nvSpPr>
        <p:spPr>
          <a:xfrm>
            <a:off x="5129784" y="914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SSL/TLS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72584" y="13898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SSL/TLS Best Practices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18304" y="2084832"/>
            <a:ext cx="173736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23" name="Text 21"/>
          <p:cNvSpPr/>
          <p:nvPr/>
        </p:nvSpPr>
        <p:spPr>
          <a:xfrm>
            <a:off x="4718304" y="20848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mitigates A3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757416" y="82296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25" name="Shape 23"/>
          <p:cNvSpPr/>
          <p:nvPr/>
        </p:nvSpPr>
        <p:spPr>
          <a:xfrm>
            <a:off x="6830568" y="896112"/>
            <a:ext cx="384048" cy="38404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26" name="Text 24"/>
          <p:cNvSpPr/>
          <p:nvPr/>
        </p:nvSpPr>
        <p:spPr>
          <a:xfrm>
            <a:off x="6830568" y="896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06056" y="914400"/>
            <a:ext cx="1280160" cy="411480"/>
          </a:xfrm>
          <a:prstGeom prst="rect">
            <a:avLst/>
          </a:prstGeom>
          <a:solidFill>
            <a:srgbClr val="1A2A4E"/>
          </a:solidFill>
          <a:ln w="12700">
            <a:solidFill>
              <a:srgbClr val="1A2A4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28" name="Text 26"/>
          <p:cNvSpPr/>
          <p:nvPr/>
        </p:nvSpPr>
        <p:spPr>
          <a:xfrm>
            <a:off x="7306056" y="9144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848856" y="138988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Methods &amp; Size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8600" y="2834640"/>
            <a:ext cx="20116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31" name="Shape 29"/>
          <p:cNvSpPr/>
          <p:nvPr/>
        </p:nvSpPr>
        <p:spPr>
          <a:xfrm>
            <a:off x="301752" y="290779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32" name="Text 30"/>
          <p:cNvSpPr/>
          <p:nvPr/>
        </p:nvSpPr>
        <p:spPr>
          <a:xfrm>
            <a:off x="301752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" y="2926080"/>
            <a:ext cx="1280160" cy="411480"/>
          </a:xfrm>
          <a:prstGeom prst="rect">
            <a:avLst/>
          </a:prstGeom>
          <a:solidFill>
            <a:srgbClr val="005A64"/>
          </a:solidFill>
          <a:ln w="12700">
            <a:solidFill>
              <a:srgbClr val="005A64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34" name="Text 32"/>
          <p:cNvSpPr/>
          <p:nvPr/>
        </p:nvSpPr>
        <p:spPr>
          <a:xfrm>
            <a:off x="777240" y="2926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 LIM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0040" y="34015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73736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37" name="Text 35"/>
          <p:cNvSpPr/>
          <p:nvPr/>
        </p:nvSpPr>
        <p:spPr>
          <a:xfrm>
            <a:off x="365760" y="40965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mitigates A4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404872" y="2834640"/>
            <a:ext cx="2011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39" name="Shape 37"/>
          <p:cNvSpPr/>
          <p:nvPr/>
        </p:nvSpPr>
        <p:spPr>
          <a:xfrm>
            <a:off x="2478024" y="2907792"/>
            <a:ext cx="384048" cy="38404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40" name="Text 38"/>
          <p:cNvSpPr/>
          <p:nvPr/>
        </p:nvSpPr>
        <p:spPr>
          <a:xfrm>
            <a:off x="2478024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953512" y="2926080"/>
            <a:ext cx="1280160" cy="411480"/>
          </a:xfrm>
          <a:prstGeom prst="rect">
            <a:avLst/>
          </a:prstGeom>
          <a:solidFill>
            <a:srgbClr val="1A2A4E"/>
          </a:solidFill>
          <a:ln w="12700">
            <a:solidFill>
              <a:srgbClr val="1A2A4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42" name="Text 40"/>
          <p:cNvSpPr/>
          <p:nvPr/>
        </p:nvSpPr>
        <p:spPr>
          <a:xfrm>
            <a:off x="2953512" y="2926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496312" y="34015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&amp; Directory Access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81144" y="2834640"/>
            <a:ext cx="20116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45" name="Shape 43"/>
          <p:cNvSpPr/>
          <p:nvPr/>
        </p:nvSpPr>
        <p:spPr>
          <a:xfrm>
            <a:off x="4654296" y="290779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46" name="Text 44"/>
          <p:cNvSpPr/>
          <p:nvPr/>
        </p:nvSpPr>
        <p:spPr>
          <a:xfrm>
            <a:off x="4654296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129784" y="2926080"/>
            <a:ext cx="1280160" cy="411480"/>
          </a:xfrm>
          <a:prstGeom prst="rect">
            <a:avLst/>
          </a:prstGeom>
          <a:solidFill>
            <a:srgbClr val="005A64"/>
          </a:solidFill>
          <a:ln w="12700">
            <a:solidFill>
              <a:srgbClr val="005A64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48" name="Text 46"/>
          <p:cNvSpPr/>
          <p:nvPr/>
        </p:nvSpPr>
        <p:spPr>
          <a:xfrm>
            <a:off x="5129784" y="2926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672584" y="34015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Monitoring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718304" y="4096512"/>
            <a:ext cx="173736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51" name="Text 49"/>
          <p:cNvSpPr/>
          <p:nvPr/>
        </p:nvSpPr>
        <p:spPr>
          <a:xfrm>
            <a:off x="4718304" y="40965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detects A3/A4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757416" y="2834640"/>
            <a:ext cx="201168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53" name="Shape 51"/>
          <p:cNvSpPr/>
          <p:nvPr/>
        </p:nvSpPr>
        <p:spPr>
          <a:xfrm>
            <a:off x="6830568" y="290779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54" name="Text 52"/>
          <p:cNvSpPr/>
          <p:nvPr/>
        </p:nvSpPr>
        <p:spPr>
          <a:xfrm>
            <a:off x="6830568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306056" y="2926080"/>
            <a:ext cx="1280160" cy="411480"/>
          </a:xfrm>
          <a:prstGeom prst="rect">
            <a:avLst/>
          </a:prstGeom>
          <a:solidFill>
            <a:srgbClr val="005A64"/>
          </a:solidFill>
          <a:ln w="12700">
            <a:solidFill>
              <a:srgbClr val="005A64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56" name="Text 54"/>
          <p:cNvSpPr/>
          <p:nvPr/>
        </p:nvSpPr>
        <p:spPr>
          <a:xfrm>
            <a:off x="7306056" y="2926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BLOCK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848856" y="34015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IP-based Restrictions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894576" y="4096512"/>
            <a:ext cx="173736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59" name="Text 57"/>
          <p:cNvSpPr/>
          <p:nvPr/>
        </p:nvSpPr>
        <p:spPr>
          <a:xfrm>
            <a:off x="6894576" y="40965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mitigates A1/A2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1 &amp; 2 — Server Info &amp; HTTP Headers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0624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2062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Hide Server Version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5412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654126"/>
            <a:ext cx="50292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9" name="Text 7"/>
          <p:cNvSpPr/>
          <p:nvPr/>
        </p:nvSpPr>
        <p:spPr>
          <a:xfrm>
            <a:off x="365760" y="165412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60120" y="2020824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1200" dirty="0"/>
              <a:t>Default: HTTP headers exposed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Server version visible (nginx/1.18.0)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Attackers can target known CVEs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1200" dirty="0"/>
              <a:t>Version-based exploitation possible</a:t>
            </a:r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502920" cy="256032"/>
          </a:xfrm>
          <a:prstGeom prst="rect">
            <a:avLst/>
          </a:prstGeom>
          <a:solidFill>
            <a:srgbClr val="1B8C5E"/>
          </a:solidFill>
          <a:ln w="12700">
            <a:solidFill>
              <a:srgbClr val="1B8C5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6" name="Text 14"/>
          <p:cNvSpPr/>
          <p:nvPr/>
        </p:nvSpPr>
        <p:spPr>
          <a:xfrm>
            <a:off x="365760" y="31089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82980" y="3367337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is not visible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822960"/>
            <a:ext cx="420624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19" name="Shape 17"/>
          <p:cNvSpPr/>
          <p:nvPr/>
        </p:nvSpPr>
        <p:spPr>
          <a:xfrm>
            <a:off x="4709160" y="822960"/>
            <a:ext cx="42062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20" name="Text 18"/>
          <p:cNvSpPr/>
          <p:nvPr/>
        </p:nvSpPr>
        <p:spPr>
          <a:xfrm>
            <a:off x="4846320" y="8229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Secure HTTP Headers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165412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46320" y="1654126"/>
            <a:ext cx="50292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23" name="Text 21"/>
          <p:cNvSpPr/>
          <p:nvPr/>
        </p:nvSpPr>
        <p:spPr>
          <a:xfrm>
            <a:off x="4846320" y="165412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40680" y="1964787"/>
            <a:ext cx="3337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1200" dirty="0"/>
              <a:t>Control browser </a:t>
            </a:r>
            <a:r>
              <a:rPr lang="fr-BE" sz="1200" dirty="0" err="1"/>
              <a:t>behavior</a:t>
            </a:r>
            <a:endParaRPr lang="fr-BE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1200" dirty="0" err="1"/>
              <a:t>Protect</a:t>
            </a:r>
            <a:r>
              <a:rPr lang="fr-BE" sz="1200" dirty="0"/>
              <a:t> </a:t>
            </a:r>
            <a:r>
              <a:rPr lang="fr-BE" sz="1200" dirty="0" err="1"/>
              <a:t>against</a:t>
            </a:r>
            <a:r>
              <a:rPr lang="fr-BE" sz="1200" dirty="0"/>
              <a:t> XSS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1200" dirty="0" err="1"/>
              <a:t>Prevent</a:t>
            </a:r>
            <a:r>
              <a:rPr lang="fr-BE" sz="1200" dirty="0"/>
              <a:t> clickjacking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1200" dirty="0"/>
              <a:t>Block MIME </a:t>
            </a:r>
            <a:r>
              <a:rPr lang="fr-BE" sz="1200" dirty="0" err="1"/>
              <a:t>sniffing</a:t>
            </a:r>
            <a:endParaRPr lang="fr-BE" sz="1200" dirty="0"/>
          </a:p>
        </p:txBody>
      </p:sp>
      <p:sp>
        <p:nvSpPr>
          <p:cNvPr id="29" name="Shape 27"/>
          <p:cNvSpPr/>
          <p:nvPr/>
        </p:nvSpPr>
        <p:spPr>
          <a:xfrm>
            <a:off x="4805289" y="3171327"/>
            <a:ext cx="502920" cy="256032"/>
          </a:xfrm>
          <a:prstGeom prst="rect">
            <a:avLst/>
          </a:prstGeom>
          <a:solidFill>
            <a:srgbClr val="1B8C5E"/>
          </a:solidFill>
          <a:ln w="12700">
            <a:solidFill>
              <a:srgbClr val="1B8C5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30" name="Text 28"/>
          <p:cNvSpPr/>
          <p:nvPr/>
        </p:nvSpPr>
        <p:spPr>
          <a:xfrm>
            <a:off x="4805289" y="3171327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40680" y="3422787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Security headers visible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3 &amp; 4 — SSL/TLS &amp; Request Control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0624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2062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SSL/TLS Best Practices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44168"/>
            <a:ext cx="3931920" cy="256032"/>
          </a:xfrm>
          <a:prstGeom prst="rect">
            <a:avLst/>
          </a:prstGeom>
          <a:solidFill>
            <a:srgbClr val="FFF0C0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8" name="Text 6"/>
          <p:cNvSpPr/>
          <p:nvPr/>
        </p:nvSpPr>
        <p:spPr>
          <a:xfrm>
            <a:off x="365760" y="13441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→ mitigates A3 (Sniffing)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920006"/>
            <a:ext cx="50292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365760" y="192000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60120" y="2377206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1200" dirty="0"/>
              <a:t>HTTP = </a:t>
            </a:r>
            <a:r>
              <a:rPr lang="fr-BE" sz="1200" dirty="0" err="1"/>
              <a:t>plaintext</a:t>
            </a:r>
            <a:r>
              <a:rPr lang="fr-BE" sz="1200" dirty="0"/>
              <a:t> (</a:t>
            </a:r>
            <a:r>
              <a:rPr lang="fr-BE" sz="1200" dirty="0" err="1"/>
              <a:t>readable</a:t>
            </a:r>
            <a:r>
              <a:rPr lang="fr-BE" sz="1200" dirty="0"/>
              <a:t> </a:t>
            </a:r>
            <a:r>
              <a:rPr lang="fr-BE" sz="1200" dirty="0" err="1"/>
              <a:t>traffic</a:t>
            </a:r>
            <a:r>
              <a:rPr lang="fr-BE" sz="12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Vulnerable to interception (STRIDE A3)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1200" dirty="0"/>
              <a:t>HTTPS = </a:t>
            </a:r>
            <a:r>
              <a:rPr lang="fr-BE" sz="1200" dirty="0" err="1"/>
              <a:t>encrypted</a:t>
            </a:r>
            <a:r>
              <a:rPr lang="fr-BE" sz="1200" dirty="0"/>
              <a:t> communication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1200" dirty="0" err="1"/>
              <a:t>Secures</a:t>
            </a:r>
            <a:r>
              <a:rPr lang="fr-BE" sz="1200" dirty="0"/>
              <a:t> client ↔ proxy exchanges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50" dirty="0">
              <a:solidFill>
                <a:srgbClr val="607D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502920" cy="256032"/>
          </a:xfrm>
          <a:prstGeom prst="rect">
            <a:avLst/>
          </a:prstGeom>
          <a:solidFill>
            <a:srgbClr val="1B8C5E"/>
          </a:solidFill>
          <a:ln w="12700">
            <a:solidFill>
              <a:srgbClr val="1B8C5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7" name="Text 15"/>
          <p:cNvSpPr/>
          <p:nvPr/>
        </p:nvSpPr>
        <p:spPr>
          <a:xfrm>
            <a:off x="365760" y="33832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60120" y="3639312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Wireshark, it is encrypted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822960"/>
            <a:ext cx="42062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AAB8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20" name="Shape 18"/>
          <p:cNvSpPr/>
          <p:nvPr/>
        </p:nvSpPr>
        <p:spPr>
          <a:xfrm>
            <a:off x="4709160" y="822960"/>
            <a:ext cx="420624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21" name="Text 19"/>
          <p:cNvSpPr/>
          <p:nvPr/>
        </p:nvSpPr>
        <p:spPr>
          <a:xfrm>
            <a:off x="4846320" y="8229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Request Methods &amp; Size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668780"/>
            <a:ext cx="50292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23" name="Text 21"/>
          <p:cNvSpPr/>
          <p:nvPr/>
        </p:nvSpPr>
        <p:spPr>
          <a:xfrm>
            <a:off x="4846320" y="16687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40680" y="2057166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Disable unused methods (PUT, DELETE and POST)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1200" dirty="0" err="1"/>
              <a:t>Reduce</a:t>
            </a:r>
            <a:r>
              <a:rPr lang="fr-BE" sz="1200" dirty="0"/>
              <a:t> </a:t>
            </a:r>
            <a:r>
              <a:rPr lang="fr-BE" sz="1200" dirty="0" err="1"/>
              <a:t>attack</a:t>
            </a:r>
            <a:r>
              <a:rPr lang="fr-BE" sz="1200" dirty="0"/>
              <a:t> surface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1200" dirty="0"/>
              <a:t>Limit </a:t>
            </a:r>
            <a:r>
              <a:rPr lang="fr-BE" sz="1200" dirty="0" err="1"/>
              <a:t>request</a:t>
            </a:r>
            <a:r>
              <a:rPr lang="fr-BE" sz="1200" dirty="0"/>
              <a:t> size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1200" dirty="0" err="1"/>
              <a:t>Prevent</a:t>
            </a:r>
            <a:r>
              <a:rPr lang="fr-BE" sz="1200" dirty="0"/>
              <a:t> </a:t>
            </a:r>
            <a:r>
              <a:rPr lang="fr-BE" sz="1200" dirty="0" err="1"/>
              <a:t>upload</a:t>
            </a:r>
            <a:r>
              <a:rPr lang="fr-BE" sz="1200" dirty="0"/>
              <a:t>-based </a:t>
            </a:r>
            <a:r>
              <a:rPr lang="fr-BE" sz="1200" dirty="0" err="1"/>
              <a:t>attacks</a:t>
            </a:r>
            <a:endParaRPr lang="fr-BE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3259836"/>
            <a:ext cx="502920" cy="256032"/>
          </a:xfrm>
          <a:prstGeom prst="rect">
            <a:avLst/>
          </a:prstGeom>
          <a:solidFill>
            <a:srgbClr val="1B8C5E"/>
          </a:solidFill>
          <a:ln w="12700">
            <a:solidFill>
              <a:srgbClr val="1B8C5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30" name="Text 28"/>
          <p:cNvSpPr/>
          <p:nvPr/>
        </p:nvSpPr>
        <p:spPr>
          <a:xfrm>
            <a:off x="4846320" y="325983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40680" y="3515868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PUT, DELETE and POST are not allowed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5 &amp; 6 — Rate Limiting &amp; File Access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0624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2062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Rate Limiting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44168"/>
            <a:ext cx="3931920" cy="256032"/>
          </a:xfrm>
          <a:prstGeom prst="rect">
            <a:avLst/>
          </a:prstGeom>
          <a:solidFill>
            <a:srgbClr val="FFF0C0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8" name="Text 6"/>
          <p:cNvSpPr/>
          <p:nvPr/>
        </p:nvSpPr>
        <p:spPr>
          <a:xfrm>
            <a:off x="365760" y="13441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→ mitigates A4 (SYN/HTTP Flood)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040636"/>
            <a:ext cx="50292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365760" y="204063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60120" y="2296668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 limit = risk of flooding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1200" dirty="0"/>
              <a:t>Resource saturation possible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Leads to denial of service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1200" dirty="0" err="1"/>
              <a:t>Protects</a:t>
            </a:r>
            <a:r>
              <a:rPr lang="fr-BE" sz="1200" dirty="0"/>
              <a:t> </a:t>
            </a:r>
            <a:r>
              <a:rPr lang="fr-BE" sz="1200" dirty="0" err="1"/>
              <a:t>against</a:t>
            </a:r>
            <a:r>
              <a:rPr lang="fr-BE" sz="1200" dirty="0"/>
              <a:t> abuse</a:t>
            </a:r>
          </a:p>
        </p:txBody>
      </p:sp>
      <p:sp>
        <p:nvSpPr>
          <p:cNvPr id="16" name="Shape 14"/>
          <p:cNvSpPr/>
          <p:nvPr/>
        </p:nvSpPr>
        <p:spPr>
          <a:xfrm>
            <a:off x="365760" y="3365754"/>
            <a:ext cx="502920" cy="256032"/>
          </a:xfrm>
          <a:prstGeom prst="rect">
            <a:avLst/>
          </a:prstGeom>
          <a:solidFill>
            <a:srgbClr val="1B8C5E"/>
          </a:solidFill>
          <a:ln w="12700">
            <a:solidFill>
              <a:srgbClr val="1B8C5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7" name="Text 15"/>
          <p:cNvSpPr/>
          <p:nvPr/>
        </p:nvSpPr>
        <p:spPr>
          <a:xfrm>
            <a:off x="365760" y="336575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60120" y="3602736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Send a lot of packets since the same IP</a:t>
            </a:r>
          </a:p>
        </p:txBody>
      </p:sp>
      <p:sp>
        <p:nvSpPr>
          <p:cNvPr id="19" name="Shape 17"/>
          <p:cNvSpPr/>
          <p:nvPr/>
        </p:nvSpPr>
        <p:spPr>
          <a:xfrm>
            <a:off x="4709160" y="861177"/>
            <a:ext cx="42062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AAB8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 dirty="0"/>
          </a:p>
        </p:txBody>
      </p:sp>
      <p:sp>
        <p:nvSpPr>
          <p:cNvPr id="20" name="Shape 18"/>
          <p:cNvSpPr/>
          <p:nvPr/>
        </p:nvSpPr>
        <p:spPr>
          <a:xfrm>
            <a:off x="4709160" y="822960"/>
            <a:ext cx="420624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21" name="Text 19"/>
          <p:cNvSpPr/>
          <p:nvPr/>
        </p:nvSpPr>
        <p:spPr>
          <a:xfrm>
            <a:off x="4846320" y="8229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Secure File &amp; Directory Access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728216"/>
            <a:ext cx="50292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23" name="Text 21"/>
          <p:cNvSpPr/>
          <p:nvPr/>
        </p:nvSpPr>
        <p:spPr>
          <a:xfrm>
            <a:off x="4846320" y="172821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40680" y="2040636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Files: .</a:t>
            </a:r>
            <a:r>
              <a:rPr lang="fr-FR" sz="1200" dirty="0" err="1"/>
              <a:t>env</a:t>
            </a:r>
            <a:r>
              <a:rPr lang="fr-FR" sz="1200" dirty="0"/>
              <a:t>, .git, config, logs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1200" dirty="0"/>
              <a:t>May </a:t>
            </a:r>
            <a:r>
              <a:rPr lang="fr-BE" sz="1200" dirty="0" err="1"/>
              <a:t>contain</a:t>
            </a:r>
            <a:r>
              <a:rPr lang="fr-BE" sz="1200" dirty="0"/>
              <a:t> </a:t>
            </a:r>
            <a:r>
              <a:rPr lang="fr-BE" sz="1200" dirty="0" err="1"/>
              <a:t>credentials</a:t>
            </a:r>
            <a:endParaRPr lang="fr-BE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Risk of server info leakage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Must be inaccessible via HTTP </a:t>
            </a:r>
          </a:p>
        </p:txBody>
      </p:sp>
      <p:sp>
        <p:nvSpPr>
          <p:cNvPr id="29" name="Shape 27"/>
          <p:cNvSpPr/>
          <p:nvPr/>
        </p:nvSpPr>
        <p:spPr>
          <a:xfrm>
            <a:off x="4805289" y="3083110"/>
            <a:ext cx="502920" cy="256032"/>
          </a:xfrm>
          <a:prstGeom prst="rect">
            <a:avLst/>
          </a:prstGeom>
          <a:solidFill>
            <a:srgbClr val="1B8C5E"/>
          </a:solidFill>
          <a:ln w="12700">
            <a:solidFill>
              <a:srgbClr val="1B8C5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30" name="Text 28"/>
          <p:cNvSpPr/>
          <p:nvPr/>
        </p:nvSpPr>
        <p:spPr>
          <a:xfrm>
            <a:off x="4805289" y="308311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99649" y="333457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 indexation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Can’t access a .env 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7 &amp; 8 — Logging &amp; IP Restrictions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45820"/>
            <a:ext cx="420624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2062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Logging &amp; Monitoring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44168"/>
            <a:ext cx="3931920" cy="256032"/>
          </a:xfrm>
          <a:prstGeom prst="rect">
            <a:avLst/>
          </a:prstGeom>
          <a:solidFill>
            <a:srgbClr val="FFF0C0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8" name="Text 6"/>
          <p:cNvSpPr/>
          <p:nvPr/>
        </p:nvSpPr>
        <p:spPr>
          <a:xfrm>
            <a:off x="365760" y="13441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→ detects A3 &amp; A4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991106"/>
            <a:ext cx="50292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0" name="Text 8"/>
          <p:cNvSpPr/>
          <p:nvPr/>
        </p:nvSpPr>
        <p:spPr>
          <a:xfrm>
            <a:off x="365760" y="199110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60120" y="2247138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1200" dirty="0"/>
              <a:t>No logs = no </a:t>
            </a:r>
            <a:r>
              <a:rPr lang="fr-BE" sz="1200" dirty="0" err="1"/>
              <a:t>visibility</a:t>
            </a:r>
            <a:endParaRPr lang="fr-BE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1200" dirty="0"/>
              <a:t>Impossible to </a:t>
            </a:r>
            <a:r>
              <a:rPr lang="fr-BE" sz="1200" dirty="0" err="1"/>
              <a:t>detect</a:t>
            </a:r>
            <a:r>
              <a:rPr lang="fr-BE" sz="1200" dirty="0"/>
              <a:t> </a:t>
            </a:r>
            <a:r>
              <a:rPr lang="fr-BE" sz="1200" dirty="0" err="1"/>
              <a:t>attacks</a:t>
            </a:r>
            <a:endParaRPr lang="fr-BE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1200" dirty="0"/>
              <a:t>No post-incident </a:t>
            </a:r>
            <a:r>
              <a:rPr lang="fr-BE" sz="1200" dirty="0" err="1"/>
              <a:t>analysis</a:t>
            </a:r>
            <a:endParaRPr lang="fr-BE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1200" dirty="0"/>
              <a:t>Logs = </a:t>
            </a:r>
            <a:r>
              <a:rPr lang="fr-BE" sz="1200" dirty="0" err="1"/>
              <a:t>foundation</a:t>
            </a:r>
            <a:r>
              <a:rPr lang="fr-BE" sz="1200" dirty="0"/>
              <a:t> of IDS </a:t>
            </a:r>
          </a:p>
        </p:txBody>
      </p:sp>
      <p:sp>
        <p:nvSpPr>
          <p:cNvPr id="16" name="Shape 14"/>
          <p:cNvSpPr/>
          <p:nvPr/>
        </p:nvSpPr>
        <p:spPr>
          <a:xfrm>
            <a:off x="365760" y="3221502"/>
            <a:ext cx="502920" cy="256032"/>
          </a:xfrm>
          <a:prstGeom prst="rect">
            <a:avLst/>
          </a:prstGeom>
          <a:solidFill>
            <a:srgbClr val="1B8C5E"/>
          </a:solidFill>
          <a:ln w="12700">
            <a:solidFill>
              <a:srgbClr val="1B8C5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7" name="Text 15"/>
          <p:cNvSpPr/>
          <p:nvPr/>
        </p:nvSpPr>
        <p:spPr>
          <a:xfrm>
            <a:off x="365760" y="322150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60120" y="347472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Check the logs : see the flooding try (from  demo of feature 5)</a:t>
            </a:r>
          </a:p>
        </p:txBody>
      </p:sp>
      <p:sp>
        <p:nvSpPr>
          <p:cNvPr id="19" name="Shape 17"/>
          <p:cNvSpPr/>
          <p:nvPr/>
        </p:nvSpPr>
        <p:spPr>
          <a:xfrm>
            <a:off x="4709160" y="822960"/>
            <a:ext cx="420624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BE"/>
          </a:p>
        </p:txBody>
      </p:sp>
      <p:sp>
        <p:nvSpPr>
          <p:cNvPr id="20" name="Shape 18"/>
          <p:cNvSpPr/>
          <p:nvPr/>
        </p:nvSpPr>
        <p:spPr>
          <a:xfrm>
            <a:off x="4709160" y="822960"/>
            <a:ext cx="420624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21" name="Text 19"/>
          <p:cNvSpPr/>
          <p:nvPr/>
        </p:nvSpPr>
        <p:spPr>
          <a:xfrm>
            <a:off x="4846320" y="82296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IP-based Restrictions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344168"/>
            <a:ext cx="3931920" cy="256032"/>
          </a:xfrm>
          <a:prstGeom prst="rect">
            <a:avLst/>
          </a:prstGeom>
          <a:solidFill>
            <a:srgbClr val="FFF0C0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23" name="Text 21"/>
          <p:cNvSpPr/>
          <p:nvPr/>
        </p:nvSpPr>
        <p:spPr>
          <a:xfrm>
            <a:off x="4846320" y="13441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D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→ mitigates A1 &amp; A2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2007342"/>
            <a:ext cx="502920" cy="25603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25" name="Text 23"/>
          <p:cNvSpPr/>
          <p:nvPr/>
        </p:nvSpPr>
        <p:spPr>
          <a:xfrm>
            <a:off x="4846320" y="200734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40680" y="2204466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1200" dirty="0"/>
              <a:t>Block </a:t>
            </a:r>
            <a:r>
              <a:rPr lang="fr-BE" sz="1200" dirty="0" err="1"/>
              <a:t>known</a:t>
            </a:r>
            <a:r>
              <a:rPr lang="fr-BE" sz="1200" dirty="0"/>
              <a:t> </a:t>
            </a:r>
            <a:r>
              <a:rPr lang="fr-BE" sz="1200" dirty="0" err="1"/>
              <a:t>malicious</a:t>
            </a:r>
            <a:r>
              <a:rPr lang="fr-BE" sz="1200" dirty="0"/>
              <a:t> </a:t>
            </a:r>
            <a:r>
              <a:rPr lang="fr-BE" sz="1200" dirty="0" err="1"/>
              <a:t>Ips</a:t>
            </a:r>
            <a:endParaRPr lang="fr-BE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1200" dirty="0" err="1"/>
              <a:t>Protect</a:t>
            </a:r>
            <a:r>
              <a:rPr lang="fr-BE" sz="1200" dirty="0"/>
              <a:t> proxy </a:t>
            </a:r>
            <a:r>
              <a:rPr lang="fr-BE" sz="1200" dirty="0" err="1"/>
              <a:t>access</a:t>
            </a:r>
            <a:endParaRPr lang="fr-BE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BE" sz="1200" dirty="0"/>
              <a:t>White </a:t>
            </a:r>
            <a:r>
              <a:rPr lang="fr-BE" sz="1200" dirty="0" err="1"/>
              <a:t>list</a:t>
            </a:r>
            <a:endParaRPr lang="fr-BE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192780"/>
            <a:ext cx="502920" cy="256032"/>
          </a:xfrm>
          <a:prstGeom prst="rect">
            <a:avLst/>
          </a:prstGeom>
          <a:solidFill>
            <a:srgbClr val="1B8C5E"/>
          </a:solidFill>
          <a:ln w="12700">
            <a:solidFill>
              <a:srgbClr val="1B8C5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32" name="Text 30"/>
          <p:cNvSpPr/>
          <p:nvPr/>
        </p:nvSpPr>
        <p:spPr>
          <a:xfrm>
            <a:off x="4846320" y="31927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40680" y="3477534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Try to access a server from Malicious PC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Try to access a server from remote employee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WAF vs STRIDE M1 Attacks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6459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(M1)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20240" y="777240"/>
            <a:ext cx="228600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7" name="Text 5"/>
          <p:cNvSpPr/>
          <p:nvPr/>
        </p:nvSpPr>
        <p:spPr>
          <a:xfrm>
            <a:off x="1920240" y="777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06240" y="777240"/>
            <a:ext cx="384048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9" name="Text 7"/>
          <p:cNvSpPr/>
          <p:nvPr/>
        </p:nvSpPr>
        <p:spPr>
          <a:xfrm>
            <a:off x="4206240" y="777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Feature that mitigates 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188720"/>
            <a:ext cx="1645920" cy="621792"/>
          </a:xfrm>
          <a:prstGeom prst="rect">
            <a:avLst/>
          </a:prstGeom>
          <a:solidFill>
            <a:srgbClr val="1A2A4E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1" name="Text 9"/>
          <p:cNvSpPr/>
          <p:nvPr/>
        </p:nvSpPr>
        <p:spPr>
          <a:xfrm>
            <a:off x="347472" y="1188720"/>
            <a:ext cx="14996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— Unauthorised server access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20240" y="1188720"/>
            <a:ext cx="2286000" cy="621792"/>
          </a:xfrm>
          <a:prstGeom prst="rect">
            <a:avLst/>
          </a:prstGeom>
          <a:solidFill>
            <a:srgbClr val="1A2A4E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3" name="Text 11"/>
          <p:cNvSpPr/>
          <p:nvPr/>
        </p:nvSpPr>
        <p:spPr>
          <a:xfrm>
            <a:off x="1993392" y="1188720"/>
            <a:ext cx="21396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— Critical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06240" y="1188720"/>
            <a:ext cx="3840480" cy="621792"/>
          </a:xfrm>
          <a:prstGeom prst="rect">
            <a:avLst/>
          </a:prstGeom>
          <a:solidFill>
            <a:srgbClr val="1A2A4E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5" name="Text 13"/>
          <p:cNvSpPr/>
          <p:nvPr/>
        </p:nvSpPr>
        <p:spPr>
          <a:xfrm>
            <a:off x="4279392" y="1188720"/>
            <a:ext cx="36941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8: IP blocking → Malicious PC denied at proxy level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874520"/>
            <a:ext cx="1645920" cy="621792"/>
          </a:xfrm>
          <a:prstGeom prst="rect">
            <a:avLst/>
          </a:prstGeom>
          <a:solidFill>
            <a:srgbClr val="162440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7" name="Text 15"/>
          <p:cNvSpPr/>
          <p:nvPr/>
        </p:nvSpPr>
        <p:spPr>
          <a:xfrm>
            <a:off x="347472" y="1874520"/>
            <a:ext cx="14996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— IP Spoofing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20240" y="1874520"/>
            <a:ext cx="2286000" cy="621792"/>
          </a:xfrm>
          <a:prstGeom prst="rect">
            <a:avLst/>
          </a:prstGeom>
          <a:solidFill>
            <a:srgbClr val="162440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19" name="Text 17"/>
          <p:cNvSpPr/>
          <p:nvPr/>
        </p:nvSpPr>
        <p:spPr>
          <a:xfrm>
            <a:off x="1993392" y="1874520"/>
            <a:ext cx="21396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— High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06240" y="1874520"/>
            <a:ext cx="3840480" cy="621792"/>
          </a:xfrm>
          <a:prstGeom prst="rect">
            <a:avLst/>
          </a:prstGeom>
          <a:solidFill>
            <a:srgbClr val="162440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21" name="Text 19"/>
          <p:cNvSpPr/>
          <p:nvPr/>
        </p:nvSpPr>
        <p:spPr>
          <a:xfrm>
            <a:off x="4279392" y="1874520"/>
            <a:ext cx="36941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8: IP blocking + VPN (M1) → double protection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560320"/>
            <a:ext cx="1645920" cy="621792"/>
          </a:xfrm>
          <a:prstGeom prst="rect">
            <a:avLst/>
          </a:prstGeom>
          <a:solidFill>
            <a:srgbClr val="1A2A4E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23" name="Text 21"/>
          <p:cNvSpPr/>
          <p:nvPr/>
        </p:nvSpPr>
        <p:spPr>
          <a:xfrm>
            <a:off x="347472" y="2560320"/>
            <a:ext cx="14996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— Plaintext Sniffing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20240" y="2560320"/>
            <a:ext cx="2286000" cy="621792"/>
          </a:xfrm>
          <a:prstGeom prst="rect">
            <a:avLst/>
          </a:prstGeom>
          <a:solidFill>
            <a:srgbClr val="1A2A4E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25" name="Text 23"/>
          <p:cNvSpPr/>
          <p:nvPr/>
        </p:nvSpPr>
        <p:spPr>
          <a:xfrm>
            <a:off x="1993392" y="2560320"/>
            <a:ext cx="21396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— High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06240" y="2560320"/>
            <a:ext cx="3840480" cy="621792"/>
          </a:xfrm>
          <a:prstGeom prst="rect">
            <a:avLst/>
          </a:prstGeom>
          <a:solidFill>
            <a:srgbClr val="1A2A4E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27" name="Text 25"/>
          <p:cNvSpPr/>
          <p:nvPr/>
        </p:nvSpPr>
        <p:spPr>
          <a:xfrm>
            <a:off x="4279392" y="2560320"/>
            <a:ext cx="36941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3: SSL/TLS → all traffic encrypted at proxy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246120"/>
            <a:ext cx="1645920" cy="621792"/>
          </a:xfrm>
          <a:prstGeom prst="rect">
            <a:avLst/>
          </a:prstGeom>
          <a:solidFill>
            <a:srgbClr val="162440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29" name="Text 27"/>
          <p:cNvSpPr/>
          <p:nvPr/>
        </p:nvSpPr>
        <p:spPr>
          <a:xfrm>
            <a:off x="347472" y="3246120"/>
            <a:ext cx="14996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— SYN/HTTP Flood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920240" y="3246120"/>
            <a:ext cx="2286000" cy="621792"/>
          </a:xfrm>
          <a:prstGeom prst="rect">
            <a:avLst/>
          </a:prstGeom>
          <a:solidFill>
            <a:srgbClr val="162440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31" name="Text 29"/>
          <p:cNvSpPr/>
          <p:nvPr/>
        </p:nvSpPr>
        <p:spPr>
          <a:xfrm>
            <a:off x="1993392" y="3246120"/>
            <a:ext cx="21396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— High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06240" y="3246120"/>
            <a:ext cx="3840480" cy="621792"/>
          </a:xfrm>
          <a:prstGeom prst="rect">
            <a:avLst/>
          </a:prstGeom>
          <a:solidFill>
            <a:srgbClr val="162440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33" name="Text 31"/>
          <p:cNvSpPr/>
          <p:nvPr/>
        </p:nvSpPr>
        <p:spPr>
          <a:xfrm>
            <a:off x="4279392" y="3246120"/>
            <a:ext cx="36941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5: Rate Limiting → max 10r/s per IP, burst 20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931920"/>
            <a:ext cx="1645920" cy="621792"/>
          </a:xfrm>
          <a:prstGeom prst="rect">
            <a:avLst/>
          </a:prstGeom>
          <a:solidFill>
            <a:srgbClr val="1A2A4E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35" name="Text 33"/>
          <p:cNvSpPr/>
          <p:nvPr/>
        </p:nvSpPr>
        <p:spPr>
          <a:xfrm>
            <a:off x="347472" y="3931920"/>
            <a:ext cx="149961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— Lateral Movement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920240" y="3931920"/>
            <a:ext cx="2286000" cy="621792"/>
          </a:xfrm>
          <a:prstGeom prst="rect">
            <a:avLst/>
          </a:prstGeom>
          <a:solidFill>
            <a:srgbClr val="1A2A4E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37" name="Text 35"/>
          <p:cNvSpPr/>
          <p:nvPr/>
        </p:nvSpPr>
        <p:spPr>
          <a:xfrm>
            <a:off x="1993392" y="3931920"/>
            <a:ext cx="21396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— High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06240" y="3931920"/>
            <a:ext cx="3840480" cy="621792"/>
          </a:xfrm>
          <a:prstGeom prst="rect">
            <a:avLst/>
          </a:prstGeom>
          <a:solidFill>
            <a:srgbClr val="1A2A4E"/>
          </a:solidFill>
          <a:ln w="6350">
            <a:solidFill>
              <a:srgbClr val="2A3A5E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39" name="Text 37"/>
          <p:cNvSpPr/>
          <p:nvPr/>
        </p:nvSpPr>
        <p:spPr>
          <a:xfrm>
            <a:off x="4279392" y="3931920"/>
            <a:ext cx="36941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(M1) + Feature 7: Logging detects anomalies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4663440"/>
            <a:ext cx="841248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BE"/>
          </a:p>
        </p:txBody>
      </p:sp>
      <p:sp>
        <p:nvSpPr>
          <p:cNvPr id="41" name="Text 39"/>
          <p:cNvSpPr/>
          <p:nvPr/>
        </p:nvSpPr>
        <p:spPr>
          <a:xfrm>
            <a:off x="27432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features work together — no single feature is sufficient alone. Defence in depth.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666</Words>
  <Application>Microsoft Office PowerPoint</Application>
  <PresentationFormat>Affichage à l'écran (16:9)</PresentationFormat>
  <Paragraphs>157</Paragraphs>
  <Slides>8</Slides>
  <Notes>8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WAF — Milestone 2</dc:title>
  <dc:subject>PptxGenJS Presentation</dc:subject>
  <dc:creator>PptxGenJS</dc:creator>
  <cp:lastModifiedBy>Franklin Fernandez Ojeda</cp:lastModifiedBy>
  <cp:revision>4</cp:revision>
  <dcterms:created xsi:type="dcterms:W3CDTF">2026-04-09T11:31:13Z</dcterms:created>
  <dcterms:modified xsi:type="dcterms:W3CDTF">2026-04-16T06:47:25Z</dcterms:modified>
</cp:coreProperties>
</file>