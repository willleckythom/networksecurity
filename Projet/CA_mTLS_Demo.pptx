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7.png" ContentType="image/png"/>
  <Override PartName="/ppt/media/image16.png" ContentType="image/png"/>
  <Override PartName="/ppt/media/image11.png" ContentType="image/png"/>
  <Override PartName="/ppt/media/image2.png" ContentType="image/png"/>
  <Override PartName="/ppt/media/image17.png" ContentType="image/png"/>
  <Override PartName="/ppt/media/image8.png" ContentType="image/png"/>
  <Override PartName="/ppt/media/image3.png" ContentType="image/png"/>
  <Override PartName="/ppt/media/image12.png" ContentType="image/png"/>
  <Override PartName="/ppt/media/image18.png" ContentType="image/png"/>
  <Override PartName="/ppt/media/image20.png" ContentType="image/png"/>
  <Override PartName="/ppt/media/image9.png" ContentType="image/png"/>
  <Override PartName="/ppt/media/image4.png" ContentType="image/png"/>
  <Override PartName="/ppt/media/image13.png" ContentType="image/png"/>
  <Override PartName="/ppt/media/image30.png" ContentType="image/png"/>
  <Override PartName="/ppt/media/image28.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DF38A22-B999-42AE-8103-8296DAD21D6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5320" cy="3085200"/>
          </a:xfrm>
          <a:prstGeom prst="rect">
            <a:avLst/>
          </a:prstGeom>
          <a:ln w="0">
            <a:noFill/>
          </a:ln>
        </p:spPr>
      </p:sp>
      <p:sp>
        <p:nvSpPr>
          <p:cNvPr id="35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Welcome. This project builds a complete two-tier Public Key Infrastructure on Linux from scratch with OpenSSL, then uses it to deploy mutual TLS on Nginx and automate certificate renewal. Over the next ~15 minutes we'll walk through the theory, show the working deployment live, and finish with what real-world CA failures taught us.</a:t>
            </a:r>
            <a:endParaRPr b="0" lang="en-US" sz="2000" spc="-1" strike="noStrike">
              <a:solidFill>
                <a:srgbClr val="000000"/>
              </a:solidFill>
              <a:latin typeface="Arial"/>
            </a:endParaRPr>
          </a:p>
        </p:txBody>
      </p:sp>
      <p:sp>
        <p:nvSpPr>
          <p:cNvPr id="359"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64C2DE2-5DD0-4FDA-801B-1F9D6872C13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5320" cy="3085200"/>
          </a:xfrm>
          <a:prstGeom prst="rect">
            <a:avLst/>
          </a:prstGeom>
          <a:ln w="0">
            <a:noFill/>
          </a:ln>
        </p:spPr>
      </p:sp>
      <p:sp>
        <p:nvSpPr>
          <p:cNvPr id="36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Quick roadmap. Five parts, five speakers. We start with the theory of certificates and trust, then how we actually built the CA, then revocation and mutual TLS, then a live demonstration plus the renewal automation, and finally the real-world failures that shaped our design.</a:t>
            </a:r>
            <a:endParaRPr b="0" lang="en-US" sz="2000" spc="-1" strike="noStrike">
              <a:solidFill>
                <a:srgbClr val="000000"/>
              </a:solidFill>
              <a:latin typeface="Arial"/>
            </a:endParaRPr>
          </a:p>
        </p:txBody>
      </p:sp>
      <p:sp>
        <p:nvSpPr>
          <p:cNvPr id="362"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74A2125-1D88-4ABD-A231-2D18D83799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5320" cy="3085200"/>
          </a:xfrm>
          <a:prstGeom prst="rect">
            <a:avLst/>
          </a:prstGeom>
          <a:ln w="0">
            <a:noFill/>
          </a:ln>
        </p:spPr>
      </p:sp>
      <p:sp>
        <p:nvSpPr>
          <p:cNvPr id="36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Everything in PKI exists to answer one question: does this public key really belong to who it claims? The CA acts as a trusted third party that vouches for that binding by signing the certificate. From that single mechanism we get the three TLS guarantees on the right: authentication, confidentiality and integrity.</a:t>
            </a:r>
            <a:endParaRPr b="0" lang="en-US" sz="2000" spc="-1" strike="noStrike">
              <a:solidFill>
                <a:srgbClr val="000000"/>
              </a:solidFill>
              <a:latin typeface="Arial"/>
            </a:endParaRPr>
          </a:p>
        </p:txBody>
      </p:sp>
      <p:sp>
        <p:nvSpPr>
          <p:cNvPr id="365"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FCE6621-ED2F-44B6-A1C6-7BE37F7091C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5320" cy="3085200"/>
          </a:xfrm>
          <a:prstGeom prst="rect">
            <a:avLst/>
          </a:prstGeom>
          <a:ln w="0">
            <a:noFill/>
          </a:ln>
        </p:spPr>
      </p:sp>
      <p:sp>
        <p:nvSpPr>
          <p:cNvPr id="36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 v3 certificate is core identity fields plus extensions — and the extensions are what make modern PKI work. Basic Constraints separate CAs from leaf certs. Key Usage and EKU pin down what a cert may do — this is what distinguishes a server cert from a client cert. The one to remember is the SAN, highlighted: browsers no longer look at the Common Name at all and match the hostname only against the SAN. We learned that the hard way.</a:t>
            </a:r>
            <a:endParaRPr b="0" lang="en-US" sz="2000" spc="-1" strike="noStrike">
              <a:solidFill>
                <a:srgbClr val="000000"/>
              </a:solidFill>
              <a:latin typeface="Arial"/>
            </a:endParaRPr>
          </a:p>
        </p:txBody>
      </p:sp>
      <p:sp>
        <p:nvSpPr>
          <p:cNvPr id="368"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BC6EEB-E9F5-4B19-A550-702A8A4C5A5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5320" cy="3085200"/>
          </a:xfrm>
          <a:prstGeom prst="rect">
            <a:avLst/>
          </a:prstGeom>
          <a:ln w="0">
            <a:noFill/>
          </a:ln>
        </p:spPr>
      </p:sp>
      <p:sp>
        <p:nvSpPr>
          <p:cNvPr id="37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Public PKI uses a hierarchy. The Root is the trust anchor — self-signed, very long-lived, and kept offline. It signs exactly one thing: the Intermediate. The Intermediate does the daily work of issuing server and client certs. The pathlen:0 constraint stops it from creating further CAs. The payoff is in the banner: if the online Intermediate is ever compromised, you revoke and replace it without touching the Root.</a:t>
            </a:r>
            <a:endParaRPr b="0" lang="en-US" sz="2000" spc="-1" strike="noStrike">
              <a:solidFill>
                <a:srgbClr val="000000"/>
              </a:solidFill>
              <a:latin typeface="Arial"/>
            </a:endParaRPr>
          </a:p>
        </p:txBody>
      </p:sp>
      <p:sp>
        <p:nvSpPr>
          <p:cNvPr id="371"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A2B08F7-C15E-46DA-8B2F-F404222C5B9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5320" cy="3085200"/>
          </a:xfrm>
          <a:prstGeom prst="rect">
            <a:avLst/>
          </a:prstGeom>
          <a:ln w="0">
            <a:noFill/>
          </a:ln>
        </p:spPr>
      </p:sp>
      <p:sp>
        <p:nvSpPr>
          <p:cNvPr id="37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Concretely: everything is built with OpenSSL, deployed on Nginx on Ubuntu, and protected end to end with mutual TLS. The four cards are our key parameters — a two-tier CA, 4096-bit CA keys and 2048-bit leaf keys, 375-day end-entity certs in line with current browser limits, all renewed automatically, which is the part we'll demo at the end.</a:t>
            </a:r>
            <a:endParaRPr b="0" lang="en-US" sz="2000" spc="-1" strike="noStrike">
              <a:solidFill>
                <a:srgbClr val="000000"/>
              </a:solidFill>
              <a:latin typeface="Arial"/>
            </a:endParaRPr>
          </a:p>
        </p:txBody>
      </p:sp>
      <p:sp>
        <p:nvSpPr>
          <p:cNvPr id="374"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FD3A453-6C0B-4AE9-B1E4-E098CFD48CA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5320" cy="3085200"/>
          </a:xfrm>
          <a:prstGeom prst="rect">
            <a:avLst/>
          </a:prstGeom>
          <a:ln w="0">
            <a:noFill/>
          </a:ln>
        </p:spPr>
      </p:sp>
      <p:sp>
        <p:nvSpPr>
          <p:cNvPr id="37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Building the hierarchy is three moves. One: create the Root — a strong encrypted key and a self-signed certificate. Two: create the Intermediate key and a signing request, and have the Root sign it, with pathlen:0 so it can't spawn more CAs. Three: bundle the Intermediate and Root together so any client can verify a leaf certificate all the way up to the trust anchor.</a:t>
            </a:r>
            <a:endParaRPr b="0" lang="en-US" sz="2000" spc="-1" strike="noStrike">
              <a:solidFill>
                <a:srgbClr val="000000"/>
              </a:solidFill>
              <a:latin typeface="Arial"/>
            </a:endParaRPr>
          </a:p>
        </p:txBody>
      </p:sp>
      <p:sp>
        <p:nvSpPr>
          <p:cNvPr id="377"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34B9947-1262-4041-8A83-D2080B8943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5320" cy="3085200"/>
          </a:xfrm>
          <a:prstGeom prst="rect">
            <a:avLst/>
          </a:prstGeom>
          <a:ln w="0">
            <a:noFill/>
          </a:ln>
        </p:spPr>
      </p:sp>
      <p:sp>
        <p:nvSpPr>
          <p:cNvPr id="37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Intermediate then issues the leaf certs. The server cert carries the hostname in both CN and SAN and is served as a fullchain so clients can build the path. We issue two client certs on purpose: prof stays valid for the success demo, student gets revoked for the failure demo. The amber banner is the lesson we hit immediately — without a SAN the browser refuses the certificate outright, regardless of the Common Name.</a:t>
            </a:r>
            <a:endParaRPr b="0" lang="en-US" sz="2000" spc="-1" strike="noStrike">
              <a:solidFill>
                <a:srgbClr val="000000"/>
              </a:solidFill>
              <a:latin typeface="Arial"/>
            </a:endParaRPr>
          </a:p>
        </p:txBody>
      </p:sp>
      <p:sp>
        <p:nvSpPr>
          <p:cNvPr id="380"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88111DB-8C3A-4CA9-AA1A-1895C68BF7B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5320" cy="3085200"/>
          </a:xfrm>
          <a:prstGeom prst="rect">
            <a:avLst/>
          </a:prstGeom>
          <a:ln w="0">
            <a:noFill/>
          </a:ln>
        </p:spPr>
      </p:sp>
      <p:sp>
        <p:nvSpPr>
          <p:cNvPr id="38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Revocation lets us invalidate a certificate before it expires. We revoke the student cert, regenerate the signed CRL, and Nginx consults it on every handshake. A subtle point we discovered, in the amber box: Nginx checks revocation for the entire chain, so we also had to generate a Root CRL and serve a combined file — otherwise it rejected every client cert, valid or not. Note CRLs go over plain HTTP by design: they're signed and public, and HTTPS would be circular.</a:t>
            </a:r>
            <a:endParaRPr b="0" lang="en-US" sz="2000" spc="-1" strike="noStrike">
              <a:solidFill>
                <a:srgbClr val="000000"/>
              </a:solidFill>
              <a:latin typeface="Arial"/>
            </a:endParaRPr>
          </a:p>
        </p:txBody>
      </p:sp>
      <p:sp>
        <p:nvSpPr>
          <p:cNvPr id="383"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0FC4F03-D74D-496A-BFA7-C5CAC7B6C9A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5320" cy="3085200"/>
          </a:xfrm>
          <a:prstGeom prst="rect">
            <a:avLst/>
          </a:prstGeom>
          <a:ln w="0">
            <a:noFill/>
          </a:ln>
        </p:spPr>
      </p:sp>
      <p:sp>
        <p:nvSpPr>
          <p:cNvPr id="38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Standard TLS is one-way: the server proves its identity, the client stays anonymous — fine for public websites. Mutual TLS makes it two-way: both sides present and verify certificates. The mechanism is one extra message, the CertificateRequest, plus the client's own certificate. That's why mTLS is the backbone of zero-trust, service meshes and machine-to-machine APIs.</a:t>
            </a:r>
            <a:endParaRPr b="0" lang="en-US" sz="2000" spc="-1" strike="noStrike">
              <a:solidFill>
                <a:srgbClr val="000000"/>
              </a:solidFill>
              <a:latin typeface="Arial"/>
            </a:endParaRPr>
          </a:p>
        </p:txBody>
      </p:sp>
      <p:sp>
        <p:nvSpPr>
          <p:cNvPr id="386"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A7F05C0-46CB-4EE4-AB4B-AA33265FA01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5320" cy="3085200"/>
          </a:xfrm>
          <a:prstGeom prst="rect">
            <a:avLst/>
          </a:prstGeom>
          <a:ln w="0">
            <a:noFill/>
          </a:ln>
        </p:spPr>
      </p:sp>
      <p:sp>
        <p:nvSpPr>
          <p:cNvPr id="38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Here's the extended handshake. The standard parts are greyed; the teal steps are mTLS-specific. The server asks for a client certificate with CertificateRequest. The client sends its cert and, crucially, a CertificateVerify — a signature over the handshake that proves it holds the private key. The server validates that cert against our CA chain, checks the clientAuth EKU and revocation, and only then are session keys derived. If any check fails, the connection is dropped.</a:t>
            </a:r>
            <a:endParaRPr b="0" lang="en-US" sz="2000" spc="-1" strike="noStrike">
              <a:solidFill>
                <a:srgbClr val="000000"/>
              </a:solidFill>
              <a:latin typeface="Arial"/>
            </a:endParaRPr>
          </a:p>
        </p:txBody>
      </p:sp>
      <p:sp>
        <p:nvSpPr>
          <p:cNvPr id="389"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8FC19BC-0810-4C04-89FB-1BC4BD1B66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5320" cy="3085200"/>
          </a:xfrm>
          <a:prstGeom prst="rect">
            <a:avLst/>
          </a:prstGeom>
          <a:ln w="0">
            <a:noFill/>
          </a:ln>
        </p:spPr>
      </p:sp>
      <p:sp>
        <p:nvSpPr>
          <p:cNvPr id="39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heart of the demo — switch to the terminal now. Run three curl commands. No client cert: rejected, 400, 'no certificate was sent.' Valid prof cert: 200 OK, and notice the X-Client-Verify SUCCESS header — Nginx tells us exactly who authenticated. Revoked student cert: rejected again, but with a different message, 'SSL certificate error,' proving the CRL is doing its job. Then open it in the browser to show the padlock and the chain. Three requests, three outcomes — that's mutual TLS plus revocation working end to end.</a:t>
            </a:r>
            <a:endParaRPr b="0" lang="en-US" sz="2000" spc="-1" strike="noStrike">
              <a:solidFill>
                <a:srgbClr val="000000"/>
              </a:solidFill>
              <a:latin typeface="Arial"/>
            </a:endParaRPr>
          </a:p>
        </p:txBody>
      </p:sp>
      <p:sp>
        <p:nvSpPr>
          <p:cNvPr id="392" name="PlaceHolder 3"/>
          <p:cNvSpPr>
            <a:spLocks noGrp="1"/>
          </p:cNvSpPr>
          <p:nvPr>
            <p:ph type="sldNum" idx="1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514880E-EA3C-4F0C-9551-B2C93DB4BD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685800" y="1143000"/>
            <a:ext cx="5485320" cy="3085200"/>
          </a:xfrm>
          <a:prstGeom prst="rect">
            <a:avLst/>
          </a:prstGeom>
          <a:ln w="0">
            <a:noFill/>
          </a:ln>
        </p:spPr>
      </p:sp>
      <p:sp>
        <p:nvSpPr>
          <p:cNvPr id="39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Short-lived certs only work if renewal is automatic — and the cost of forgetting is real: Equifax lost 145 million records because one inspection certificate sat expired for ten months. Our pipeline, on the right, is a daily cron job that renews only when fewer than 30 days remain, exactly like certbot. It re-keys, signs, verifies against the chain, backs up the old files, swaps atomically, and only reloads Nginx if the config tests clean. Both server and client certs are tracked, and a weekly job keeps the CRL fresh.</a:t>
            </a:r>
            <a:endParaRPr b="0" lang="en-US" sz="2000" spc="-1" strike="noStrike">
              <a:solidFill>
                <a:srgbClr val="000000"/>
              </a:solidFill>
              <a:latin typeface="Arial"/>
            </a:endParaRPr>
          </a:p>
        </p:txBody>
      </p:sp>
      <p:sp>
        <p:nvSpPr>
          <p:cNvPr id="395" name="PlaceHolder 3"/>
          <p:cNvSpPr>
            <a:spLocks noGrp="1"/>
          </p:cNvSpPr>
          <p:nvPr>
            <p:ph type="sldNum" idx="1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FA59889-0D8C-47AB-A1FC-B4D911E9449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5320" cy="3085200"/>
          </a:xfrm>
          <a:prstGeom prst="rect">
            <a:avLst/>
          </a:prstGeom>
          <a:ln w="0">
            <a:noFill/>
          </a:ln>
        </p:spPr>
      </p:sp>
      <p:sp>
        <p:nvSpPr>
          <p:cNvPr id="3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PKI's weak points aren't the cryptography — they're the edges, and our report documents six. DigiNotar: a breached CA issued fake Google certs to spy on Iranian users — why we keep the Root offline. Symantec: tens of thousands of misissued certs through resellers, a governance failure. Heartbleed: mass key leakage exposed that revocation barely works, pushing the industry to short-lived certs. CNNIC: a trusted CA delegated a sub-CA with no name constraint, caught only by Certificate Transparency. ComodoHacker: a single stolen reseller credential — no cryptography broken, pure human factor. Equifax: one forgotten renewal, 147 million records. Each maps straight to a design choice in our build.</a:t>
            </a:r>
            <a:endParaRPr b="0" lang="en-US" sz="2000" spc="-1" strike="noStrike">
              <a:solidFill>
                <a:srgbClr val="000000"/>
              </a:solidFill>
              <a:latin typeface="Arial"/>
            </a:endParaRPr>
          </a:p>
        </p:txBody>
      </p:sp>
      <p:sp>
        <p:nvSpPr>
          <p:cNvPr id="398" name="PlaceHolder 3"/>
          <p:cNvSpPr>
            <a:spLocks noGrp="1"/>
          </p:cNvSpPr>
          <p:nvPr>
            <p:ph type="sldNum" idx="1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CF9CEC2-488E-440A-8D3F-7F9AF37DA24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5320" cy="3085200"/>
          </a:xfrm>
          <a:prstGeom prst="rect">
            <a:avLst/>
          </a:prstGeom>
          <a:ln w="0">
            <a:noFill/>
          </a:ln>
        </p:spPr>
      </p:sp>
      <p:sp>
        <p:nvSpPr>
          <p:cNvPr id="40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So every architectural decision answers a documented failure. Offline Root, because of DigiNotar. Strict separation of server and client key usage. Automated renewal, because of Equifax. Scheduled CRL refresh for revocation hygiene. Encrypted keys with locked-down permissions. And SAN plus fullchain on everything, so it works in a real browser and not only on the command line. The synthesis from our report: PKI breaks at its edges, so we hardened the edges.</a:t>
            </a:r>
            <a:endParaRPr b="0" lang="en-US" sz="2000" spc="-1" strike="noStrike">
              <a:solidFill>
                <a:srgbClr val="000000"/>
              </a:solidFill>
              <a:latin typeface="Arial"/>
            </a:endParaRPr>
          </a:p>
        </p:txBody>
      </p:sp>
      <p:sp>
        <p:nvSpPr>
          <p:cNvPr id="401" name="PlaceHolder 3"/>
          <p:cNvSpPr>
            <a:spLocks noGrp="1"/>
          </p:cNvSpPr>
          <p:nvPr>
            <p:ph type="sldNum" idx="1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4FAF5D4-B1C9-4F19-B04A-D12C44C539D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slideLayout" Target="../slideLayouts/slideLayout1.xml"/><Relationship Id="rId9"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image" Target="../media/image6.png"/><Relationship Id="rId6" Type="http://schemas.openxmlformats.org/officeDocument/2006/relationships/image" Target="../media/image6.png"/><Relationship Id="rId7" Type="http://schemas.openxmlformats.org/officeDocument/2006/relationships/image" Target="../media/image6.png"/><Relationship Id="rId8" Type="http://schemas.openxmlformats.org/officeDocument/2006/relationships/slideLayout" Target="../slideLayouts/slideLayout1.xml"/><Relationship Id="rId9"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3.png"/><Relationship Id="rId7" Type="http://schemas.openxmlformats.org/officeDocument/2006/relationships/image" Target="../media/image30.png"/><Relationship Id="rId8" Type="http://schemas.openxmlformats.org/officeDocument/2006/relationships/slideLayout" Target="../slideLayouts/slideLayout1.xml"/><Relationship Id="rId9"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2233"/>
        </a:solidFill>
      </p:bgPr>
    </p:bg>
    <p:spTree>
      <p:nvGrpSpPr>
        <p:cNvPr id="1" name=""/>
        <p:cNvGrpSpPr/>
        <p:nvPr/>
      </p:nvGrpSpPr>
      <p:grpSpPr>
        <a:xfrm>
          <a:off x="0" y="0"/>
          <a:ext cx="0" cy="0"/>
          <a:chOff x="0" y="0"/>
          <a:chExt cx="0" cy="0"/>
        </a:xfrm>
      </p:grpSpPr>
      <p:pic>
        <p:nvPicPr>
          <p:cNvPr id="8" name="Image 0" descr="preencoded.png"/>
          <p:cNvPicPr/>
          <p:nvPr/>
        </p:nvPicPr>
        <p:blipFill>
          <a:blip r:embed="rId1"/>
          <a:stretch/>
        </p:blipFill>
        <p:spPr>
          <a:xfrm>
            <a:off x="6766920" y="1600200"/>
            <a:ext cx="1919160" cy="1919160"/>
          </a:xfrm>
          <a:prstGeom prst="rect">
            <a:avLst/>
          </a:prstGeom>
          <a:ln w="0">
            <a:noFill/>
          </a:ln>
        </p:spPr>
      </p:pic>
      <p:sp>
        <p:nvSpPr>
          <p:cNvPr id="9" name="Text 1"/>
          <p:cNvSpPr/>
          <p:nvPr/>
        </p:nvSpPr>
        <p:spPr>
          <a:xfrm>
            <a:off x="548640" y="914400"/>
            <a:ext cx="54853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3" strike="noStrike">
                <a:solidFill>
                  <a:srgbClr val="33c2ce"/>
                </a:solidFill>
                <a:latin typeface="Calibri"/>
                <a:ea typeface="Calibri"/>
              </a:rPr>
              <a:t>NETWORK SECURITY PROJECT</a:t>
            </a:r>
            <a:endParaRPr b="0" lang="en-US" sz="1300" spc="-1" strike="noStrike">
              <a:solidFill>
                <a:srgbClr val="ffffff"/>
              </a:solidFill>
              <a:latin typeface="Arial"/>
            </a:endParaRPr>
          </a:p>
        </p:txBody>
      </p:sp>
      <p:sp>
        <p:nvSpPr>
          <p:cNvPr id="10" name="Text 2"/>
          <p:cNvSpPr/>
          <p:nvPr/>
        </p:nvSpPr>
        <p:spPr>
          <a:xfrm>
            <a:off x="502920" y="1280160"/>
            <a:ext cx="5668200" cy="137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300" spc="-1" strike="noStrike">
                <a:solidFill>
                  <a:srgbClr val="ffffff"/>
                </a:solidFill>
                <a:latin typeface="Calibri"/>
                <a:ea typeface="Calibri"/>
              </a:rPr>
              <a:t>Certificate Authority Chain &amp; Mutual TLS on Linux</a:t>
            </a:r>
            <a:endParaRPr b="0" lang="en-US" sz="3300" spc="-1" strike="noStrike">
              <a:solidFill>
                <a:srgbClr val="ffffff"/>
              </a:solidFill>
              <a:latin typeface="Arial"/>
            </a:endParaRPr>
          </a:p>
        </p:txBody>
      </p:sp>
      <p:sp>
        <p:nvSpPr>
          <p:cNvPr id="11" name="Text 3"/>
          <p:cNvSpPr/>
          <p:nvPr/>
        </p:nvSpPr>
        <p:spPr>
          <a:xfrm>
            <a:off x="548640" y="2743200"/>
            <a:ext cx="5485320" cy="639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ffffff"/>
              </a:solidFill>
              <a:latin typeface="Arial"/>
            </a:endParaRPr>
          </a:p>
        </p:txBody>
      </p:sp>
      <p:sp>
        <p:nvSpPr>
          <p:cNvPr id="12" name="Text 4"/>
          <p:cNvSpPr/>
          <p:nvPr/>
        </p:nvSpPr>
        <p:spPr>
          <a:xfrm>
            <a:off x="503280" y="3475080"/>
            <a:ext cx="5668200" cy="6390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200" spc="-1" strike="noStrike">
                <a:solidFill>
                  <a:srgbClr val="d7e2e8"/>
                </a:solidFill>
                <a:latin typeface="Calibri"/>
                <a:ea typeface="Calibri"/>
              </a:rPr>
              <a:t>·  Fernandez Ojeda Franklin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Lecky-Thompson Willian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Otto Aleksandra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Rafaat Moheeb Eeskandar Abanoub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Vanderslagmolen Moïra</a:t>
            </a:r>
            <a:endParaRPr b="0" lang="en-US" sz="1200" spc="-1" strike="noStrike">
              <a:solidFill>
                <a:srgbClr val="ffffff"/>
              </a:solidFill>
              <a:latin typeface="Arial"/>
            </a:endParaRPr>
          </a:p>
        </p:txBody>
      </p:sp>
      <p:sp>
        <p:nvSpPr>
          <p:cNvPr id="13" name="Text 5"/>
          <p:cNvSpPr/>
          <p:nvPr/>
        </p:nvSpPr>
        <p:spPr>
          <a:xfrm>
            <a:off x="548640" y="4434840"/>
            <a:ext cx="54853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0f9c92"/>
                </a:solidFill>
                <a:latin typeface="Calibri"/>
                <a:ea typeface="Calibri"/>
              </a:rPr>
              <a:t>Université libre de Bruxelles  ·  June 2026</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4"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5" name="Image 0" descr="preencoded.png"/>
          <p:cNvPicPr/>
          <p:nvPr/>
        </p:nvPicPr>
        <p:blipFill>
          <a:blip r:embed="rId1"/>
          <a:stretch/>
        </p:blipFill>
        <p:spPr>
          <a:xfrm>
            <a:off x="589680" y="516600"/>
            <a:ext cx="300600" cy="300600"/>
          </a:xfrm>
          <a:prstGeom prst="rect">
            <a:avLst/>
          </a:prstGeom>
          <a:ln w="0">
            <a:noFill/>
          </a:ln>
        </p:spPr>
      </p:pic>
      <p:sp>
        <p:nvSpPr>
          <p:cNvPr id="16"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OVERVIEW</a:t>
            </a:r>
            <a:endParaRPr b="0" lang="en-US" sz="1100" spc="-1" strike="noStrike">
              <a:solidFill>
                <a:srgbClr val="000000"/>
              </a:solidFill>
              <a:latin typeface="Arial"/>
            </a:endParaRPr>
          </a:p>
        </p:txBody>
      </p:sp>
      <p:sp>
        <p:nvSpPr>
          <p:cNvPr id="17"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Agenda </a:t>
            </a:r>
            <a:endParaRPr b="0" lang="en-US" sz="2500" spc="-1" strike="noStrike">
              <a:solidFill>
                <a:srgbClr val="000000"/>
              </a:solidFill>
              <a:latin typeface="Arial"/>
            </a:endParaRPr>
          </a:p>
        </p:txBody>
      </p:sp>
      <p:sp>
        <p:nvSpPr>
          <p:cNvPr id="18" name="Shape 3"/>
          <p:cNvSpPr/>
          <p:nvPr/>
        </p:nvSpPr>
        <p:spPr>
          <a:xfrm>
            <a:off x="640080" y="1417320"/>
            <a:ext cx="7862760" cy="56592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 name="Shape 4"/>
          <p:cNvSpPr/>
          <p:nvPr/>
        </p:nvSpPr>
        <p:spPr>
          <a:xfrm>
            <a:off x="841320" y="1517760"/>
            <a:ext cx="364680" cy="36468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 name="Text 5"/>
          <p:cNvSpPr/>
          <p:nvPr/>
        </p:nvSpPr>
        <p:spPr>
          <a:xfrm>
            <a:off x="841320" y="1517760"/>
            <a:ext cx="3646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1</a:t>
            </a:r>
            <a:endParaRPr b="0" lang="en-US" sz="1600" spc="-1" strike="noStrike">
              <a:solidFill>
                <a:srgbClr val="000000"/>
              </a:solidFill>
              <a:latin typeface="Arial"/>
            </a:endParaRPr>
          </a:p>
        </p:txBody>
      </p:sp>
      <p:sp>
        <p:nvSpPr>
          <p:cNvPr id="21" name="Text 6"/>
          <p:cNvSpPr/>
          <p:nvPr/>
        </p:nvSpPr>
        <p:spPr>
          <a:xfrm>
            <a:off x="1417320" y="1417320"/>
            <a:ext cx="511956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PKI &amp; X.509 foundations</a:t>
            </a:r>
            <a:endParaRPr b="0" lang="en-US" sz="1500" spc="-1" strike="noStrike">
              <a:solidFill>
                <a:srgbClr val="000000"/>
              </a:solidFill>
              <a:latin typeface="Arial"/>
            </a:endParaRPr>
          </a:p>
        </p:txBody>
      </p:sp>
      <p:sp>
        <p:nvSpPr>
          <p:cNvPr id="22" name="Text 7"/>
          <p:cNvSpPr/>
          <p:nvPr/>
        </p:nvSpPr>
        <p:spPr>
          <a:xfrm>
            <a:off x="6400800" y="1417320"/>
            <a:ext cx="1919160" cy="5659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23" name="Shape 8"/>
          <p:cNvSpPr/>
          <p:nvPr/>
        </p:nvSpPr>
        <p:spPr>
          <a:xfrm>
            <a:off x="640080" y="2084760"/>
            <a:ext cx="7862760" cy="56592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 name="Shape 9"/>
          <p:cNvSpPr/>
          <p:nvPr/>
        </p:nvSpPr>
        <p:spPr>
          <a:xfrm>
            <a:off x="841320" y="2185560"/>
            <a:ext cx="364680" cy="36468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Text 10"/>
          <p:cNvSpPr/>
          <p:nvPr/>
        </p:nvSpPr>
        <p:spPr>
          <a:xfrm>
            <a:off x="841320" y="2185560"/>
            <a:ext cx="3646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2</a:t>
            </a:r>
            <a:endParaRPr b="0" lang="en-US" sz="1600" spc="-1" strike="noStrike">
              <a:solidFill>
                <a:srgbClr val="000000"/>
              </a:solidFill>
              <a:latin typeface="Arial"/>
            </a:endParaRPr>
          </a:p>
        </p:txBody>
      </p:sp>
      <p:sp>
        <p:nvSpPr>
          <p:cNvPr id="26" name="Text 11"/>
          <p:cNvSpPr/>
          <p:nvPr/>
        </p:nvSpPr>
        <p:spPr>
          <a:xfrm>
            <a:off x="1417320" y="2084760"/>
            <a:ext cx="511956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Building the CA hierarchy</a:t>
            </a:r>
            <a:endParaRPr b="0" lang="en-US" sz="1500" spc="-1" strike="noStrike">
              <a:solidFill>
                <a:srgbClr val="000000"/>
              </a:solidFill>
              <a:latin typeface="Arial"/>
            </a:endParaRPr>
          </a:p>
        </p:txBody>
      </p:sp>
      <p:sp>
        <p:nvSpPr>
          <p:cNvPr id="27" name="Text 12"/>
          <p:cNvSpPr/>
          <p:nvPr/>
        </p:nvSpPr>
        <p:spPr>
          <a:xfrm>
            <a:off x="6400800" y="2084760"/>
            <a:ext cx="1919160" cy="5659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28" name="Shape 13"/>
          <p:cNvSpPr/>
          <p:nvPr/>
        </p:nvSpPr>
        <p:spPr>
          <a:xfrm>
            <a:off x="640080" y="2752200"/>
            <a:ext cx="7862760" cy="56592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 name="Shape 14"/>
          <p:cNvSpPr/>
          <p:nvPr/>
        </p:nvSpPr>
        <p:spPr>
          <a:xfrm>
            <a:off x="841320" y="2853000"/>
            <a:ext cx="364680" cy="36468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Text 15"/>
          <p:cNvSpPr/>
          <p:nvPr/>
        </p:nvSpPr>
        <p:spPr>
          <a:xfrm>
            <a:off x="841320" y="2853000"/>
            <a:ext cx="3646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3</a:t>
            </a:r>
            <a:endParaRPr b="0" lang="en-US" sz="1600" spc="-1" strike="noStrike">
              <a:solidFill>
                <a:srgbClr val="000000"/>
              </a:solidFill>
              <a:latin typeface="Arial"/>
            </a:endParaRPr>
          </a:p>
        </p:txBody>
      </p:sp>
      <p:sp>
        <p:nvSpPr>
          <p:cNvPr id="31" name="Text 16"/>
          <p:cNvSpPr/>
          <p:nvPr/>
        </p:nvSpPr>
        <p:spPr>
          <a:xfrm>
            <a:off x="1417320" y="2752200"/>
            <a:ext cx="511956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Revocation &amp; Mutual TLS</a:t>
            </a:r>
            <a:endParaRPr b="0" lang="en-US" sz="1500" spc="-1" strike="noStrike">
              <a:solidFill>
                <a:srgbClr val="000000"/>
              </a:solidFill>
              <a:latin typeface="Arial"/>
            </a:endParaRPr>
          </a:p>
        </p:txBody>
      </p:sp>
      <p:sp>
        <p:nvSpPr>
          <p:cNvPr id="32" name="Text 17"/>
          <p:cNvSpPr/>
          <p:nvPr/>
        </p:nvSpPr>
        <p:spPr>
          <a:xfrm>
            <a:off x="6400800" y="2752200"/>
            <a:ext cx="1919160" cy="5659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33" name="Shape 18"/>
          <p:cNvSpPr/>
          <p:nvPr/>
        </p:nvSpPr>
        <p:spPr>
          <a:xfrm>
            <a:off x="640080" y="3420000"/>
            <a:ext cx="7862760" cy="56592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 name="Shape 19"/>
          <p:cNvSpPr/>
          <p:nvPr/>
        </p:nvSpPr>
        <p:spPr>
          <a:xfrm>
            <a:off x="841320" y="3520440"/>
            <a:ext cx="364680" cy="364680"/>
          </a:xfrm>
          <a:prstGeom prst="ellipse">
            <a:avLst/>
          </a:prstGeom>
          <a:solidFill>
            <a:srgbClr val="33c2c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 name="Text 20"/>
          <p:cNvSpPr/>
          <p:nvPr/>
        </p:nvSpPr>
        <p:spPr>
          <a:xfrm>
            <a:off x="841320" y="3520440"/>
            <a:ext cx="3646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4</a:t>
            </a:r>
            <a:endParaRPr b="0" lang="en-US" sz="1600" spc="-1" strike="noStrike">
              <a:solidFill>
                <a:srgbClr val="000000"/>
              </a:solidFill>
              <a:latin typeface="Arial"/>
            </a:endParaRPr>
          </a:p>
        </p:txBody>
      </p:sp>
      <p:sp>
        <p:nvSpPr>
          <p:cNvPr id="36" name="Text 21"/>
          <p:cNvSpPr/>
          <p:nvPr/>
        </p:nvSpPr>
        <p:spPr>
          <a:xfrm>
            <a:off x="1417320" y="3420000"/>
            <a:ext cx="511956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Live demo &amp; automated renewal</a:t>
            </a:r>
            <a:endParaRPr b="0" lang="en-US" sz="1500" spc="-1" strike="noStrike">
              <a:solidFill>
                <a:srgbClr val="000000"/>
              </a:solidFill>
              <a:latin typeface="Arial"/>
            </a:endParaRPr>
          </a:p>
        </p:txBody>
      </p:sp>
      <p:sp>
        <p:nvSpPr>
          <p:cNvPr id="37" name="Text 22"/>
          <p:cNvSpPr/>
          <p:nvPr/>
        </p:nvSpPr>
        <p:spPr>
          <a:xfrm>
            <a:off x="6400800" y="3420000"/>
            <a:ext cx="1919160" cy="5659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38" name="Shape 23"/>
          <p:cNvSpPr/>
          <p:nvPr/>
        </p:nvSpPr>
        <p:spPr>
          <a:xfrm>
            <a:off x="640080" y="4087440"/>
            <a:ext cx="7862760" cy="56592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 name="Shape 24"/>
          <p:cNvSpPr/>
          <p:nvPr/>
        </p:nvSpPr>
        <p:spPr>
          <a:xfrm>
            <a:off x="841320" y="4187880"/>
            <a:ext cx="364680" cy="36468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 name="Text 25"/>
          <p:cNvSpPr/>
          <p:nvPr/>
        </p:nvSpPr>
        <p:spPr>
          <a:xfrm>
            <a:off x="841320" y="4187880"/>
            <a:ext cx="3646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5</a:t>
            </a:r>
            <a:endParaRPr b="0" lang="en-US" sz="1600" spc="-1" strike="noStrike">
              <a:solidFill>
                <a:srgbClr val="000000"/>
              </a:solidFill>
              <a:latin typeface="Arial"/>
            </a:endParaRPr>
          </a:p>
        </p:txBody>
      </p:sp>
      <p:sp>
        <p:nvSpPr>
          <p:cNvPr id="41" name="Text 26"/>
          <p:cNvSpPr/>
          <p:nvPr/>
        </p:nvSpPr>
        <p:spPr>
          <a:xfrm>
            <a:off x="1417320" y="4087440"/>
            <a:ext cx="511956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When PKI breaks &amp; lessons</a:t>
            </a:r>
            <a:endParaRPr b="0" lang="en-US" sz="1500" spc="-1" strike="noStrike">
              <a:solidFill>
                <a:srgbClr val="000000"/>
              </a:solidFill>
              <a:latin typeface="Arial"/>
            </a:endParaRPr>
          </a:p>
        </p:txBody>
      </p:sp>
      <p:sp>
        <p:nvSpPr>
          <p:cNvPr id="42" name="Text 27"/>
          <p:cNvSpPr/>
          <p:nvPr/>
        </p:nvSpPr>
        <p:spPr>
          <a:xfrm>
            <a:off x="6400800" y="4087440"/>
            <a:ext cx="1919160" cy="5659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43" name="Text 28"/>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44" name="Text 29"/>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2</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45"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46" name="Image 0" descr="preencoded.png"/>
          <p:cNvPicPr/>
          <p:nvPr/>
        </p:nvPicPr>
        <p:blipFill>
          <a:blip r:embed="rId1"/>
          <a:stretch/>
        </p:blipFill>
        <p:spPr>
          <a:xfrm>
            <a:off x="589680" y="516600"/>
            <a:ext cx="300600" cy="300600"/>
          </a:xfrm>
          <a:prstGeom prst="rect">
            <a:avLst/>
          </a:prstGeom>
          <a:ln w="0">
            <a:noFill/>
          </a:ln>
        </p:spPr>
      </p:pic>
      <p:sp>
        <p:nvSpPr>
          <p:cNvPr id="47"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48"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The trust problem PKI solves</a:t>
            </a:r>
            <a:endParaRPr b="0" lang="en-US" sz="2500" spc="-1" strike="noStrike">
              <a:solidFill>
                <a:srgbClr val="000000"/>
              </a:solidFill>
              <a:latin typeface="Arial"/>
            </a:endParaRPr>
          </a:p>
        </p:txBody>
      </p:sp>
      <p:sp>
        <p:nvSpPr>
          <p:cNvPr id="49" name="Text 3"/>
          <p:cNvSpPr/>
          <p:nvPr/>
        </p:nvSpPr>
        <p:spPr>
          <a:xfrm>
            <a:off x="548640" y="1417320"/>
            <a:ext cx="4570920" cy="3016440"/>
          </a:xfrm>
          <a:prstGeom prst="rect">
            <a:avLst/>
          </a:prstGeom>
          <a:noFill/>
          <a:ln w="0">
            <a:noFill/>
          </a:ln>
        </p:spPr>
        <p:style>
          <a:lnRef idx="0"/>
          <a:fillRef idx="0"/>
          <a:effectRef idx="0"/>
          <a:fontRef idx="minor"/>
        </p:style>
        <p:txBody>
          <a:bodyPr lIns="0" rIns="0" tIns="0" bIns="0" anchor="t">
            <a:noAutofit/>
          </a:bodyPr>
          <a:p>
            <a:pPr defTabSz="914400">
              <a:lnSpc>
                <a:spcPct val="105000"/>
              </a:lnSpc>
              <a:spcAft>
                <a:spcPts val="400"/>
              </a:spcAft>
              <a:tabLst>
                <a:tab algn="l" pos="0"/>
              </a:tabLst>
            </a:pPr>
            <a:r>
              <a:rPr b="1" lang="en-US" sz="1400" spc="-1" strike="noStrike">
                <a:solidFill>
                  <a:srgbClr val="0f9c92"/>
                </a:solidFill>
                <a:latin typeface="Calibri"/>
                <a:ea typeface="Calibri"/>
              </a:rPr>
              <a:t>The problem</a:t>
            </a:r>
            <a:endParaRPr b="0" lang="en-US" sz="1400" spc="-1" strike="noStrike">
              <a:solidFill>
                <a:srgbClr val="000000"/>
              </a:solidFill>
              <a:latin typeface="Arial"/>
            </a:endParaRPr>
          </a:p>
          <a:p>
            <a:pPr defTabSz="914400">
              <a:lnSpc>
                <a:spcPct val="105000"/>
              </a:lnSpc>
              <a:spcAft>
                <a:spcPts val="1400"/>
              </a:spcAft>
              <a:tabLst>
                <a:tab algn="l" pos="0"/>
              </a:tabLst>
            </a:pPr>
            <a:r>
              <a:rPr b="0" lang="en-US" sz="1300" spc="-1" strike="noStrike">
                <a:solidFill>
                  <a:srgbClr val="16242f"/>
                </a:solidFill>
                <a:latin typeface="Calibri"/>
                <a:ea typeface="Calibri"/>
              </a:rPr>
              <a:t>How do you know a public key really belongs to the server you think you're talking to?</a:t>
            </a:r>
            <a:endParaRPr b="0" lang="en-US" sz="1300" spc="-1" strike="noStrike">
              <a:solidFill>
                <a:srgbClr val="000000"/>
              </a:solidFill>
              <a:latin typeface="Arial"/>
            </a:endParaRPr>
          </a:p>
          <a:p>
            <a:pPr defTabSz="914400">
              <a:lnSpc>
                <a:spcPct val="105000"/>
              </a:lnSpc>
              <a:spcAft>
                <a:spcPts val="400"/>
              </a:spcAft>
              <a:tabLst>
                <a:tab algn="l" pos="0"/>
              </a:tabLst>
            </a:pPr>
            <a:r>
              <a:rPr b="1" lang="en-US" sz="1400" spc="-1" strike="noStrike">
                <a:solidFill>
                  <a:srgbClr val="0f9c92"/>
                </a:solidFill>
                <a:latin typeface="Calibri"/>
                <a:ea typeface="Calibri"/>
              </a:rPr>
              <a:t>The answer</a:t>
            </a:r>
            <a:endParaRPr b="0" lang="en-US" sz="1400" spc="-1" strike="noStrike">
              <a:solidFill>
                <a:srgbClr val="000000"/>
              </a:solidFill>
              <a:latin typeface="Arial"/>
            </a:endParaRPr>
          </a:p>
          <a:p>
            <a:pPr defTabSz="914400">
              <a:lnSpc>
                <a:spcPct val="105000"/>
              </a:lnSpc>
              <a:tabLst>
                <a:tab algn="l" pos="0"/>
              </a:tabLst>
            </a:pPr>
            <a:r>
              <a:rPr b="0" lang="en-US" sz="1300" spc="-1" strike="noStrike">
                <a:solidFill>
                  <a:srgbClr val="16242f"/>
                </a:solidFill>
                <a:latin typeface="Calibri"/>
                <a:ea typeface="Calibri"/>
              </a:rPr>
              <a:t>A trusted Certificate Authority signs an X.509 certificate that binds an identity to its public key. Relying parties trust the CA's signature — no prior contact needed.</a:t>
            </a:r>
            <a:endParaRPr b="0" lang="en-US" sz="1300" spc="-1" strike="noStrike">
              <a:solidFill>
                <a:srgbClr val="000000"/>
              </a:solidFill>
              <a:latin typeface="Arial"/>
            </a:endParaRPr>
          </a:p>
        </p:txBody>
      </p:sp>
      <p:sp>
        <p:nvSpPr>
          <p:cNvPr id="50" name="Shape 4"/>
          <p:cNvSpPr/>
          <p:nvPr/>
        </p:nvSpPr>
        <p:spPr>
          <a:xfrm>
            <a:off x="5394960" y="1417320"/>
            <a:ext cx="3199320" cy="86760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 name="Shape 5"/>
          <p:cNvSpPr/>
          <p:nvPr/>
        </p:nvSpPr>
        <p:spPr>
          <a:xfrm>
            <a:off x="5577840" y="1636920"/>
            <a:ext cx="419400" cy="41940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52" name="Image 1" descr="preencoded.png"/>
          <p:cNvPicPr/>
          <p:nvPr/>
        </p:nvPicPr>
        <p:blipFill>
          <a:blip r:embed="rId2"/>
          <a:stretch/>
        </p:blipFill>
        <p:spPr>
          <a:xfrm>
            <a:off x="5687280" y="1746000"/>
            <a:ext cx="200880" cy="200880"/>
          </a:xfrm>
          <a:prstGeom prst="rect">
            <a:avLst/>
          </a:prstGeom>
          <a:ln w="0">
            <a:noFill/>
          </a:ln>
        </p:spPr>
      </p:pic>
      <p:sp>
        <p:nvSpPr>
          <p:cNvPr id="53" name="Text 6"/>
          <p:cNvSpPr/>
          <p:nvPr/>
        </p:nvSpPr>
        <p:spPr>
          <a:xfrm>
            <a:off x="6172200" y="1417320"/>
            <a:ext cx="2330640" cy="867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Authentication</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you are talking to the real server</a:t>
            </a:r>
            <a:endParaRPr b="0" lang="en-US" sz="1050" spc="-1" strike="noStrike">
              <a:solidFill>
                <a:srgbClr val="000000"/>
              </a:solidFill>
              <a:latin typeface="Arial"/>
            </a:endParaRPr>
          </a:p>
        </p:txBody>
      </p:sp>
      <p:sp>
        <p:nvSpPr>
          <p:cNvPr id="54" name="Shape 7"/>
          <p:cNvSpPr/>
          <p:nvPr/>
        </p:nvSpPr>
        <p:spPr>
          <a:xfrm>
            <a:off x="5394960" y="2423160"/>
            <a:ext cx="3199320" cy="86760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5" name="Shape 8"/>
          <p:cNvSpPr/>
          <p:nvPr/>
        </p:nvSpPr>
        <p:spPr>
          <a:xfrm>
            <a:off x="5577840" y="2642760"/>
            <a:ext cx="419400" cy="419400"/>
          </a:xfrm>
          <a:prstGeom prst="ellipse">
            <a:avLst/>
          </a:prstGeom>
          <a:solidFill>
            <a:srgbClr val="33c2c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56" name="Image 2" descr="preencoded.png"/>
          <p:cNvPicPr/>
          <p:nvPr/>
        </p:nvPicPr>
        <p:blipFill>
          <a:blip r:embed="rId3"/>
          <a:stretch/>
        </p:blipFill>
        <p:spPr>
          <a:xfrm>
            <a:off x="5687280" y="2751840"/>
            <a:ext cx="200880" cy="200880"/>
          </a:xfrm>
          <a:prstGeom prst="rect">
            <a:avLst/>
          </a:prstGeom>
          <a:ln w="0">
            <a:noFill/>
          </a:ln>
        </p:spPr>
      </p:pic>
      <p:sp>
        <p:nvSpPr>
          <p:cNvPr id="57" name="Text 9"/>
          <p:cNvSpPr/>
          <p:nvPr/>
        </p:nvSpPr>
        <p:spPr>
          <a:xfrm>
            <a:off x="6172200" y="2423160"/>
            <a:ext cx="2330640" cy="867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Confidentiality</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traffic cannot be read in transit</a:t>
            </a:r>
            <a:endParaRPr b="0" lang="en-US" sz="1050" spc="-1" strike="noStrike">
              <a:solidFill>
                <a:srgbClr val="000000"/>
              </a:solidFill>
              <a:latin typeface="Arial"/>
            </a:endParaRPr>
          </a:p>
        </p:txBody>
      </p:sp>
      <p:sp>
        <p:nvSpPr>
          <p:cNvPr id="58" name="Shape 10"/>
          <p:cNvSpPr/>
          <p:nvPr/>
        </p:nvSpPr>
        <p:spPr>
          <a:xfrm>
            <a:off x="5394960" y="3429000"/>
            <a:ext cx="3199320" cy="86760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9" name="Shape 11"/>
          <p:cNvSpPr/>
          <p:nvPr/>
        </p:nvSpPr>
        <p:spPr>
          <a:xfrm>
            <a:off x="5577840" y="3648600"/>
            <a:ext cx="419400" cy="41940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60" name="Image 3" descr="preencoded.png"/>
          <p:cNvPicPr/>
          <p:nvPr/>
        </p:nvPicPr>
        <p:blipFill>
          <a:blip r:embed="rId4"/>
          <a:stretch/>
        </p:blipFill>
        <p:spPr>
          <a:xfrm>
            <a:off x="5687280" y="3757680"/>
            <a:ext cx="200880" cy="200880"/>
          </a:xfrm>
          <a:prstGeom prst="rect">
            <a:avLst/>
          </a:prstGeom>
          <a:ln w="0">
            <a:noFill/>
          </a:ln>
        </p:spPr>
      </p:pic>
      <p:sp>
        <p:nvSpPr>
          <p:cNvPr id="61" name="Text 12"/>
          <p:cNvSpPr/>
          <p:nvPr/>
        </p:nvSpPr>
        <p:spPr>
          <a:xfrm>
            <a:off x="6172200" y="3429000"/>
            <a:ext cx="2330640" cy="867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Integrity</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tampering is detected</a:t>
            </a:r>
            <a:endParaRPr b="0" lang="en-US" sz="1050" spc="-1" strike="noStrike">
              <a:solidFill>
                <a:srgbClr val="000000"/>
              </a:solidFill>
              <a:latin typeface="Arial"/>
            </a:endParaRPr>
          </a:p>
        </p:txBody>
      </p:sp>
      <p:sp>
        <p:nvSpPr>
          <p:cNvPr id="62" name="Text 13"/>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63" name="Text 14"/>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3</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64"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65" name="Image 0" descr="preencoded.png"/>
          <p:cNvPicPr/>
          <p:nvPr/>
        </p:nvPicPr>
        <p:blipFill>
          <a:blip r:embed="rId1"/>
          <a:stretch/>
        </p:blipFill>
        <p:spPr>
          <a:xfrm>
            <a:off x="589680" y="516600"/>
            <a:ext cx="300600" cy="300600"/>
          </a:xfrm>
          <a:prstGeom prst="rect">
            <a:avLst/>
          </a:prstGeom>
          <a:ln w="0">
            <a:noFill/>
          </a:ln>
        </p:spPr>
      </p:pic>
      <p:sp>
        <p:nvSpPr>
          <p:cNvPr id="66"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67"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Anatomy of an X.509 v3 certificate</a:t>
            </a:r>
            <a:endParaRPr b="0" lang="en-US" sz="2500" spc="-1" strike="noStrike">
              <a:solidFill>
                <a:srgbClr val="000000"/>
              </a:solidFill>
              <a:latin typeface="Arial"/>
            </a:endParaRPr>
          </a:p>
        </p:txBody>
      </p:sp>
      <p:sp>
        <p:nvSpPr>
          <p:cNvPr id="68" name="Shape 3"/>
          <p:cNvSpPr/>
          <p:nvPr/>
        </p:nvSpPr>
        <p:spPr>
          <a:xfrm>
            <a:off x="548640" y="1417320"/>
            <a:ext cx="3199320" cy="3153600"/>
          </a:xfrm>
          <a:prstGeom prst="roundRect">
            <a:avLst>
              <a:gd name="adj" fmla="val 2319"/>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9" name="Text 4"/>
          <p:cNvSpPr/>
          <p:nvPr/>
        </p:nvSpPr>
        <p:spPr>
          <a:xfrm>
            <a:off x="777240" y="1554480"/>
            <a:ext cx="27421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f9c92"/>
                </a:solidFill>
                <a:latin typeface="Calibri"/>
                <a:ea typeface="Calibri"/>
              </a:rPr>
              <a:t>Core fields</a:t>
            </a:r>
            <a:endParaRPr b="0" lang="en-US" sz="1400" spc="-1" strike="noStrike">
              <a:solidFill>
                <a:srgbClr val="000000"/>
              </a:solidFill>
              <a:latin typeface="Arial"/>
            </a:endParaRPr>
          </a:p>
        </p:txBody>
      </p:sp>
      <p:sp>
        <p:nvSpPr>
          <p:cNvPr id="70" name="Text 5"/>
          <p:cNvSpPr/>
          <p:nvPr/>
        </p:nvSpPr>
        <p:spPr>
          <a:xfrm>
            <a:off x="822960" y="1920240"/>
            <a:ext cx="2742120" cy="25592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Subject — who the cert is for</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Issuer — the signing CA</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Validity — Not Before / Not After</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Public Key — owner's key</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Serial Number — unique ID</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Signature — CA's signature</a:t>
            </a:r>
            <a:endParaRPr b="0" lang="en-US" sz="1150" spc="-1" strike="noStrike">
              <a:solidFill>
                <a:srgbClr val="000000"/>
              </a:solidFill>
              <a:latin typeface="Arial"/>
            </a:endParaRPr>
          </a:p>
        </p:txBody>
      </p:sp>
      <p:sp>
        <p:nvSpPr>
          <p:cNvPr id="71" name="Text 6"/>
          <p:cNvSpPr/>
          <p:nvPr/>
        </p:nvSpPr>
        <p:spPr>
          <a:xfrm>
            <a:off x="3977640" y="1463040"/>
            <a:ext cx="46623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Version 3 extensions — where the security lives</a:t>
            </a:r>
            <a:endParaRPr b="0" lang="en-US" sz="1350" spc="-1" strike="noStrike">
              <a:solidFill>
                <a:srgbClr val="000000"/>
              </a:solidFill>
              <a:latin typeface="Arial"/>
            </a:endParaRPr>
          </a:p>
        </p:txBody>
      </p:sp>
      <p:sp>
        <p:nvSpPr>
          <p:cNvPr id="72" name="Shape 7"/>
          <p:cNvSpPr/>
          <p:nvPr/>
        </p:nvSpPr>
        <p:spPr>
          <a:xfrm>
            <a:off x="3977640" y="1810440"/>
            <a:ext cx="4616640" cy="60228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 name="Text 8"/>
          <p:cNvSpPr/>
          <p:nvPr/>
        </p:nvSpPr>
        <p:spPr>
          <a:xfrm>
            <a:off x="4160520" y="1874520"/>
            <a:ext cx="42966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Basic Constraints</a:t>
            </a:r>
            <a:endParaRPr b="0" lang="en-US" sz="1250" spc="-1" strike="noStrike">
              <a:solidFill>
                <a:srgbClr val="000000"/>
              </a:solidFill>
              <a:latin typeface="Arial"/>
            </a:endParaRPr>
          </a:p>
        </p:txBody>
      </p:sp>
      <p:sp>
        <p:nvSpPr>
          <p:cNvPr id="74" name="Text 9"/>
          <p:cNvSpPr/>
          <p:nvPr/>
        </p:nvSpPr>
        <p:spPr>
          <a:xfrm>
            <a:off x="4160520" y="2121480"/>
            <a:ext cx="429660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CA:TRUE / CA:FALSE + pathlen</a:t>
            </a:r>
            <a:endParaRPr b="0" lang="en-US" sz="1050" spc="-1" strike="noStrike">
              <a:solidFill>
                <a:srgbClr val="000000"/>
              </a:solidFill>
              <a:latin typeface="Arial"/>
            </a:endParaRPr>
          </a:p>
        </p:txBody>
      </p:sp>
      <p:sp>
        <p:nvSpPr>
          <p:cNvPr id="75" name="Shape 10"/>
          <p:cNvSpPr/>
          <p:nvPr/>
        </p:nvSpPr>
        <p:spPr>
          <a:xfrm>
            <a:off x="3977640" y="2496240"/>
            <a:ext cx="4616640" cy="60228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6" name="Text 11"/>
          <p:cNvSpPr/>
          <p:nvPr/>
        </p:nvSpPr>
        <p:spPr>
          <a:xfrm>
            <a:off x="4160520" y="2560320"/>
            <a:ext cx="42966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Key Usage / EKU</a:t>
            </a:r>
            <a:endParaRPr b="0" lang="en-US" sz="1250" spc="-1" strike="noStrike">
              <a:solidFill>
                <a:srgbClr val="000000"/>
              </a:solidFill>
              <a:latin typeface="Arial"/>
            </a:endParaRPr>
          </a:p>
        </p:txBody>
      </p:sp>
      <p:sp>
        <p:nvSpPr>
          <p:cNvPr id="77" name="Text 12"/>
          <p:cNvSpPr/>
          <p:nvPr/>
        </p:nvSpPr>
        <p:spPr>
          <a:xfrm>
            <a:off x="4160520" y="2807280"/>
            <a:ext cx="429660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serverAuth vs clientAuth</a:t>
            </a:r>
            <a:endParaRPr b="0" lang="en-US" sz="1050" spc="-1" strike="noStrike">
              <a:solidFill>
                <a:srgbClr val="000000"/>
              </a:solidFill>
              <a:latin typeface="Arial"/>
            </a:endParaRPr>
          </a:p>
        </p:txBody>
      </p:sp>
      <p:sp>
        <p:nvSpPr>
          <p:cNvPr id="78" name="Shape 13"/>
          <p:cNvSpPr/>
          <p:nvPr/>
        </p:nvSpPr>
        <p:spPr>
          <a:xfrm>
            <a:off x="3977640" y="3182040"/>
            <a:ext cx="4616640" cy="60228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wrap="none" lIns="0" rIns="0" tIns="0" bIns="0" anchor="t">
            <a:spAutoFit/>
          </a:bodyPr>
          <a:p>
            <a:pPr>
              <a:lnSpc>
                <a:spcPct val="100000"/>
              </a:lnSpc>
            </a:pPr>
            <a:endParaRPr b="1" lang="en-US" sz="1250" spc="-1" strike="noStrike">
              <a:solidFill>
                <a:srgbClr val="16242f"/>
              </a:solidFill>
              <a:latin typeface="Calibri"/>
              <a:ea typeface="Calibri"/>
            </a:endParaRPr>
          </a:p>
        </p:txBody>
      </p:sp>
      <p:sp>
        <p:nvSpPr>
          <p:cNvPr id="79" name="Text 14"/>
          <p:cNvSpPr/>
          <p:nvPr/>
        </p:nvSpPr>
        <p:spPr>
          <a:xfrm>
            <a:off x="4160520" y="3246120"/>
            <a:ext cx="42966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Subject Alt. Name (SAN)</a:t>
            </a:r>
            <a:endParaRPr b="0" lang="en-US" sz="1250" spc="-1" strike="noStrike">
              <a:solidFill>
                <a:srgbClr val="000000"/>
              </a:solidFill>
              <a:latin typeface="Arial"/>
            </a:endParaRPr>
          </a:p>
        </p:txBody>
      </p:sp>
      <p:sp>
        <p:nvSpPr>
          <p:cNvPr id="80" name="Text 15"/>
          <p:cNvSpPr/>
          <p:nvPr/>
        </p:nvSpPr>
        <p:spPr>
          <a:xfrm>
            <a:off x="4160520" y="3531240"/>
            <a:ext cx="2225520" cy="1598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1050" spc="-1" strike="noStrike">
                <a:solidFill>
                  <a:srgbClr val="5e7484"/>
                </a:solidFill>
                <a:latin typeface="Calibri"/>
              </a:rPr>
              <a:t>hostname match — required by browsers</a:t>
            </a:r>
            <a:endParaRPr b="0" lang="en-US" sz="1050" spc="-1" strike="noStrike">
              <a:solidFill>
                <a:srgbClr val="000000"/>
              </a:solidFill>
              <a:latin typeface="Arial"/>
            </a:endParaRPr>
          </a:p>
        </p:txBody>
      </p:sp>
      <p:sp>
        <p:nvSpPr>
          <p:cNvPr id="81" name="Shape 16"/>
          <p:cNvSpPr/>
          <p:nvPr/>
        </p:nvSpPr>
        <p:spPr>
          <a:xfrm>
            <a:off x="3977640" y="3867840"/>
            <a:ext cx="4616640" cy="60228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2" name="Text 17"/>
          <p:cNvSpPr/>
          <p:nvPr/>
        </p:nvSpPr>
        <p:spPr>
          <a:xfrm>
            <a:off x="4160520" y="3931920"/>
            <a:ext cx="42966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SKI / AKI</a:t>
            </a:r>
            <a:endParaRPr b="0" lang="en-US" sz="1250" spc="-1" strike="noStrike">
              <a:solidFill>
                <a:srgbClr val="000000"/>
              </a:solidFill>
              <a:latin typeface="Arial"/>
            </a:endParaRPr>
          </a:p>
        </p:txBody>
      </p:sp>
      <p:sp>
        <p:nvSpPr>
          <p:cNvPr id="83" name="Text 18"/>
          <p:cNvSpPr/>
          <p:nvPr/>
        </p:nvSpPr>
        <p:spPr>
          <a:xfrm>
            <a:off x="4160520" y="4178880"/>
            <a:ext cx="429660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links a cert to its issuer</a:t>
            </a:r>
            <a:endParaRPr b="0" lang="en-US" sz="1050" spc="-1" strike="noStrike">
              <a:solidFill>
                <a:srgbClr val="000000"/>
              </a:solidFill>
              <a:latin typeface="Arial"/>
            </a:endParaRPr>
          </a:p>
        </p:txBody>
      </p:sp>
      <p:sp>
        <p:nvSpPr>
          <p:cNvPr id="84" name="Text 19"/>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85" name="Text 20"/>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4</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86"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7" name="Image 0" descr="preencoded.png"/>
          <p:cNvPicPr/>
          <p:nvPr/>
        </p:nvPicPr>
        <p:blipFill>
          <a:blip r:embed="rId1"/>
          <a:stretch/>
        </p:blipFill>
        <p:spPr>
          <a:xfrm>
            <a:off x="589680" y="516600"/>
            <a:ext cx="300600" cy="300600"/>
          </a:xfrm>
          <a:prstGeom prst="rect">
            <a:avLst/>
          </a:prstGeom>
          <a:ln w="0">
            <a:noFill/>
          </a:ln>
        </p:spPr>
      </p:pic>
      <p:sp>
        <p:nvSpPr>
          <p:cNvPr id="88"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89"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Two-tier trust model</a:t>
            </a:r>
            <a:endParaRPr b="0" lang="en-US" sz="2500" spc="-1" strike="noStrike">
              <a:solidFill>
                <a:srgbClr val="000000"/>
              </a:solidFill>
              <a:latin typeface="Arial"/>
            </a:endParaRPr>
          </a:p>
        </p:txBody>
      </p:sp>
      <p:sp>
        <p:nvSpPr>
          <p:cNvPr id="90" name="Shape 3"/>
          <p:cNvSpPr/>
          <p:nvPr/>
        </p:nvSpPr>
        <p:spPr>
          <a:xfrm>
            <a:off x="2926080" y="1371600"/>
            <a:ext cx="3290760" cy="712080"/>
          </a:xfrm>
          <a:prstGeom prst="roundRect">
            <a:avLst>
              <a:gd name="adj" fmla="val 8974"/>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 name="Text 4"/>
          <p:cNvSpPr/>
          <p:nvPr/>
        </p:nvSpPr>
        <p:spPr>
          <a:xfrm>
            <a:off x="3017520" y="1371600"/>
            <a:ext cx="3107880" cy="712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Root CA</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self-signed · offline · 20 years</a:t>
            </a:r>
            <a:endParaRPr b="0" lang="en-US" sz="1050" spc="-1" strike="noStrike">
              <a:solidFill>
                <a:srgbClr val="000000"/>
              </a:solidFill>
              <a:latin typeface="Arial"/>
            </a:endParaRPr>
          </a:p>
        </p:txBody>
      </p:sp>
      <p:sp>
        <p:nvSpPr>
          <p:cNvPr id="92" name="Shape 5"/>
          <p:cNvSpPr/>
          <p:nvPr/>
        </p:nvSpPr>
        <p:spPr>
          <a:xfrm>
            <a:off x="4572000" y="2084760"/>
            <a:ext cx="360" cy="3474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3" name="Text 6"/>
          <p:cNvSpPr/>
          <p:nvPr/>
        </p:nvSpPr>
        <p:spPr>
          <a:xfrm>
            <a:off x="4663440" y="2121480"/>
            <a:ext cx="9133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5e7484"/>
                </a:solidFill>
                <a:latin typeface="Calibri"/>
                <a:ea typeface="Calibri"/>
              </a:rPr>
              <a:t>signs</a:t>
            </a:r>
            <a:endParaRPr b="0" lang="en-US" sz="1000" spc="-1" strike="noStrike">
              <a:solidFill>
                <a:srgbClr val="000000"/>
              </a:solidFill>
              <a:latin typeface="Arial"/>
            </a:endParaRPr>
          </a:p>
        </p:txBody>
      </p:sp>
      <p:sp>
        <p:nvSpPr>
          <p:cNvPr id="94" name="Shape 7"/>
          <p:cNvSpPr/>
          <p:nvPr/>
        </p:nvSpPr>
        <p:spPr>
          <a:xfrm>
            <a:off x="2926080" y="2450520"/>
            <a:ext cx="3290760" cy="712080"/>
          </a:xfrm>
          <a:prstGeom prst="roundRect">
            <a:avLst>
              <a:gd name="adj" fmla="val 8974"/>
            </a:avLst>
          </a:prstGeom>
          <a:solidFill>
            <a:srgbClr val="0f9c9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 name="Text 8"/>
          <p:cNvSpPr/>
          <p:nvPr/>
        </p:nvSpPr>
        <p:spPr>
          <a:xfrm>
            <a:off x="3017520" y="2450520"/>
            <a:ext cx="3107880" cy="712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Intermediate CA</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online · 10 years · pathlen:0</a:t>
            </a:r>
            <a:endParaRPr b="0" lang="en-US" sz="1050" spc="-1" strike="noStrike">
              <a:solidFill>
                <a:srgbClr val="000000"/>
              </a:solidFill>
              <a:latin typeface="Arial"/>
            </a:endParaRPr>
          </a:p>
        </p:txBody>
      </p:sp>
      <p:sp>
        <p:nvSpPr>
          <p:cNvPr id="96" name="Shape 9"/>
          <p:cNvSpPr/>
          <p:nvPr/>
        </p:nvSpPr>
        <p:spPr>
          <a:xfrm flipH="1">
            <a:off x="2743200" y="3163680"/>
            <a:ext cx="1554480" cy="4482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7" name="Shape 10"/>
          <p:cNvSpPr/>
          <p:nvPr/>
        </p:nvSpPr>
        <p:spPr>
          <a:xfrm>
            <a:off x="4846320" y="3163680"/>
            <a:ext cx="1554480" cy="4482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8" name="Text 11"/>
          <p:cNvSpPr/>
          <p:nvPr/>
        </p:nvSpPr>
        <p:spPr>
          <a:xfrm>
            <a:off x="4069080" y="3200400"/>
            <a:ext cx="100476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00" spc="-1" strike="noStrike">
                <a:solidFill>
                  <a:srgbClr val="5e7484"/>
                </a:solidFill>
                <a:latin typeface="Calibri"/>
                <a:ea typeface="Calibri"/>
              </a:rPr>
              <a:t>issues</a:t>
            </a:r>
            <a:endParaRPr b="0" lang="en-US" sz="1000" spc="-1" strike="noStrike">
              <a:solidFill>
                <a:srgbClr val="000000"/>
              </a:solidFill>
              <a:latin typeface="Arial"/>
            </a:endParaRPr>
          </a:p>
        </p:txBody>
      </p:sp>
      <p:sp>
        <p:nvSpPr>
          <p:cNvPr id="99" name="Shape 12"/>
          <p:cNvSpPr/>
          <p:nvPr/>
        </p:nvSpPr>
        <p:spPr>
          <a:xfrm>
            <a:off x="1371600" y="3630240"/>
            <a:ext cx="2742120" cy="712080"/>
          </a:xfrm>
          <a:prstGeom prst="roundRect">
            <a:avLst>
              <a:gd name="adj" fmla="val 8974"/>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 name="Text 13"/>
          <p:cNvSpPr/>
          <p:nvPr/>
        </p:nvSpPr>
        <p:spPr>
          <a:xfrm>
            <a:off x="1463040" y="3630240"/>
            <a:ext cx="2559240" cy="712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Server certificate</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EKU: serverAuth</a:t>
            </a:r>
            <a:endParaRPr b="0" lang="en-US" sz="1050" spc="-1" strike="noStrike">
              <a:solidFill>
                <a:srgbClr val="000000"/>
              </a:solidFill>
              <a:latin typeface="Arial"/>
            </a:endParaRPr>
          </a:p>
        </p:txBody>
      </p:sp>
      <p:sp>
        <p:nvSpPr>
          <p:cNvPr id="101" name="Shape 14"/>
          <p:cNvSpPr/>
          <p:nvPr/>
        </p:nvSpPr>
        <p:spPr>
          <a:xfrm>
            <a:off x="5029200" y="3630240"/>
            <a:ext cx="2742120" cy="712080"/>
          </a:xfrm>
          <a:prstGeom prst="roundRect">
            <a:avLst>
              <a:gd name="adj" fmla="val 8974"/>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 name="Text 15"/>
          <p:cNvSpPr/>
          <p:nvPr/>
        </p:nvSpPr>
        <p:spPr>
          <a:xfrm>
            <a:off x="5120640" y="3630240"/>
            <a:ext cx="2559240" cy="712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Client certificate</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EKU: clientAuth</a:t>
            </a:r>
            <a:endParaRPr b="0" lang="en-US" sz="1050" spc="-1" strike="noStrike">
              <a:solidFill>
                <a:srgbClr val="000000"/>
              </a:solidFill>
              <a:latin typeface="Arial"/>
            </a:endParaRPr>
          </a:p>
        </p:txBody>
      </p:sp>
      <p:sp>
        <p:nvSpPr>
          <p:cNvPr id="103" name="Text 17"/>
          <p:cNvSpPr/>
          <p:nvPr/>
        </p:nvSpPr>
        <p:spPr>
          <a:xfrm>
            <a:off x="731520" y="4526280"/>
            <a:ext cx="777132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04" name="Text 18"/>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05" name="Text 19"/>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5</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06"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07" name="Image 0" descr="preencoded.png"/>
          <p:cNvPicPr/>
          <p:nvPr/>
        </p:nvPicPr>
        <p:blipFill>
          <a:blip r:embed="rId1"/>
          <a:stretch/>
        </p:blipFill>
        <p:spPr>
          <a:xfrm>
            <a:off x="589680" y="516600"/>
            <a:ext cx="300600" cy="300600"/>
          </a:xfrm>
          <a:prstGeom prst="rect">
            <a:avLst/>
          </a:prstGeom>
          <a:ln w="0">
            <a:noFill/>
          </a:ln>
        </p:spPr>
      </p:pic>
      <p:sp>
        <p:nvSpPr>
          <p:cNvPr id="108"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OUR DEPLOYMENT</a:t>
            </a:r>
            <a:endParaRPr b="0" lang="en-US" sz="1100" spc="-1" strike="noStrike">
              <a:solidFill>
                <a:srgbClr val="000000"/>
              </a:solidFill>
              <a:latin typeface="Arial"/>
            </a:endParaRPr>
          </a:p>
        </p:txBody>
      </p:sp>
      <p:sp>
        <p:nvSpPr>
          <p:cNvPr id="109"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What we built</a:t>
            </a:r>
            <a:endParaRPr b="0" lang="en-US" sz="2500" spc="-1" strike="noStrike">
              <a:solidFill>
                <a:srgbClr val="000000"/>
              </a:solidFill>
              <a:latin typeface="Arial"/>
            </a:endParaRPr>
          </a:p>
        </p:txBody>
      </p:sp>
      <p:sp>
        <p:nvSpPr>
          <p:cNvPr id="110" name="Shape 3"/>
          <p:cNvSpPr/>
          <p:nvPr/>
        </p:nvSpPr>
        <p:spPr>
          <a:xfrm>
            <a:off x="640080" y="1417320"/>
            <a:ext cx="2467800" cy="776160"/>
          </a:xfrm>
          <a:prstGeom prst="roundRect">
            <a:avLst>
              <a:gd name="adj" fmla="val 8235"/>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 name="Text 4"/>
          <p:cNvSpPr/>
          <p:nvPr/>
        </p:nvSpPr>
        <p:spPr>
          <a:xfrm>
            <a:off x="731520" y="1417320"/>
            <a:ext cx="2284920" cy="776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OpenSSL CA hierarchy</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2" name="Shape 5"/>
          <p:cNvSpPr/>
          <p:nvPr/>
        </p:nvSpPr>
        <p:spPr>
          <a:xfrm>
            <a:off x="3136320" y="1801080"/>
            <a:ext cx="356400" cy="360"/>
          </a:xfrm>
          <a:prstGeom prst="line">
            <a:avLst/>
          </a:prstGeom>
          <a:ln w="22225">
            <a:solidFill>
              <a:srgbClr val="0f9c9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3" name="Shape 6"/>
          <p:cNvSpPr/>
          <p:nvPr/>
        </p:nvSpPr>
        <p:spPr>
          <a:xfrm>
            <a:off x="3520440" y="1417320"/>
            <a:ext cx="2467800" cy="776160"/>
          </a:xfrm>
          <a:prstGeom prst="roundRect">
            <a:avLst>
              <a:gd name="adj" fmla="val 8235"/>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 name="Text 7"/>
          <p:cNvSpPr/>
          <p:nvPr/>
        </p:nvSpPr>
        <p:spPr>
          <a:xfrm>
            <a:off x="3611880" y="1417320"/>
            <a:ext cx="2284920" cy="776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Server + client certs</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5" name="Shape 8"/>
          <p:cNvSpPr/>
          <p:nvPr/>
        </p:nvSpPr>
        <p:spPr>
          <a:xfrm>
            <a:off x="6016680" y="1801080"/>
            <a:ext cx="356400" cy="360"/>
          </a:xfrm>
          <a:prstGeom prst="line">
            <a:avLst/>
          </a:prstGeom>
          <a:ln w="22225">
            <a:solidFill>
              <a:srgbClr val="0f9c9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6" name="Shape 9"/>
          <p:cNvSpPr/>
          <p:nvPr/>
        </p:nvSpPr>
        <p:spPr>
          <a:xfrm>
            <a:off x="6400800" y="1417320"/>
            <a:ext cx="2467800" cy="776160"/>
          </a:xfrm>
          <a:prstGeom prst="roundRect">
            <a:avLst>
              <a:gd name="adj" fmla="val 8235"/>
            </a:avLst>
          </a:prstGeom>
          <a:solidFill>
            <a:srgbClr val="0f9c9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 name="Text 10"/>
          <p:cNvSpPr/>
          <p:nvPr/>
        </p:nvSpPr>
        <p:spPr>
          <a:xfrm>
            <a:off x="6492240" y="1417320"/>
            <a:ext cx="2284920" cy="776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Nginx with mTLS</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8" name="Shape 11"/>
          <p:cNvSpPr/>
          <p:nvPr/>
        </p:nvSpPr>
        <p:spPr>
          <a:xfrm>
            <a:off x="548640" y="2697480"/>
            <a:ext cx="1946520" cy="169056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9" name="Shape 12"/>
          <p:cNvSpPr/>
          <p:nvPr/>
        </p:nvSpPr>
        <p:spPr>
          <a:xfrm>
            <a:off x="1239120" y="2926080"/>
            <a:ext cx="565920" cy="5659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20" name="Image 1" descr="preencoded.png"/>
          <p:cNvPicPr/>
          <p:nvPr/>
        </p:nvPicPr>
        <p:blipFill>
          <a:blip r:embed="rId2"/>
          <a:stretch/>
        </p:blipFill>
        <p:spPr>
          <a:xfrm>
            <a:off x="1386360" y="3073320"/>
            <a:ext cx="271080" cy="271080"/>
          </a:xfrm>
          <a:prstGeom prst="rect">
            <a:avLst/>
          </a:prstGeom>
          <a:ln w="0">
            <a:noFill/>
          </a:ln>
        </p:spPr>
      </p:pic>
      <p:sp>
        <p:nvSpPr>
          <p:cNvPr id="121" name="Text 13"/>
          <p:cNvSpPr/>
          <p:nvPr/>
        </p:nvSpPr>
        <p:spPr>
          <a:xfrm>
            <a:off x="594360" y="3657600"/>
            <a:ext cx="18550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Two-tier CA</a:t>
            </a:r>
            <a:endParaRPr b="0" lang="en-US" sz="1300" spc="-1" strike="noStrike">
              <a:solidFill>
                <a:srgbClr val="000000"/>
              </a:solidFill>
              <a:latin typeface="Arial"/>
            </a:endParaRPr>
          </a:p>
        </p:txBody>
      </p:sp>
      <p:sp>
        <p:nvSpPr>
          <p:cNvPr id="122" name="Text 14"/>
          <p:cNvSpPr/>
          <p:nvPr/>
        </p:nvSpPr>
        <p:spPr>
          <a:xfrm>
            <a:off x="594360" y="3959280"/>
            <a:ext cx="18550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Root + Intermediate</a:t>
            </a:r>
            <a:endParaRPr b="0" lang="en-US" sz="1050" spc="-1" strike="noStrike">
              <a:solidFill>
                <a:srgbClr val="000000"/>
              </a:solidFill>
              <a:latin typeface="Arial"/>
            </a:endParaRPr>
          </a:p>
        </p:txBody>
      </p:sp>
      <p:sp>
        <p:nvSpPr>
          <p:cNvPr id="123" name="Shape 15"/>
          <p:cNvSpPr/>
          <p:nvPr/>
        </p:nvSpPr>
        <p:spPr>
          <a:xfrm>
            <a:off x="2697480" y="2697480"/>
            <a:ext cx="1946520" cy="169056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4" name="Shape 16"/>
          <p:cNvSpPr/>
          <p:nvPr/>
        </p:nvSpPr>
        <p:spPr>
          <a:xfrm>
            <a:off x="3387960" y="2926080"/>
            <a:ext cx="565920" cy="5659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25" name="Image 2" descr="preencoded.png"/>
          <p:cNvPicPr/>
          <p:nvPr/>
        </p:nvPicPr>
        <p:blipFill>
          <a:blip r:embed="rId3"/>
          <a:stretch/>
        </p:blipFill>
        <p:spPr>
          <a:xfrm>
            <a:off x="3535200" y="3073320"/>
            <a:ext cx="271080" cy="271080"/>
          </a:xfrm>
          <a:prstGeom prst="rect">
            <a:avLst/>
          </a:prstGeom>
          <a:ln w="0">
            <a:noFill/>
          </a:ln>
        </p:spPr>
      </p:pic>
      <p:sp>
        <p:nvSpPr>
          <p:cNvPr id="126" name="Text 17"/>
          <p:cNvSpPr/>
          <p:nvPr/>
        </p:nvSpPr>
        <p:spPr>
          <a:xfrm>
            <a:off x="2743200" y="3657600"/>
            <a:ext cx="18550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RSA 4096 / 2048</a:t>
            </a:r>
            <a:endParaRPr b="0" lang="en-US" sz="1300" spc="-1" strike="noStrike">
              <a:solidFill>
                <a:srgbClr val="000000"/>
              </a:solidFill>
              <a:latin typeface="Arial"/>
            </a:endParaRPr>
          </a:p>
        </p:txBody>
      </p:sp>
      <p:sp>
        <p:nvSpPr>
          <p:cNvPr id="127" name="Text 18"/>
          <p:cNvSpPr/>
          <p:nvPr/>
        </p:nvSpPr>
        <p:spPr>
          <a:xfrm>
            <a:off x="2743200" y="3959280"/>
            <a:ext cx="18550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CA keys / leaf keys</a:t>
            </a:r>
            <a:endParaRPr b="0" lang="en-US" sz="1050" spc="-1" strike="noStrike">
              <a:solidFill>
                <a:srgbClr val="000000"/>
              </a:solidFill>
              <a:latin typeface="Arial"/>
            </a:endParaRPr>
          </a:p>
        </p:txBody>
      </p:sp>
      <p:sp>
        <p:nvSpPr>
          <p:cNvPr id="128" name="Shape 19"/>
          <p:cNvSpPr/>
          <p:nvPr/>
        </p:nvSpPr>
        <p:spPr>
          <a:xfrm>
            <a:off x="4846320" y="2697480"/>
            <a:ext cx="1946520" cy="169056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9" name="Shape 20"/>
          <p:cNvSpPr/>
          <p:nvPr/>
        </p:nvSpPr>
        <p:spPr>
          <a:xfrm>
            <a:off x="5536800" y="2926080"/>
            <a:ext cx="565920" cy="5659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30" name="Image 3" descr="preencoded.png"/>
          <p:cNvPicPr/>
          <p:nvPr/>
        </p:nvPicPr>
        <p:blipFill>
          <a:blip r:embed="rId4"/>
          <a:stretch/>
        </p:blipFill>
        <p:spPr>
          <a:xfrm>
            <a:off x="5684040" y="3073320"/>
            <a:ext cx="271080" cy="271080"/>
          </a:xfrm>
          <a:prstGeom prst="rect">
            <a:avLst/>
          </a:prstGeom>
          <a:ln w="0">
            <a:noFill/>
          </a:ln>
        </p:spPr>
      </p:pic>
      <p:sp>
        <p:nvSpPr>
          <p:cNvPr id="131" name="Text 21"/>
          <p:cNvSpPr/>
          <p:nvPr/>
        </p:nvSpPr>
        <p:spPr>
          <a:xfrm>
            <a:off x="4892040" y="3657600"/>
            <a:ext cx="18550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375-day leaf certs</a:t>
            </a:r>
            <a:endParaRPr b="0" lang="en-US" sz="1300" spc="-1" strike="noStrike">
              <a:solidFill>
                <a:srgbClr val="000000"/>
              </a:solidFill>
              <a:latin typeface="Arial"/>
            </a:endParaRPr>
          </a:p>
        </p:txBody>
      </p:sp>
      <p:sp>
        <p:nvSpPr>
          <p:cNvPr id="132" name="Text 22"/>
          <p:cNvSpPr/>
          <p:nvPr/>
        </p:nvSpPr>
        <p:spPr>
          <a:xfrm>
            <a:off x="4892040" y="3959280"/>
            <a:ext cx="18550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renewed automatically</a:t>
            </a:r>
            <a:endParaRPr b="0" lang="en-US" sz="1050" spc="-1" strike="noStrike">
              <a:solidFill>
                <a:srgbClr val="000000"/>
              </a:solidFill>
              <a:latin typeface="Arial"/>
            </a:endParaRPr>
          </a:p>
        </p:txBody>
      </p:sp>
      <p:sp>
        <p:nvSpPr>
          <p:cNvPr id="133" name="Shape 23"/>
          <p:cNvSpPr/>
          <p:nvPr/>
        </p:nvSpPr>
        <p:spPr>
          <a:xfrm>
            <a:off x="6995160" y="2697480"/>
            <a:ext cx="1946520" cy="169056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4" name="Shape 24"/>
          <p:cNvSpPr/>
          <p:nvPr/>
        </p:nvSpPr>
        <p:spPr>
          <a:xfrm>
            <a:off x="7685640" y="2926080"/>
            <a:ext cx="565920" cy="5659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35" name="Image 4" descr="preencoded.png"/>
          <p:cNvPicPr/>
          <p:nvPr/>
        </p:nvPicPr>
        <p:blipFill>
          <a:blip r:embed="rId5"/>
          <a:stretch/>
        </p:blipFill>
        <p:spPr>
          <a:xfrm>
            <a:off x="7832880" y="3073320"/>
            <a:ext cx="271080" cy="271080"/>
          </a:xfrm>
          <a:prstGeom prst="rect">
            <a:avLst/>
          </a:prstGeom>
          <a:ln w="0">
            <a:noFill/>
          </a:ln>
        </p:spPr>
      </p:pic>
      <p:sp>
        <p:nvSpPr>
          <p:cNvPr id="136" name="Text 25"/>
          <p:cNvSpPr/>
          <p:nvPr/>
        </p:nvSpPr>
        <p:spPr>
          <a:xfrm>
            <a:off x="7040880" y="3657600"/>
            <a:ext cx="18550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mTLS on Ubuntu</a:t>
            </a:r>
            <a:endParaRPr b="0" lang="en-US" sz="1300" spc="-1" strike="noStrike">
              <a:solidFill>
                <a:srgbClr val="000000"/>
              </a:solidFill>
              <a:latin typeface="Arial"/>
            </a:endParaRPr>
          </a:p>
        </p:txBody>
      </p:sp>
      <p:sp>
        <p:nvSpPr>
          <p:cNvPr id="137" name="Text 26"/>
          <p:cNvSpPr/>
          <p:nvPr/>
        </p:nvSpPr>
        <p:spPr>
          <a:xfrm>
            <a:off x="7040880" y="3959280"/>
            <a:ext cx="185508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Nginx, TLS 1.2 / 1.3</a:t>
            </a:r>
            <a:endParaRPr b="0" lang="en-US" sz="1050" spc="-1" strike="noStrike">
              <a:solidFill>
                <a:srgbClr val="000000"/>
              </a:solidFill>
              <a:latin typeface="Arial"/>
            </a:endParaRPr>
          </a:p>
        </p:txBody>
      </p:sp>
      <p:sp>
        <p:nvSpPr>
          <p:cNvPr id="138" name="Text 27"/>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39" name="Text 28"/>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6</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40"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41" name="Image 0" descr="preencoded.png"/>
          <p:cNvPicPr/>
          <p:nvPr/>
        </p:nvPicPr>
        <p:blipFill>
          <a:blip r:embed="rId1"/>
          <a:stretch/>
        </p:blipFill>
        <p:spPr>
          <a:xfrm>
            <a:off x="589680" y="516600"/>
            <a:ext cx="300600" cy="300600"/>
          </a:xfrm>
          <a:prstGeom prst="rect">
            <a:avLst/>
          </a:prstGeom>
          <a:ln w="0">
            <a:noFill/>
          </a:ln>
        </p:spPr>
      </p:pic>
      <p:sp>
        <p:nvSpPr>
          <p:cNvPr id="142"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BUILDING THE CA</a:t>
            </a:r>
            <a:endParaRPr b="0" lang="en-US" sz="1100" spc="-1" strike="noStrike">
              <a:solidFill>
                <a:srgbClr val="000000"/>
              </a:solidFill>
              <a:latin typeface="Arial"/>
            </a:endParaRPr>
          </a:p>
        </p:txBody>
      </p:sp>
      <p:sp>
        <p:nvSpPr>
          <p:cNvPr id="143"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Three steps to a trust chain</a:t>
            </a:r>
            <a:endParaRPr b="0" lang="en-US" sz="2500" spc="-1" strike="noStrike">
              <a:solidFill>
                <a:srgbClr val="000000"/>
              </a:solidFill>
              <a:latin typeface="Arial"/>
            </a:endParaRPr>
          </a:p>
        </p:txBody>
      </p:sp>
      <p:sp>
        <p:nvSpPr>
          <p:cNvPr id="144" name="Shape 3"/>
          <p:cNvSpPr/>
          <p:nvPr/>
        </p:nvSpPr>
        <p:spPr>
          <a:xfrm>
            <a:off x="548640" y="1463040"/>
            <a:ext cx="2586600" cy="301644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5" name="Shape 4"/>
          <p:cNvSpPr/>
          <p:nvPr/>
        </p:nvSpPr>
        <p:spPr>
          <a:xfrm>
            <a:off x="777240" y="1691640"/>
            <a:ext cx="501840" cy="5018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 name="Text 5"/>
          <p:cNvSpPr/>
          <p:nvPr/>
        </p:nvSpPr>
        <p:spPr>
          <a:xfrm>
            <a:off x="777240" y="1691640"/>
            <a:ext cx="5018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1</a:t>
            </a:r>
            <a:endParaRPr b="0" lang="en-US" sz="2000" spc="-1" strike="noStrike">
              <a:solidFill>
                <a:srgbClr val="000000"/>
              </a:solidFill>
              <a:latin typeface="Arial"/>
            </a:endParaRPr>
          </a:p>
        </p:txBody>
      </p:sp>
      <p:sp>
        <p:nvSpPr>
          <p:cNvPr id="147" name="Text 6"/>
          <p:cNvSpPr/>
          <p:nvPr/>
        </p:nvSpPr>
        <p:spPr>
          <a:xfrm>
            <a:off x="777240" y="2331720"/>
            <a:ext cx="21294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Root CA</a:t>
            </a:r>
            <a:endParaRPr b="0" lang="en-US" sz="1500" spc="-1" strike="noStrike">
              <a:solidFill>
                <a:srgbClr val="000000"/>
              </a:solidFill>
              <a:latin typeface="Arial"/>
            </a:endParaRPr>
          </a:p>
        </p:txBody>
      </p:sp>
      <p:sp>
        <p:nvSpPr>
          <p:cNvPr id="148" name="Text 7"/>
          <p:cNvSpPr/>
          <p:nvPr/>
        </p:nvSpPr>
        <p:spPr>
          <a:xfrm>
            <a:off x="777240" y="2743200"/>
            <a:ext cx="2129400" cy="15534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4096-bit key (AES-256), self-signed certificate, 20-year validity. Generated once, then kept offline.</a:t>
            </a:r>
            <a:endParaRPr b="0" lang="en-US" sz="1150" spc="-1" strike="noStrike">
              <a:solidFill>
                <a:srgbClr val="000000"/>
              </a:solidFill>
              <a:latin typeface="Arial"/>
            </a:endParaRPr>
          </a:p>
        </p:txBody>
      </p:sp>
      <p:sp>
        <p:nvSpPr>
          <p:cNvPr id="149" name="Shape 8"/>
          <p:cNvSpPr/>
          <p:nvPr/>
        </p:nvSpPr>
        <p:spPr>
          <a:xfrm>
            <a:off x="3364920" y="1463040"/>
            <a:ext cx="2586600" cy="301644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0" name="Shape 9"/>
          <p:cNvSpPr/>
          <p:nvPr/>
        </p:nvSpPr>
        <p:spPr>
          <a:xfrm>
            <a:off x="3593520" y="1691640"/>
            <a:ext cx="501840" cy="5018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 name="Text 10"/>
          <p:cNvSpPr/>
          <p:nvPr/>
        </p:nvSpPr>
        <p:spPr>
          <a:xfrm>
            <a:off x="3593520" y="1691640"/>
            <a:ext cx="5018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2</a:t>
            </a:r>
            <a:endParaRPr b="0" lang="en-US" sz="2000" spc="-1" strike="noStrike">
              <a:solidFill>
                <a:srgbClr val="000000"/>
              </a:solidFill>
              <a:latin typeface="Arial"/>
            </a:endParaRPr>
          </a:p>
        </p:txBody>
      </p:sp>
      <p:sp>
        <p:nvSpPr>
          <p:cNvPr id="152" name="Text 11"/>
          <p:cNvSpPr/>
          <p:nvPr/>
        </p:nvSpPr>
        <p:spPr>
          <a:xfrm>
            <a:off x="3593520" y="2331720"/>
            <a:ext cx="21294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Intermediate CA</a:t>
            </a:r>
            <a:endParaRPr b="0" lang="en-US" sz="1500" spc="-1" strike="noStrike">
              <a:solidFill>
                <a:srgbClr val="000000"/>
              </a:solidFill>
              <a:latin typeface="Arial"/>
            </a:endParaRPr>
          </a:p>
        </p:txBody>
      </p:sp>
      <p:sp>
        <p:nvSpPr>
          <p:cNvPr id="153" name="Text 12"/>
          <p:cNvSpPr/>
          <p:nvPr/>
        </p:nvSpPr>
        <p:spPr>
          <a:xfrm>
            <a:off x="3593520" y="2743200"/>
            <a:ext cx="2129400" cy="15534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Key + CSR, signed by the Root with pathlen:0. Valid 10 years. Does all day-to-day issuing.</a:t>
            </a:r>
            <a:endParaRPr b="0" lang="en-US" sz="1150" spc="-1" strike="noStrike">
              <a:solidFill>
                <a:srgbClr val="000000"/>
              </a:solidFill>
              <a:latin typeface="Arial"/>
            </a:endParaRPr>
          </a:p>
        </p:txBody>
      </p:sp>
      <p:sp>
        <p:nvSpPr>
          <p:cNvPr id="154" name="Shape 13"/>
          <p:cNvSpPr/>
          <p:nvPr/>
        </p:nvSpPr>
        <p:spPr>
          <a:xfrm>
            <a:off x="6181200" y="1463040"/>
            <a:ext cx="2586600" cy="301644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5" name="Shape 14"/>
          <p:cNvSpPr/>
          <p:nvPr/>
        </p:nvSpPr>
        <p:spPr>
          <a:xfrm>
            <a:off x="6409800" y="1691640"/>
            <a:ext cx="501840" cy="5018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 name="Text 15"/>
          <p:cNvSpPr/>
          <p:nvPr/>
        </p:nvSpPr>
        <p:spPr>
          <a:xfrm>
            <a:off x="6409800" y="1691640"/>
            <a:ext cx="5018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3</a:t>
            </a:r>
            <a:endParaRPr b="0" lang="en-US" sz="2000" spc="-1" strike="noStrike">
              <a:solidFill>
                <a:srgbClr val="000000"/>
              </a:solidFill>
              <a:latin typeface="Arial"/>
            </a:endParaRPr>
          </a:p>
        </p:txBody>
      </p:sp>
      <p:sp>
        <p:nvSpPr>
          <p:cNvPr id="157" name="Text 16"/>
          <p:cNvSpPr/>
          <p:nvPr/>
        </p:nvSpPr>
        <p:spPr>
          <a:xfrm>
            <a:off x="6409800" y="2331720"/>
            <a:ext cx="21294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Chain bundle</a:t>
            </a:r>
            <a:endParaRPr b="0" lang="en-US" sz="1500" spc="-1" strike="noStrike">
              <a:solidFill>
                <a:srgbClr val="000000"/>
              </a:solidFill>
              <a:latin typeface="Arial"/>
            </a:endParaRPr>
          </a:p>
        </p:txBody>
      </p:sp>
      <p:sp>
        <p:nvSpPr>
          <p:cNvPr id="158" name="Text 17"/>
          <p:cNvSpPr/>
          <p:nvPr/>
        </p:nvSpPr>
        <p:spPr>
          <a:xfrm>
            <a:off x="6409800" y="2743200"/>
            <a:ext cx="2129400" cy="15534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Intermediate + Root concatenated into ca-chain.cert.pem, given to clients to verify the full path.</a:t>
            </a:r>
            <a:endParaRPr b="0" lang="en-US" sz="1150" spc="-1" strike="noStrike">
              <a:solidFill>
                <a:srgbClr val="000000"/>
              </a:solidFill>
              <a:latin typeface="Arial"/>
            </a:endParaRPr>
          </a:p>
        </p:txBody>
      </p:sp>
      <p:sp>
        <p:nvSpPr>
          <p:cNvPr id="159" name="Text 18"/>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60" name="Text 19"/>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7</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61"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62" name="Image 0" descr="preencoded.png"/>
          <p:cNvPicPr/>
          <p:nvPr/>
        </p:nvPicPr>
        <p:blipFill>
          <a:blip r:embed="rId1"/>
          <a:stretch/>
        </p:blipFill>
        <p:spPr>
          <a:xfrm>
            <a:off x="589680" y="516600"/>
            <a:ext cx="300600" cy="300600"/>
          </a:xfrm>
          <a:prstGeom prst="rect">
            <a:avLst/>
          </a:prstGeom>
          <a:ln w="0">
            <a:noFill/>
          </a:ln>
        </p:spPr>
      </p:pic>
      <p:sp>
        <p:nvSpPr>
          <p:cNvPr id="163"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BUILDING THE CA</a:t>
            </a:r>
            <a:endParaRPr b="0" lang="en-US" sz="1100" spc="-1" strike="noStrike">
              <a:solidFill>
                <a:srgbClr val="000000"/>
              </a:solidFill>
              <a:latin typeface="Arial"/>
            </a:endParaRPr>
          </a:p>
        </p:txBody>
      </p:sp>
      <p:sp>
        <p:nvSpPr>
          <p:cNvPr id="164"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Issuing end-entity certificates</a:t>
            </a:r>
            <a:endParaRPr b="0" lang="en-US" sz="2500" spc="-1" strike="noStrike">
              <a:solidFill>
                <a:srgbClr val="000000"/>
              </a:solidFill>
              <a:latin typeface="Arial"/>
            </a:endParaRPr>
          </a:p>
        </p:txBody>
      </p:sp>
      <p:sp>
        <p:nvSpPr>
          <p:cNvPr id="165" name="Shape 3"/>
          <p:cNvSpPr/>
          <p:nvPr/>
        </p:nvSpPr>
        <p:spPr>
          <a:xfrm>
            <a:off x="548640" y="1417320"/>
            <a:ext cx="3976560" cy="1919160"/>
          </a:xfrm>
          <a:prstGeom prst="roundRect">
            <a:avLst>
              <a:gd name="adj" fmla="val 3810"/>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6" name="Shape 4"/>
          <p:cNvSpPr/>
          <p:nvPr/>
        </p:nvSpPr>
        <p:spPr>
          <a:xfrm>
            <a:off x="777240" y="164592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67" name="Image 1" descr="preencoded.png"/>
          <p:cNvPicPr/>
          <p:nvPr/>
        </p:nvPicPr>
        <p:blipFill>
          <a:blip r:embed="rId2"/>
          <a:stretch/>
        </p:blipFill>
        <p:spPr>
          <a:xfrm>
            <a:off x="896040" y="1764720"/>
            <a:ext cx="218520" cy="218520"/>
          </a:xfrm>
          <a:prstGeom prst="rect">
            <a:avLst/>
          </a:prstGeom>
          <a:ln w="0">
            <a:noFill/>
          </a:ln>
        </p:spPr>
      </p:pic>
      <p:sp>
        <p:nvSpPr>
          <p:cNvPr id="168" name="Text 5"/>
          <p:cNvSpPr/>
          <p:nvPr/>
        </p:nvSpPr>
        <p:spPr>
          <a:xfrm>
            <a:off x="1371600" y="1673280"/>
            <a:ext cx="301644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Server certificate</a:t>
            </a:r>
            <a:endParaRPr b="0" lang="en-US" sz="1500" spc="-1" strike="noStrike">
              <a:solidFill>
                <a:srgbClr val="000000"/>
              </a:solidFill>
              <a:latin typeface="Arial"/>
            </a:endParaRPr>
          </a:p>
        </p:txBody>
      </p:sp>
      <p:sp>
        <p:nvSpPr>
          <p:cNvPr id="169" name="Text 6"/>
          <p:cNvSpPr/>
          <p:nvPr/>
        </p:nvSpPr>
        <p:spPr>
          <a:xfrm>
            <a:off x="822960" y="2240280"/>
            <a:ext cx="3565080" cy="10047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CN + SAN = www.cybersec.ulb.ac.be</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EKU: serverAuth</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Served as a fullchain (leaf + intermediate)</a:t>
            </a:r>
            <a:endParaRPr b="0" lang="en-US" sz="1150" spc="-1" strike="noStrike">
              <a:solidFill>
                <a:srgbClr val="000000"/>
              </a:solidFill>
              <a:latin typeface="Arial"/>
            </a:endParaRPr>
          </a:p>
        </p:txBody>
      </p:sp>
      <p:sp>
        <p:nvSpPr>
          <p:cNvPr id="170" name="Shape 7"/>
          <p:cNvSpPr/>
          <p:nvPr/>
        </p:nvSpPr>
        <p:spPr>
          <a:xfrm>
            <a:off x="4617720" y="1417320"/>
            <a:ext cx="3976560" cy="1919160"/>
          </a:xfrm>
          <a:prstGeom prst="roundRect">
            <a:avLst>
              <a:gd name="adj" fmla="val 3810"/>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1" name="Shape 8"/>
          <p:cNvSpPr/>
          <p:nvPr/>
        </p:nvSpPr>
        <p:spPr>
          <a:xfrm>
            <a:off x="4846320" y="164592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72" name="Image 2" descr="preencoded.png"/>
          <p:cNvPicPr/>
          <p:nvPr/>
        </p:nvPicPr>
        <p:blipFill>
          <a:blip r:embed="rId3"/>
          <a:stretch/>
        </p:blipFill>
        <p:spPr>
          <a:xfrm>
            <a:off x="4965120" y="1764720"/>
            <a:ext cx="218520" cy="218520"/>
          </a:xfrm>
          <a:prstGeom prst="rect">
            <a:avLst/>
          </a:prstGeom>
          <a:ln w="0">
            <a:noFill/>
          </a:ln>
        </p:spPr>
      </p:pic>
      <p:sp>
        <p:nvSpPr>
          <p:cNvPr id="173" name="Text 9"/>
          <p:cNvSpPr/>
          <p:nvPr/>
        </p:nvSpPr>
        <p:spPr>
          <a:xfrm>
            <a:off x="5440680" y="1673280"/>
            <a:ext cx="301644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Client certificates</a:t>
            </a:r>
            <a:endParaRPr b="0" lang="en-US" sz="1500" spc="-1" strike="noStrike">
              <a:solidFill>
                <a:srgbClr val="000000"/>
              </a:solidFill>
              <a:latin typeface="Arial"/>
            </a:endParaRPr>
          </a:p>
        </p:txBody>
      </p:sp>
      <p:sp>
        <p:nvSpPr>
          <p:cNvPr id="174" name="Text 10"/>
          <p:cNvSpPr/>
          <p:nvPr/>
        </p:nvSpPr>
        <p:spPr>
          <a:xfrm>
            <a:off x="4892040" y="2240280"/>
            <a:ext cx="3565080" cy="10047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prof@…  — stays valid (success test)</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student@…  — revoked later (fail test)</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EKU: clientAuth</a:t>
            </a:r>
            <a:endParaRPr b="0" lang="en-US" sz="1150" spc="-1" strike="noStrike">
              <a:solidFill>
                <a:srgbClr val="000000"/>
              </a:solidFill>
              <a:latin typeface="Arial"/>
            </a:endParaRPr>
          </a:p>
        </p:txBody>
      </p:sp>
      <p:sp>
        <p:nvSpPr>
          <p:cNvPr id="175" name="Shape 11"/>
          <p:cNvSpPr/>
          <p:nvPr/>
        </p:nvSpPr>
        <p:spPr>
          <a:xfrm>
            <a:off x="548640" y="3520440"/>
            <a:ext cx="8045640" cy="1004760"/>
          </a:xfrm>
          <a:prstGeom prst="roundRect">
            <a:avLst>
              <a:gd name="adj" fmla="val 727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6" name="Shape 12"/>
          <p:cNvSpPr/>
          <p:nvPr/>
        </p:nvSpPr>
        <p:spPr>
          <a:xfrm>
            <a:off x="822960" y="3767400"/>
            <a:ext cx="510840" cy="510840"/>
          </a:xfrm>
          <a:prstGeom prst="ellipse">
            <a:avLst/>
          </a:prstGeom>
          <a:solidFill>
            <a:srgbClr val="d893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7" name="Image 3" descr="preencoded.png"/>
          <p:cNvPicPr/>
          <p:nvPr/>
        </p:nvPicPr>
        <p:blipFill>
          <a:blip r:embed="rId4"/>
          <a:stretch/>
        </p:blipFill>
        <p:spPr>
          <a:xfrm>
            <a:off x="956160" y="3900600"/>
            <a:ext cx="244800" cy="244800"/>
          </a:xfrm>
          <a:prstGeom prst="rect">
            <a:avLst/>
          </a:prstGeom>
          <a:ln w="0">
            <a:noFill/>
          </a:ln>
        </p:spPr>
      </p:pic>
      <p:sp>
        <p:nvSpPr>
          <p:cNvPr id="178" name="Text 13"/>
          <p:cNvSpPr/>
          <p:nvPr/>
        </p:nvSpPr>
        <p:spPr>
          <a:xfrm>
            <a:off x="1508760" y="3566160"/>
            <a:ext cx="6856920" cy="9133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1250" spc="-1" strike="noStrike">
                <a:solidFill>
                  <a:srgbClr val="9a6512"/>
                </a:solidFill>
                <a:latin typeface="Calibri"/>
                <a:ea typeface="Calibri"/>
              </a:rPr>
              <a:t>SAN is mandatory.  </a:t>
            </a:r>
            <a:r>
              <a:rPr b="0" lang="en-US" sz="1250" spc="-1" strike="noStrike">
                <a:solidFill>
                  <a:srgbClr val="9a6512"/>
                </a:solidFill>
                <a:latin typeface="Calibri"/>
                <a:ea typeface="Calibri"/>
              </a:rPr>
              <a:t>Modern browsers ignore the Common Name and match the hostname only against the Subject Alternative Name. A server cert without a SAN is rejected — this was our first real bug.</a:t>
            </a:r>
            <a:endParaRPr b="0" lang="en-US" sz="1250" spc="-1" strike="noStrike">
              <a:solidFill>
                <a:srgbClr val="000000"/>
              </a:solidFill>
              <a:latin typeface="Arial"/>
            </a:endParaRPr>
          </a:p>
        </p:txBody>
      </p:sp>
      <p:sp>
        <p:nvSpPr>
          <p:cNvPr id="179" name="Text 14"/>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80" name="Text 15"/>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8</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81"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2" name="Image 0" descr="preencoded.png"/>
          <p:cNvPicPr/>
          <p:nvPr/>
        </p:nvPicPr>
        <p:blipFill>
          <a:blip r:embed="rId1"/>
          <a:stretch/>
        </p:blipFill>
        <p:spPr>
          <a:xfrm>
            <a:off x="589680" y="516600"/>
            <a:ext cx="300600" cy="300600"/>
          </a:xfrm>
          <a:prstGeom prst="rect">
            <a:avLst/>
          </a:prstGeom>
          <a:ln w="0">
            <a:noFill/>
          </a:ln>
        </p:spPr>
      </p:pic>
      <p:sp>
        <p:nvSpPr>
          <p:cNvPr id="183"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184"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Certificate revocation with a CRL</a:t>
            </a:r>
            <a:endParaRPr b="0" lang="en-US" sz="2500" spc="-1" strike="noStrike">
              <a:solidFill>
                <a:srgbClr val="000000"/>
              </a:solidFill>
              <a:latin typeface="Arial"/>
            </a:endParaRPr>
          </a:p>
        </p:txBody>
      </p:sp>
      <p:sp>
        <p:nvSpPr>
          <p:cNvPr id="185" name="Text 3"/>
          <p:cNvSpPr/>
          <p:nvPr/>
        </p:nvSpPr>
        <p:spPr>
          <a:xfrm>
            <a:off x="548640" y="1417320"/>
            <a:ext cx="4570920" cy="2376360"/>
          </a:xfrm>
          <a:prstGeom prst="rect">
            <a:avLst/>
          </a:prstGeom>
          <a:noFill/>
          <a:ln w="0">
            <a:noFill/>
          </a:ln>
        </p:spPr>
        <p:style>
          <a:lnRef idx="0"/>
          <a:fillRef idx="0"/>
          <a:effectRef idx="0"/>
          <a:fontRef idx="minor"/>
        </p:style>
        <p:txBody>
          <a:bodyPr lIns="0" rIns="0" tIns="0" bIns="0" anchor="t">
            <a:noAutofit/>
          </a:bodyPr>
          <a:p>
            <a:pPr defTabSz="914400">
              <a:lnSpc>
                <a:spcPct val="105000"/>
              </a:lnSpc>
              <a:spcAft>
                <a:spcPts val="1001"/>
              </a:spcAft>
              <a:tabLst>
                <a:tab algn="l" pos="0"/>
              </a:tabLst>
            </a:pPr>
            <a:r>
              <a:rPr b="0" lang="en-US" sz="1300" spc="-1" strike="noStrike">
                <a:solidFill>
                  <a:srgbClr val="16242f"/>
                </a:solidFill>
                <a:latin typeface="Calibri"/>
                <a:ea typeface="Calibri"/>
              </a:rPr>
              <a:t>A CRL is a CA-signed list of revoked serial numbers.</a:t>
            </a:r>
            <a:endParaRPr b="0" lang="en-US" sz="1300" spc="-1" strike="noStrike">
              <a:solidFill>
                <a:srgbClr val="000000"/>
              </a:solidFill>
              <a:latin typeface="Arial"/>
            </a:endParaRPr>
          </a:p>
          <a:p>
            <a:pPr defTabSz="914400">
              <a:lnSpc>
                <a:spcPct val="105000"/>
              </a:lnSpc>
              <a:spcAft>
                <a:spcPts val="1001"/>
              </a:spcAft>
              <a:tabLst>
                <a:tab algn="l" pos="0"/>
              </a:tabLst>
            </a:pPr>
            <a:r>
              <a:rPr b="0" lang="en-US" sz="1300" spc="-1" strike="noStrike">
                <a:solidFill>
                  <a:srgbClr val="16242f"/>
                </a:solidFill>
                <a:latin typeface="Calibri"/>
                <a:ea typeface="Calibri"/>
              </a:rPr>
              <a:t>We revoke </a:t>
            </a:r>
            <a:r>
              <a:rPr b="0" lang="en-US" sz="1250" spc="-1" strike="noStrike">
                <a:solidFill>
                  <a:srgbClr val="0f9c92"/>
                </a:solidFill>
                <a:latin typeface="Courier New"/>
                <a:ea typeface="Courier New"/>
              </a:rPr>
              <a:t>student.client</a:t>
            </a:r>
            <a:r>
              <a:rPr b="0" lang="en-US" sz="1300" spc="-1" strike="noStrike">
                <a:solidFill>
                  <a:srgbClr val="16242f"/>
                </a:solidFill>
                <a:latin typeface="Calibri"/>
                <a:ea typeface="Calibri"/>
              </a:rPr>
              <a:t>, regenerate the CRL, and Nginx checks every handshake against it.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16242f"/>
                </a:solidFill>
                <a:latin typeface="Calibri"/>
                <a:ea typeface="Calibri"/>
              </a:rPr>
              <a:t>Served over plain HTTP — the list is signed and public.</a:t>
            </a:r>
            <a:endParaRPr b="0" lang="en-US" sz="1300" spc="-1" strike="noStrike">
              <a:solidFill>
                <a:srgbClr val="000000"/>
              </a:solidFill>
              <a:latin typeface="Arial"/>
            </a:endParaRPr>
          </a:p>
        </p:txBody>
      </p:sp>
      <p:sp>
        <p:nvSpPr>
          <p:cNvPr id="186" name="Shape 4"/>
          <p:cNvSpPr/>
          <p:nvPr/>
        </p:nvSpPr>
        <p:spPr>
          <a:xfrm>
            <a:off x="5349240" y="1417320"/>
            <a:ext cx="3245040" cy="1461960"/>
          </a:xfrm>
          <a:prstGeom prst="roundRect">
            <a:avLst>
              <a:gd name="adj" fmla="val 5000"/>
            </a:avLst>
          </a:prstGeom>
          <a:solidFill>
            <a:srgbClr val="eaf2f4"/>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7" name="Shape 5"/>
          <p:cNvSpPr/>
          <p:nvPr/>
        </p:nvSpPr>
        <p:spPr>
          <a:xfrm>
            <a:off x="5577840" y="1645920"/>
            <a:ext cx="456120" cy="4561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8" name="Image 1" descr="preencoded.png"/>
          <p:cNvPicPr/>
          <p:nvPr/>
        </p:nvPicPr>
        <p:blipFill>
          <a:blip r:embed="rId2"/>
          <a:stretch/>
        </p:blipFill>
        <p:spPr>
          <a:xfrm>
            <a:off x="5696640" y="1764720"/>
            <a:ext cx="218520" cy="218520"/>
          </a:xfrm>
          <a:prstGeom prst="rect">
            <a:avLst/>
          </a:prstGeom>
          <a:ln w="0">
            <a:noFill/>
          </a:ln>
        </p:spPr>
      </p:pic>
      <p:sp>
        <p:nvSpPr>
          <p:cNvPr id="189" name="Text 6"/>
          <p:cNvSpPr/>
          <p:nvPr/>
        </p:nvSpPr>
        <p:spPr>
          <a:xfrm>
            <a:off x="6172200" y="1673280"/>
            <a:ext cx="228492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CRL vs OCSP</a:t>
            </a:r>
            <a:endParaRPr b="0" lang="en-US" sz="1350" spc="-1" strike="noStrike">
              <a:solidFill>
                <a:srgbClr val="000000"/>
              </a:solidFill>
              <a:latin typeface="Arial"/>
            </a:endParaRPr>
          </a:p>
        </p:txBody>
      </p:sp>
      <p:sp>
        <p:nvSpPr>
          <p:cNvPr id="190" name="Text 7"/>
          <p:cNvSpPr/>
          <p:nvPr/>
        </p:nvSpPr>
        <p:spPr>
          <a:xfrm>
            <a:off x="5577840" y="2194560"/>
            <a:ext cx="283356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499"/>
              </a:spcAft>
              <a:tabLst>
                <a:tab algn="l" pos="0"/>
              </a:tabLst>
            </a:pPr>
            <a:r>
              <a:rPr b="0" lang="en-US" sz="1100" spc="-1" strike="noStrike">
                <a:solidFill>
                  <a:srgbClr val="16242f"/>
                </a:solidFill>
                <a:latin typeface="Calibri"/>
                <a:ea typeface="Calibri"/>
              </a:rPr>
              <a:t>CRL — download list, match locally (ours)</a:t>
            </a:r>
            <a:endParaRPr b="0" lang="en-US" sz="1100" spc="-1" strike="noStrike">
              <a:solidFill>
                <a:srgbClr val="000000"/>
              </a:solidFill>
              <a:latin typeface="Arial"/>
            </a:endParaRPr>
          </a:p>
          <a:p>
            <a:pPr defTabSz="914400">
              <a:lnSpc>
                <a:spcPct val="100000"/>
              </a:lnSpc>
              <a:tabLst>
                <a:tab algn="l" pos="0"/>
              </a:tabLst>
            </a:pPr>
            <a:r>
              <a:rPr b="0" lang="en-US" sz="1100" spc="-1" strike="noStrike">
                <a:solidFill>
                  <a:srgbClr val="5e7484"/>
                </a:solidFill>
                <a:latin typeface="Calibri"/>
                <a:ea typeface="Calibri"/>
              </a:rPr>
              <a:t>OCSP — real-time query, can leak history</a:t>
            </a:r>
            <a:endParaRPr b="0" lang="en-US" sz="1100" spc="-1" strike="noStrike">
              <a:solidFill>
                <a:srgbClr val="000000"/>
              </a:solidFill>
              <a:latin typeface="Arial"/>
            </a:endParaRPr>
          </a:p>
        </p:txBody>
      </p:sp>
      <p:sp>
        <p:nvSpPr>
          <p:cNvPr id="191" name="Shape 8"/>
          <p:cNvSpPr/>
          <p:nvPr/>
        </p:nvSpPr>
        <p:spPr>
          <a:xfrm>
            <a:off x="5349240" y="3063240"/>
            <a:ext cx="3245040" cy="1416240"/>
          </a:xfrm>
          <a:prstGeom prst="roundRect">
            <a:avLst>
              <a:gd name="adj" fmla="val 5161"/>
            </a:avLst>
          </a:prstGeom>
          <a:solidFill>
            <a:srgbClr val="fbf1d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2" name="Text 9"/>
          <p:cNvSpPr/>
          <p:nvPr/>
        </p:nvSpPr>
        <p:spPr>
          <a:xfrm>
            <a:off x="5577840" y="3200400"/>
            <a:ext cx="2787840" cy="1141920"/>
          </a:xfrm>
          <a:prstGeom prst="rect">
            <a:avLst/>
          </a:prstGeom>
          <a:noFill/>
          <a:ln w="0">
            <a:noFill/>
          </a:ln>
        </p:spPr>
        <p:style>
          <a:lnRef idx="0"/>
          <a:fillRef idx="0"/>
          <a:effectRef idx="0"/>
          <a:fontRef idx="minor"/>
        </p:style>
        <p:txBody>
          <a:bodyPr lIns="0" rIns="0" tIns="0" bIns="0" anchor="ctr">
            <a:noAutofit/>
          </a:bodyPr>
          <a:p>
            <a:pPr defTabSz="914400">
              <a:lnSpc>
                <a:spcPct val="103000"/>
              </a:lnSpc>
              <a:tabLst>
                <a:tab algn="l" pos="0"/>
              </a:tabLst>
            </a:pPr>
            <a:r>
              <a:rPr b="1" lang="en-US" sz="1100" spc="-1" strike="noStrike">
                <a:solidFill>
                  <a:srgbClr val="9a6512"/>
                </a:solidFill>
                <a:latin typeface="Calibri"/>
                <a:ea typeface="Calibri"/>
              </a:rPr>
              <a:t>Our finding:  </a:t>
            </a:r>
            <a:r>
              <a:rPr b="0" lang="en-US" sz="1100" spc="-1" strike="noStrike">
                <a:solidFill>
                  <a:srgbClr val="9a6512"/>
                </a:solidFill>
                <a:latin typeface="Calibri"/>
                <a:ea typeface="Calibri"/>
              </a:rPr>
              <a:t>Nginx checks the whole chain, so it also needs a Root CRL. We serve a combined chain.crl.pem — without it, even valid client certs are rejected.</a:t>
            </a:r>
            <a:endParaRPr b="0" lang="en-US" sz="1100" spc="-1" strike="noStrike">
              <a:solidFill>
                <a:srgbClr val="000000"/>
              </a:solidFill>
              <a:latin typeface="Arial"/>
            </a:endParaRPr>
          </a:p>
        </p:txBody>
      </p:sp>
      <p:sp>
        <p:nvSpPr>
          <p:cNvPr id="193" name="Text 10"/>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94" name="Text 11"/>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9</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95"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96" name="Image 0" descr="preencoded.png"/>
          <p:cNvPicPr/>
          <p:nvPr/>
        </p:nvPicPr>
        <p:blipFill>
          <a:blip r:embed="rId1"/>
          <a:stretch/>
        </p:blipFill>
        <p:spPr>
          <a:xfrm>
            <a:off x="589680" y="516600"/>
            <a:ext cx="300600" cy="300600"/>
          </a:xfrm>
          <a:prstGeom prst="rect">
            <a:avLst/>
          </a:prstGeom>
          <a:ln w="0">
            <a:noFill/>
          </a:ln>
        </p:spPr>
      </p:pic>
      <p:sp>
        <p:nvSpPr>
          <p:cNvPr id="197"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198"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Standard TLS vs Mutual TLS</a:t>
            </a:r>
            <a:endParaRPr b="0" lang="en-US" sz="2500" spc="-1" strike="noStrike">
              <a:solidFill>
                <a:srgbClr val="000000"/>
              </a:solidFill>
              <a:latin typeface="Arial"/>
            </a:endParaRPr>
          </a:p>
        </p:txBody>
      </p:sp>
      <p:graphicFrame>
        <p:nvGraphicFramePr>
          <p:cNvPr id="199" name="Table 0"/>
          <p:cNvGraphicFramePr/>
          <p:nvPr/>
        </p:nvGraphicFramePr>
        <p:xfrm>
          <a:off x="640080" y="1508760"/>
          <a:ext cx="7863480" cy="2851200"/>
        </p:xfrm>
        <a:graphic>
          <a:graphicData uri="http://schemas.openxmlformats.org/drawingml/2006/table">
            <a:tbl>
              <a:tblPr/>
              <a:tblGrid>
                <a:gridCol w="3108960"/>
                <a:gridCol w="2194560"/>
                <a:gridCol w="2560320"/>
              </a:tblGrid>
              <a:tr h="475200">
                <a:tc>
                  <a:txBody>
                    <a:bodyPr lIns="50760" rIns="50760" anchor="ctr">
                      <a:noAutofit/>
                    </a:bodyPr>
                    <a:p>
                      <a:endParaRPr b="0" lang="en-US" sz="1300" spc="-1" strike="noStrike">
                        <a:solidFill>
                          <a:schemeClr val="dk1"/>
                        </a:solidFill>
                        <a:latin typeface="Calibri"/>
                        <a:ea typeface="Calibri"/>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4f7f9"/>
                    </a:solidFill>
                  </a:tcPr>
                </a:tc>
                <a:tc>
                  <a:txBody>
                    <a:bodyPr lIns="50760" rIns="50760" anchor="ctr">
                      <a:noAutofit/>
                    </a:bodyPr>
                    <a:p>
                      <a:pPr algn="ctr" defTabSz="914400">
                        <a:lnSpc>
                          <a:spcPct val="100000"/>
                        </a:lnSpc>
                        <a:tabLst>
                          <a:tab algn="l" pos="0"/>
                        </a:tabLst>
                      </a:pPr>
                      <a:r>
                        <a:rPr b="1" lang="en-US" sz="1300" spc="-1" strike="noStrike">
                          <a:solidFill>
                            <a:srgbClr val="ffffff"/>
                          </a:solidFill>
                          <a:latin typeface="Calibri"/>
                          <a:ea typeface="Calibri"/>
                        </a:rPr>
                        <a:t>TLS</a:t>
                      </a:r>
                      <a:endParaRPr b="0" lang="en-US" sz="1300" spc="-1" strike="noStrike">
                        <a:solidFill>
                          <a:srgbClr val="ffffff"/>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143b52"/>
                    </a:solidFill>
                  </a:tcPr>
                </a:tc>
                <a:tc>
                  <a:txBody>
                    <a:bodyPr lIns="50760" rIns="50760" anchor="ctr">
                      <a:noAutofit/>
                    </a:bodyPr>
                    <a:p>
                      <a:pPr algn="ctr" defTabSz="914400">
                        <a:lnSpc>
                          <a:spcPct val="100000"/>
                        </a:lnSpc>
                        <a:tabLst>
                          <a:tab algn="l" pos="0"/>
                        </a:tabLst>
                      </a:pPr>
                      <a:r>
                        <a:rPr b="1" lang="en-US" sz="1300" spc="-1" strike="noStrike">
                          <a:solidFill>
                            <a:srgbClr val="ffffff"/>
                          </a:solidFill>
                          <a:latin typeface="Calibri"/>
                          <a:ea typeface="Calibri"/>
                        </a:rPr>
                        <a:t>mTLS</a:t>
                      </a:r>
                      <a:endParaRPr b="0" lang="en-US" sz="1300" spc="-1" strike="noStrike">
                        <a:solidFill>
                          <a:srgbClr val="ffffff"/>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0f9c92"/>
                    </a:solidFill>
                  </a:tcPr>
                </a:tc>
              </a:tr>
              <a:tr h="475200">
                <a:tc>
                  <a:txBody>
                    <a:bodyPr lIns="50760" rIns="50760" anchor="ctr">
                      <a:noAutofit/>
                    </a:bodyPr>
                    <a:p>
                      <a:pPr defTabSz="914400">
                        <a:lnSpc>
                          <a:spcPct val="100000"/>
                        </a:lnSpc>
                        <a:tabLst>
                          <a:tab algn="l" pos="0"/>
                        </a:tabLst>
                      </a:pPr>
                      <a:r>
                        <a:rPr b="1" lang="en-US" sz="1200" spc="-1" strike="noStrike">
                          <a:solidFill>
                            <a:srgbClr val="16242f"/>
                          </a:solidFill>
                          <a:latin typeface="Calibri"/>
                          <a:ea typeface="Calibri"/>
                        </a:rPr>
                        <a:t>Server authenticates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5e7484"/>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0b6f68"/>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r h="475200">
                <a:tc>
                  <a:txBody>
                    <a:bodyPr lIns="50760" rIns="50760" anchor="ctr">
                      <a:noAutofit/>
                    </a:bodyPr>
                    <a:p>
                      <a:pPr defTabSz="914400">
                        <a:lnSpc>
                          <a:spcPct val="100000"/>
                        </a:lnSpc>
                        <a:tabLst>
                          <a:tab algn="l" pos="0"/>
                        </a:tabLst>
                      </a:pPr>
                      <a:r>
                        <a:rPr b="1" lang="en-US" sz="1200" spc="-1" strike="noStrike">
                          <a:solidFill>
                            <a:srgbClr val="16242f"/>
                          </a:solidFill>
                          <a:latin typeface="Calibri"/>
                          <a:ea typeface="Calibri"/>
                        </a:rPr>
                        <a:t>Client authenticates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anchor="ctr">
                      <a:noAutofit/>
                    </a:bodyPr>
                    <a:p>
                      <a:pPr algn="ctr" defTabSz="914400">
                        <a:lnSpc>
                          <a:spcPct val="100000"/>
                        </a:lnSpc>
                        <a:tabLst>
                          <a:tab algn="l" pos="0"/>
                        </a:tabLst>
                      </a:pPr>
                      <a:r>
                        <a:rPr b="0" lang="en-US" sz="1200" spc="-1" strike="noStrike">
                          <a:solidFill>
                            <a:srgbClr val="5e7484"/>
                          </a:solidFill>
                          <a:latin typeface="Calibri"/>
                          <a:ea typeface="Calibri"/>
                        </a:rPr>
                        <a:t>No</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anchor="ctr">
                      <a:noAutofit/>
                    </a:bodyPr>
                    <a:p>
                      <a:pPr algn="ctr" defTabSz="914400">
                        <a:lnSpc>
                          <a:spcPct val="100000"/>
                        </a:lnSpc>
                        <a:tabLst>
                          <a:tab algn="l" pos="0"/>
                        </a:tabLst>
                      </a:pPr>
                      <a:r>
                        <a:rPr b="0" lang="en-US" sz="1200" spc="-1" strike="noStrike">
                          <a:solidFill>
                            <a:srgbClr val="0b6f68"/>
                          </a:solidFill>
                          <a:latin typeface="Calibri"/>
                          <a:ea typeface="Calibri"/>
                        </a:rPr>
                        <a:t>Yes — certificate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r>
              <a:tr h="475200">
                <a:tc>
                  <a:txBody>
                    <a:bodyPr lIns="50760" rIns="50760" anchor="ctr">
                      <a:noAutofit/>
                    </a:bodyPr>
                    <a:p>
                      <a:pPr defTabSz="914400">
                        <a:lnSpc>
                          <a:spcPct val="100000"/>
                        </a:lnSpc>
                        <a:tabLst>
                          <a:tab algn="l" pos="0"/>
                        </a:tabLst>
                      </a:pPr>
                      <a:r>
                        <a:rPr b="1" lang="en-US" sz="1200" spc="-1" strike="noStrike">
                          <a:solidFill>
                            <a:srgbClr val="16242f"/>
                          </a:solidFill>
                          <a:latin typeface="Calibri"/>
                          <a:ea typeface="Calibri"/>
                        </a:rPr>
                        <a:t>Client stays anonymous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5e7484"/>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0b6f68"/>
                          </a:solidFill>
                          <a:latin typeface="Calibri"/>
                          <a:ea typeface="Calibri"/>
                        </a:rPr>
                        <a:t>No</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r h="475200">
                <a:tc>
                  <a:txBody>
                    <a:bodyPr lIns="50760" rIns="50760" anchor="ctr">
                      <a:noAutofit/>
                    </a:bodyPr>
                    <a:p>
                      <a:pPr defTabSz="914400">
                        <a:lnSpc>
                          <a:spcPct val="100000"/>
                        </a:lnSpc>
                        <a:tabLst>
                          <a:tab algn="l" pos="0"/>
                        </a:tabLst>
                      </a:pPr>
                      <a:r>
                        <a:rPr b="1" lang="en-US" sz="1200" spc="-1" strike="noStrike">
                          <a:solidFill>
                            <a:srgbClr val="16242f"/>
                          </a:solidFill>
                          <a:latin typeface="Calibri"/>
                          <a:ea typeface="Calibri"/>
                        </a:rPr>
                        <a:t>Handshake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anchor="ctr">
                      <a:noAutofit/>
                    </a:bodyPr>
                    <a:p>
                      <a:pPr algn="ctr" defTabSz="914400">
                        <a:lnSpc>
                          <a:spcPct val="100000"/>
                        </a:lnSpc>
                        <a:tabLst>
                          <a:tab algn="l" pos="0"/>
                        </a:tabLst>
                      </a:pPr>
                      <a:r>
                        <a:rPr b="0" lang="en-US" sz="1200" spc="-1" strike="noStrike">
                          <a:solidFill>
                            <a:srgbClr val="5e7484"/>
                          </a:solidFill>
                          <a:latin typeface="Calibri"/>
                          <a:ea typeface="Calibri"/>
                        </a:rPr>
                        <a:t>Standard</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anchor="ctr">
                      <a:noAutofit/>
                    </a:bodyPr>
                    <a:p>
                      <a:pPr algn="ctr" defTabSz="914400">
                        <a:lnSpc>
                          <a:spcPct val="100000"/>
                        </a:lnSpc>
                        <a:tabLst>
                          <a:tab algn="l" pos="0"/>
                        </a:tabLst>
                      </a:pPr>
                      <a:r>
                        <a:rPr b="0" lang="en-US" sz="1200" spc="-1" strike="noStrike">
                          <a:solidFill>
                            <a:srgbClr val="0b6f68"/>
                          </a:solidFill>
                          <a:latin typeface="Calibri"/>
                          <a:ea typeface="Calibri"/>
                        </a:rPr>
                        <a:t>+ CertificateRequest</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r>
              <a:tr h="475200">
                <a:tc>
                  <a:txBody>
                    <a:bodyPr lIns="50760" rIns="50760" anchor="ctr">
                      <a:noAutofit/>
                    </a:bodyPr>
                    <a:p>
                      <a:pPr defTabSz="914400">
                        <a:lnSpc>
                          <a:spcPct val="100000"/>
                        </a:lnSpc>
                        <a:tabLst>
                          <a:tab algn="l" pos="0"/>
                        </a:tabLst>
                      </a:pPr>
                      <a:r>
                        <a:rPr b="1" lang="en-US" sz="1200" spc="-1" strike="noStrike">
                          <a:solidFill>
                            <a:srgbClr val="16242f"/>
                          </a:solidFill>
                          <a:latin typeface="Calibri"/>
                          <a:ea typeface="Calibri"/>
                        </a:rPr>
                        <a:t>Typical use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5e7484"/>
                          </a:solidFill>
                          <a:latin typeface="Calibri"/>
                          <a:ea typeface="Calibri"/>
                        </a:rPr>
                        <a:t>Public websites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anchor="ctr">
                      <a:noAutofit/>
                    </a:bodyPr>
                    <a:p>
                      <a:pPr algn="ctr" defTabSz="914400">
                        <a:lnSpc>
                          <a:spcPct val="100000"/>
                        </a:lnSpc>
                        <a:tabLst>
                          <a:tab algn="l" pos="0"/>
                        </a:tabLst>
                      </a:pPr>
                      <a:r>
                        <a:rPr b="0" lang="en-US" sz="1200" spc="-1" strike="noStrike">
                          <a:solidFill>
                            <a:srgbClr val="0b6f68"/>
                          </a:solidFill>
                          <a:latin typeface="Calibri"/>
                          <a:ea typeface="Calibri"/>
                        </a:rPr>
                        <a:t>APIs, microservices, VPNs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bl>
          </a:graphicData>
        </a:graphic>
      </p:graphicFrame>
      <p:sp>
        <p:nvSpPr>
          <p:cNvPr id="200" name="Text 4"/>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01" name="Text 5"/>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10</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02"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3" name="Image 0" descr="preencoded.png"/>
          <p:cNvPicPr/>
          <p:nvPr/>
        </p:nvPicPr>
        <p:blipFill>
          <a:blip r:embed="rId1"/>
          <a:stretch/>
        </p:blipFill>
        <p:spPr>
          <a:xfrm>
            <a:off x="589680" y="516600"/>
            <a:ext cx="300600" cy="300600"/>
          </a:xfrm>
          <a:prstGeom prst="rect">
            <a:avLst/>
          </a:prstGeom>
          <a:ln w="0">
            <a:noFill/>
          </a:ln>
        </p:spPr>
      </p:pic>
      <p:sp>
        <p:nvSpPr>
          <p:cNvPr id="204"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205"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The mutual TLS handshake</a:t>
            </a:r>
            <a:endParaRPr b="0" lang="en-US" sz="2500" spc="-1" strike="noStrike">
              <a:solidFill>
                <a:srgbClr val="000000"/>
              </a:solidFill>
              <a:latin typeface="Arial"/>
            </a:endParaRPr>
          </a:p>
        </p:txBody>
      </p:sp>
      <p:sp>
        <p:nvSpPr>
          <p:cNvPr id="206" name="Shape 3"/>
          <p:cNvSpPr/>
          <p:nvPr/>
        </p:nvSpPr>
        <p:spPr>
          <a:xfrm>
            <a:off x="548640" y="1417320"/>
            <a:ext cx="8045640" cy="474480"/>
          </a:xfrm>
          <a:prstGeom prst="roundRect">
            <a:avLst>
              <a:gd name="adj" fmla="val 15385"/>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7" name="Shape 4"/>
          <p:cNvSpPr/>
          <p:nvPr/>
        </p:nvSpPr>
        <p:spPr>
          <a:xfrm>
            <a:off x="713160" y="1490400"/>
            <a:ext cx="327960" cy="327960"/>
          </a:xfrm>
          <a:prstGeom prst="ellipse">
            <a:avLst/>
          </a:prstGeom>
          <a:solidFill>
            <a:srgbClr val="5e748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8" name="Image 1" descr="preencoded.png"/>
          <p:cNvPicPr/>
          <p:nvPr/>
        </p:nvPicPr>
        <p:blipFill>
          <a:blip r:embed="rId2"/>
          <a:stretch/>
        </p:blipFill>
        <p:spPr>
          <a:xfrm>
            <a:off x="786240" y="1563480"/>
            <a:ext cx="181800" cy="181800"/>
          </a:xfrm>
          <a:prstGeom prst="rect">
            <a:avLst/>
          </a:prstGeom>
          <a:ln w="0">
            <a:noFill/>
          </a:ln>
        </p:spPr>
      </p:pic>
      <p:sp>
        <p:nvSpPr>
          <p:cNvPr id="209" name="Text 5"/>
          <p:cNvSpPr/>
          <p:nvPr/>
        </p:nvSpPr>
        <p:spPr>
          <a:xfrm>
            <a:off x="1188720" y="141732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6242f"/>
                </a:solidFill>
                <a:latin typeface="Calibri"/>
                <a:ea typeface="Calibri"/>
              </a:rPr>
              <a:t>Client</a:t>
            </a:r>
            <a:endParaRPr b="0" lang="en-US" sz="1150" spc="-1" strike="noStrike">
              <a:solidFill>
                <a:srgbClr val="000000"/>
              </a:solidFill>
              <a:latin typeface="Arial"/>
            </a:endParaRPr>
          </a:p>
        </p:txBody>
      </p:sp>
      <p:sp>
        <p:nvSpPr>
          <p:cNvPr id="210" name="Text 6"/>
          <p:cNvSpPr/>
          <p:nvPr/>
        </p:nvSpPr>
        <p:spPr>
          <a:xfrm>
            <a:off x="2103120" y="141732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e7484"/>
                </a:solidFill>
                <a:latin typeface="Calibri"/>
                <a:ea typeface="Calibri"/>
              </a:rPr>
              <a:t>ClientHello</a:t>
            </a:r>
            <a:endParaRPr b="0" lang="en-US" sz="1200" spc="-1" strike="noStrike">
              <a:solidFill>
                <a:srgbClr val="000000"/>
              </a:solidFill>
              <a:latin typeface="Arial"/>
            </a:endParaRPr>
          </a:p>
        </p:txBody>
      </p:sp>
      <p:sp>
        <p:nvSpPr>
          <p:cNvPr id="211" name="Shape 7"/>
          <p:cNvSpPr/>
          <p:nvPr/>
        </p:nvSpPr>
        <p:spPr>
          <a:xfrm>
            <a:off x="548640" y="1956960"/>
            <a:ext cx="8045640" cy="47448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2" name="Shape 8"/>
          <p:cNvSpPr/>
          <p:nvPr/>
        </p:nvSpPr>
        <p:spPr>
          <a:xfrm>
            <a:off x="713160" y="2030040"/>
            <a:ext cx="327960" cy="32796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13" name="Image 2" descr="preencoded.png"/>
          <p:cNvPicPr/>
          <p:nvPr/>
        </p:nvPicPr>
        <p:blipFill>
          <a:blip r:embed="rId3"/>
          <a:stretch/>
        </p:blipFill>
        <p:spPr>
          <a:xfrm>
            <a:off x="786240" y="2103120"/>
            <a:ext cx="181800" cy="181800"/>
          </a:xfrm>
          <a:prstGeom prst="rect">
            <a:avLst/>
          </a:prstGeom>
          <a:ln w="0">
            <a:noFill/>
          </a:ln>
        </p:spPr>
      </p:pic>
      <p:sp>
        <p:nvSpPr>
          <p:cNvPr id="214" name="Text 9"/>
          <p:cNvSpPr/>
          <p:nvPr/>
        </p:nvSpPr>
        <p:spPr>
          <a:xfrm>
            <a:off x="1188720" y="195696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Server</a:t>
            </a:r>
            <a:endParaRPr b="0" lang="en-US" sz="1150" spc="-1" strike="noStrike">
              <a:solidFill>
                <a:srgbClr val="000000"/>
              </a:solidFill>
              <a:latin typeface="Arial"/>
            </a:endParaRPr>
          </a:p>
        </p:txBody>
      </p:sp>
      <p:sp>
        <p:nvSpPr>
          <p:cNvPr id="215" name="Text 10"/>
          <p:cNvSpPr/>
          <p:nvPr/>
        </p:nvSpPr>
        <p:spPr>
          <a:xfrm>
            <a:off x="2103120" y="195696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ServerHello + certificate + CertificateRequest</a:t>
            </a:r>
            <a:endParaRPr b="0" lang="en-US" sz="1200" spc="-1" strike="noStrike">
              <a:solidFill>
                <a:srgbClr val="000000"/>
              </a:solidFill>
              <a:latin typeface="Arial"/>
            </a:endParaRPr>
          </a:p>
        </p:txBody>
      </p:sp>
      <p:sp>
        <p:nvSpPr>
          <p:cNvPr id="216" name="Shape 11"/>
          <p:cNvSpPr/>
          <p:nvPr/>
        </p:nvSpPr>
        <p:spPr>
          <a:xfrm>
            <a:off x="548640" y="2496240"/>
            <a:ext cx="8045640" cy="47448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7" name="Shape 12"/>
          <p:cNvSpPr/>
          <p:nvPr/>
        </p:nvSpPr>
        <p:spPr>
          <a:xfrm>
            <a:off x="713160" y="2569320"/>
            <a:ext cx="327960" cy="32796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18" name="Image 3" descr="preencoded.png"/>
          <p:cNvPicPr/>
          <p:nvPr/>
        </p:nvPicPr>
        <p:blipFill>
          <a:blip r:embed="rId4"/>
          <a:stretch/>
        </p:blipFill>
        <p:spPr>
          <a:xfrm>
            <a:off x="786240" y="2642760"/>
            <a:ext cx="181800" cy="181800"/>
          </a:xfrm>
          <a:prstGeom prst="rect">
            <a:avLst/>
          </a:prstGeom>
          <a:ln w="0">
            <a:noFill/>
          </a:ln>
        </p:spPr>
      </p:pic>
      <p:sp>
        <p:nvSpPr>
          <p:cNvPr id="219" name="Text 13"/>
          <p:cNvSpPr/>
          <p:nvPr/>
        </p:nvSpPr>
        <p:spPr>
          <a:xfrm>
            <a:off x="1188720" y="249624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Client</a:t>
            </a:r>
            <a:endParaRPr b="0" lang="en-US" sz="1150" spc="-1" strike="noStrike">
              <a:solidFill>
                <a:srgbClr val="000000"/>
              </a:solidFill>
              <a:latin typeface="Arial"/>
            </a:endParaRPr>
          </a:p>
        </p:txBody>
      </p:sp>
      <p:sp>
        <p:nvSpPr>
          <p:cNvPr id="220" name="Text 14"/>
          <p:cNvSpPr/>
          <p:nvPr/>
        </p:nvSpPr>
        <p:spPr>
          <a:xfrm>
            <a:off x="2103120" y="249624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verifies server, then sends its own certificate</a:t>
            </a:r>
            <a:endParaRPr b="0" lang="en-US" sz="1200" spc="-1" strike="noStrike">
              <a:solidFill>
                <a:srgbClr val="000000"/>
              </a:solidFill>
              <a:latin typeface="Arial"/>
            </a:endParaRPr>
          </a:p>
        </p:txBody>
      </p:sp>
      <p:sp>
        <p:nvSpPr>
          <p:cNvPr id="221" name="Shape 15"/>
          <p:cNvSpPr/>
          <p:nvPr/>
        </p:nvSpPr>
        <p:spPr>
          <a:xfrm>
            <a:off x="548640" y="3035880"/>
            <a:ext cx="8045640" cy="47448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2" name="Shape 16"/>
          <p:cNvSpPr/>
          <p:nvPr/>
        </p:nvSpPr>
        <p:spPr>
          <a:xfrm>
            <a:off x="713160" y="3108960"/>
            <a:ext cx="327960" cy="32796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23" name="Image 4" descr="preencoded.png"/>
          <p:cNvPicPr/>
          <p:nvPr/>
        </p:nvPicPr>
        <p:blipFill>
          <a:blip r:embed="rId5"/>
          <a:stretch/>
        </p:blipFill>
        <p:spPr>
          <a:xfrm>
            <a:off x="786240" y="3182040"/>
            <a:ext cx="181800" cy="181800"/>
          </a:xfrm>
          <a:prstGeom prst="rect">
            <a:avLst/>
          </a:prstGeom>
          <a:ln w="0">
            <a:noFill/>
          </a:ln>
        </p:spPr>
      </p:pic>
      <p:sp>
        <p:nvSpPr>
          <p:cNvPr id="224" name="Text 17"/>
          <p:cNvSpPr/>
          <p:nvPr/>
        </p:nvSpPr>
        <p:spPr>
          <a:xfrm>
            <a:off x="1188720" y="303588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Client</a:t>
            </a:r>
            <a:endParaRPr b="0" lang="en-US" sz="1150" spc="-1" strike="noStrike">
              <a:solidFill>
                <a:srgbClr val="000000"/>
              </a:solidFill>
              <a:latin typeface="Arial"/>
            </a:endParaRPr>
          </a:p>
        </p:txBody>
      </p:sp>
      <p:sp>
        <p:nvSpPr>
          <p:cNvPr id="225" name="Text 18"/>
          <p:cNvSpPr/>
          <p:nvPr/>
        </p:nvSpPr>
        <p:spPr>
          <a:xfrm>
            <a:off x="2103120" y="303588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CertificateVerify — signs the transcript (proves key)</a:t>
            </a:r>
            <a:endParaRPr b="0" lang="en-US" sz="1200" spc="-1" strike="noStrike">
              <a:solidFill>
                <a:srgbClr val="000000"/>
              </a:solidFill>
              <a:latin typeface="Arial"/>
            </a:endParaRPr>
          </a:p>
        </p:txBody>
      </p:sp>
      <p:sp>
        <p:nvSpPr>
          <p:cNvPr id="226" name="Shape 19"/>
          <p:cNvSpPr/>
          <p:nvPr/>
        </p:nvSpPr>
        <p:spPr>
          <a:xfrm>
            <a:off x="548640" y="3575160"/>
            <a:ext cx="8045640" cy="47448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7" name="Shape 20"/>
          <p:cNvSpPr/>
          <p:nvPr/>
        </p:nvSpPr>
        <p:spPr>
          <a:xfrm>
            <a:off x="713160" y="3648600"/>
            <a:ext cx="327960" cy="32796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28" name="Image 5" descr="preencoded.png"/>
          <p:cNvPicPr/>
          <p:nvPr/>
        </p:nvPicPr>
        <p:blipFill>
          <a:blip r:embed="rId6"/>
          <a:stretch/>
        </p:blipFill>
        <p:spPr>
          <a:xfrm>
            <a:off x="786240" y="3721680"/>
            <a:ext cx="181800" cy="181800"/>
          </a:xfrm>
          <a:prstGeom prst="rect">
            <a:avLst/>
          </a:prstGeom>
          <a:ln w="0">
            <a:noFill/>
          </a:ln>
        </p:spPr>
      </p:pic>
      <p:sp>
        <p:nvSpPr>
          <p:cNvPr id="229" name="Text 21"/>
          <p:cNvSpPr/>
          <p:nvPr/>
        </p:nvSpPr>
        <p:spPr>
          <a:xfrm>
            <a:off x="1188720" y="357516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Server</a:t>
            </a:r>
            <a:endParaRPr b="0" lang="en-US" sz="1150" spc="-1" strike="noStrike">
              <a:solidFill>
                <a:srgbClr val="000000"/>
              </a:solidFill>
              <a:latin typeface="Arial"/>
            </a:endParaRPr>
          </a:p>
        </p:txBody>
      </p:sp>
      <p:sp>
        <p:nvSpPr>
          <p:cNvPr id="230" name="Text 22"/>
          <p:cNvSpPr/>
          <p:nvPr/>
        </p:nvSpPr>
        <p:spPr>
          <a:xfrm>
            <a:off x="2103120" y="357516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verifies client cert + EKU clientAuth + revocation</a:t>
            </a:r>
            <a:endParaRPr b="0" lang="en-US" sz="1200" spc="-1" strike="noStrike">
              <a:solidFill>
                <a:srgbClr val="000000"/>
              </a:solidFill>
              <a:latin typeface="Arial"/>
            </a:endParaRPr>
          </a:p>
        </p:txBody>
      </p:sp>
      <p:sp>
        <p:nvSpPr>
          <p:cNvPr id="231" name="Shape 23"/>
          <p:cNvSpPr/>
          <p:nvPr/>
        </p:nvSpPr>
        <p:spPr>
          <a:xfrm>
            <a:off x="548640" y="4114800"/>
            <a:ext cx="8045640" cy="474480"/>
          </a:xfrm>
          <a:prstGeom prst="roundRect">
            <a:avLst>
              <a:gd name="adj" fmla="val 15385"/>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2" name="Shape 24"/>
          <p:cNvSpPr/>
          <p:nvPr/>
        </p:nvSpPr>
        <p:spPr>
          <a:xfrm>
            <a:off x="713160" y="4187880"/>
            <a:ext cx="327960" cy="327960"/>
          </a:xfrm>
          <a:prstGeom prst="ellipse">
            <a:avLst/>
          </a:prstGeom>
          <a:solidFill>
            <a:srgbClr val="5e748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33" name="Image 6" descr="preencoded.png"/>
          <p:cNvPicPr/>
          <p:nvPr/>
        </p:nvPicPr>
        <p:blipFill>
          <a:blip r:embed="rId7"/>
          <a:stretch/>
        </p:blipFill>
        <p:spPr>
          <a:xfrm>
            <a:off x="786240" y="4260960"/>
            <a:ext cx="181800" cy="181800"/>
          </a:xfrm>
          <a:prstGeom prst="rect">
            <a:avLst/>
          </a:prstGeom>
          <a:ln w="0">
            <a:noFill/>
          </a:ln>
        </p:spPr>
      </p:pic>
      <p:sp>
        <p:nvSpPr>
          <p:cNvPr id="234" name="Text 25"/>
          <p:cNvSpPr/>
          <p:nvPr/>
        </p:nvSpPr>
        <p:spPr>
          <a:xfrm>
            <a:off x="1188720" y="4114800"/>
            <a:ext cx="91332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6242f"/>
                </a:solidFill>
                <a:latin typeface="Calibri"/>
                <a:ea typeface="Calibri"/>
              </a:rPr>
              <a:t>Both</a:t>
            </a:r>
            <a:endParaRPr b="0" lang="en-US" sz="1150" spc="-1" strike="noStrike">
              <a:solidFill>
                <a:srgbClr val="000000"/>
              </a:solidFill>
              <a:latin typeface="Arial"/>
            </a:endParaRPr>
          </a:p>
        </p:txBody>
      </p:sp>
      <p:sp>
        <p:nvSpPr>
          <p:cNvPr id="235" name="Text 26"/>
          <p:cNvSpPr/>
          <p:nvPr/>
        </p:nvSpPr>
        <p:spPr>
          <a:xfrm>
            <a:off x="2103120" y="4114800"/>
            <a:ext cx="6308280" cy="474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e7484"/>
                </a:solidFill>
                <a:latin typeface="Calibri"/>
                <a:ea typeface="Calibri"/>
              </a:rPr>
              <a:t>derive session keys — both sides authenticated</a:t>
            </a:r>
            <a:endParaRPr b="0" lang="en-US" sz="1200" spc="-1" strike="noStrike">
              <a:solidFill>
                <a:srgbClr val="000000"/>
              </a:solidFill>
              <a:latin typeface="Arial"/>
            </a:endParaRPr>
          </a:p>
        </p:txBody>
      </p:sp>
      <p:sp>
        <p:nvSpPr>
          <p:cNvPr id="236" name="Text 28"/>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37" name="Text 29"/>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11</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2233"/>
        </a:solidFill>
      </p:bgPr>
    </p:bg>
    <p:spTree>
      <p:nvGrpSpPr>
        <p:cNvPr id="1" name=""/>
        <p:cNvGrpSpPr/>
        <p:nvPr/>
      </p:nvGrpSpPr>
      <p:grpSpPr>
        <a:xfrm>
          <a:off x="0" y="0"/>
          <a:ext cx="0" cy="0"/>
          <a:chOff x="0" y="0"/>
          <a:chExt cx="0" cy="0"/>
        </a:xfrm>
      </p:grpSpPr>
      <p:sp>
        <p:nvSpPr>
          <p:cNvPr id="238" name="Shape 0"/>
          <p:cNvSpPr/>
          <p:nvPr/>
        </p:nvSpPr>
        <p:spPr>
          <a:xfrm>
            <a:off x="457200" y="384120"/>
            <a:ext cx="565920" cy="565920"/>
          </a:xfrm>
          <a:prstGeom prst="ellipse">
            <a:avLst/>
          </a:prstGeom>
          <a:solidFill>
            <a:srgbClr val="33c2c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39" name="Image 0" descr="preencoded.png"/>
          <p:cNvPicPr/>
          <p:nvPr/>
        </p:nvPicPr>
        <p:blipFill>
          <a:blip r:embed="rId1"/>
          <a:stretch/>
        </p:blipFill>
        <p:spPr>
          <a:xfrm>
            <a:off x="589680" y="516600"/>
            <a:ext cx="300600" cy="300600"/>
          </a:xfrm>
          <a:prstGeom prst="rect">
            <a:avLst/>
          </a:prstGeom>
          <a:ln w="0">
            <a:noFill/>
          </a:ln>
        </p:spPr>
      </p:pic>
      <p:sp>
        <p:nvSpPr>
          <p:cNvPr id="240"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33c2ce"/>
                </a:solidFill>
                <a:latin typeface="Calibri"/>
                <a:ea typeface="Calibri"/>
              </a:rPr>
              <a:t>LIVE DEMO</a:t>
            </a:r>
            <a:endParaRPr b="0" lang="en-US" sz="1100" spc="-1" strike="noStrike">
              <a:solidFill>
                <a:srgbClr val="ffffff"/>
              </a:solidFill>
              <a:latin typeface="Arial"/>
            </a:endParaRPr>
          </a:p>
        </p:txBody>
      </p:sp>
      <p:sp>
        <p:nvSpPr>
          <p:cNvPr id="241"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ffffff"/>
                </a:solidFill>
                <a:latin typeface="Calibri"/>
                <a:ea typeface="Calibri"/>
              </a:rPr>
              <a:t>mTLS in action — three requests</a:t>
            </a:r>
            <a:endParaRPr b="0" lang="en-US" sz="2500" spc="-1" strike="noStrike">
              <a:solidFill>
                <a:srgbClr val="ffffff"/>
              </a:solidFill>
              <a:latin typeface="Arial"/>
            </a:endParaRPr>
          </a:p>
        </p:txBody>
      </p:sp>
      <p:sp>
        <p:nvSpPr>
          <p:cNvPr id="242" name="Shape 3"/>
          <p:cNvSpPr/>
          <p:nvPr/>
        </p:nvSpPr>
        <p:spPr>
          <a:xfrm>
            <a:off x="548640" y="1463040"/>
            <a:ext cx="2678040" cy="233064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 name="Shape 4"/>
          <p:cNvSpPr/>
          <p:nvPr/>
        </p:nvSpPr>
        <p:spPr>
          <a:xfrm>
            <a:off x="1568160" y="1691640"/>
            <a:ext cx="639000" cy="639000"/>
          </a:xfrm>
          <a:prstGeom prst="ellipse">
            <a:avLst/>
          </a:prstGeom>
          <a:solidFill>
            <a:srgbClr val="d24b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44" name="Image 1" descr="preencoded.png"/>
          <p:cNvPicPr/>
          <p:nvPr/>
        </p:nvPicPr>
        <p:blipFill>
          <a:blip r:embed="rId2"/>
          <a:stretch/>
        </p:blipFill>
        <p:spPr>
          <a:xfrm>
            <a:off x="1734480" y="1857960"/>
            <a:ext cx="306000" cy="306000"/>
          </a:xfrm>
          <a:prstGeom prst="rect">
            <a:avLst/>
          </a:prstGeom>
          <a:ln w="0">
            <a:noFill/>
          </a:ln>
        </p:spPr>
      </p:pic>
      <p:sp>
        <p:nvSpPr>
          <p:cNvPr id="245" name="Text 5"/>
          <p:cNvSpPr/>
          <p:nvPr/>
        </p:nvSpPr>
        <p:spPr>
          <a:xfrm>
            <a:off x="640080" y="2468880"/>
            <a:ext cx="249516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No client certificate</a:t>
            </a:r>
            <a:endParaRPr b="0" lang="en-US" sz="1350" spc="-1" strike="noStrike">
              <a:solidFill>
                <a:srgbClr val="ffffff"/>
              </a:solidFill>
              <a:latin typeface="Arial"/>
            </a:endParaRPr>
          </a:p>
        </p:txBody>
      </p:sp>
      <p:sp>
        <p:nvSpPr>
          <p:cNvPr id="246" name="Text 6"/>
          <p:cNvSpPr/>
          <p:nvPr/>
        </p:nvSpPr>
        <p:spPr>
          <a:xfrm>
            <a:off x="640080" y="2853000"/>
            <a:ext cx="249516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d24b4b"/>
                </a:solidFill>
                <a:latin typeface="Calibri"/>
                <a:ea typeface="Calibri"/>
              </a:rPr>
              <a:t>400  ·  blocked</a:t>
            </a:r>
            <a:endParaRPr b="0" lang="en-US" sz="1600" spc="-1" strike="noStrike">
              <a:solidFill>
                <a:srgbClr val="ffffff"/>
              </a:solidFill>
              <a:latin typeface="Arial"/>
            </a:endParaRPr>
          </a:p>
        </p:txBody>
      </p:sp>
      <p:sp>
        <p:nvSpPr>
          <p:cNvPr id="247" name="Text 7"/>
          <p:cNvSpPr/>
          <p:nvPr/>
        </p:nvSpPr>
        <p:spPr>
          <a:xfrm>
            <a:off x="685800" y="3246120"/>
            <a:ext cx="2403720" cy="456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a:t>
            </a:r>
            <a:r>
              <a:rPr b="0" i="1" lang="en-US" sz="950" spc="-1" strike="noStrike">
                <a:solidFill>
                  <a:srgbClr val="afc3d0"/>
                </a:solidFill>
                <a:latin typeface="Calibri"/>
                <a:ea typeface="Calibri"/>
              </a:rPr>
              <a:t>No required SSL certificate was sent”</a:t>
            </a:r>
            <a:endParaRPr b="0" lang="en-US" sz="950" spc="-1" strike="noStrike">
              <a:solidFill>
                <a:srgbClr val="ffffff"/>
              </a:solidFill>
              <a:latin typeface="Arial"/>
            </a:endParaRPr>
          </a:p>
        </p:txBody>
      </p:sp>
      <p:sp>
        <p:nvSpPr>
          <p:cNvPr id="248" name="Shape 8"/>
          <p:cNvSpPr/>
          <p:nvPr/>
        </p:nvSpPr>
        <p:spPr>
          <a:xfrm>
            <a:off x="3415320" y="1463040"/>
            <a:ext cx="2678040" cy="233064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Shape 9"/>
          <p:cNvSpPr/>
          <p:nvPr/>
        </p:nvSpPr>
        <p:spPr>
          <a:xfrm>
            <a:off x="4434840" y="1691640"/>
            <a:ext cx="639000" cy="639000"/>
          </a:xfrm>
          <a:prstGeom prst="ellipse">
            <a:avLst/>
          </a:prstGeom>
          <a:solidFill>
            <a:srgbClr val="1f9d6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50" name="Image 2" descr="preencoded.png"/>
          <p:cNvPicPr/>
          <p:nvPr/>
        </p:nvPicPr>
        <p:blipFill>
          <a:blip r:embed="rId3"/>
          <a:stretch/>
        </p:blipFill>
        <p:spPr>
          <a:xfrm>
            <a:off x="4601160" y="1857960"/>
            <a:ext cx="306000" cy="306000"/>
          </a:xfrm>
          <a:prstGeom prst="rect">
            <a:avLst/>
          </a:prstGeom>
          <a:ln w="0">
            <a:noFill/>
          </a:ln>
        </p:spPr>
      </p:pic>
      <p:sp>
        <p:nvSpPr>
          <p:cNvPr id="251" name="Text 10"/>
          <p:cNvSpPr/>
          <p:nvPr/>
        </p:nvSpPr>
        <p:spPr>
          <a:xfrm>
            <a:off x="3506760" y="2468880"/>
            <a:ext cx="249516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Valid cert  (prof)</a:t>
            </a:r>
            <a:endParaRPr b="0" lang="en-US" sz="1350" spc="-1" strike="noStrike">
              <a:solidFill>
                <a:srgbClr val="ffffff"/>
              </a:solidFill>
              <a:latin typeface="Arial"/>
            </a:endParaRPr>
          </a:p>
        </p:txBody>
      </p:sp>
      <p:sp>
        <p:nvSpPr>
          <p:cNvPr id="252" name="Text 11"/>
          <p:cNvSpPr/>
          <p:nvPr/>
        </p:nvSpPr>
        <p:spPr>
          <a:xfrm>
            <a:off x="3506760" y="2853000"/>
            <a:ext cx="249516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f9d6b"/>
                </a:solidFill>
                <a:latin typeface="Calibri"/>
                <a:ea typeface="Calibri"/>
              </a:rPr>
              <a:t>200  ·  OK</a:t>
            </a:r>
            <a:endParaRPr b="0" lang="en-US" sz="1600" spc="-1" strike="noStrike">
              <a:solidFill>
                <a:srgbClr val="ffffff"/>
              </a:solidFill>
              <a:latin typeface="Arial"/>
            </a:endParaRPr>
          </a:p>
        </p:txBody>
      </p:sp>
      <p:sp>
        <p:nvSpPr>
          <p:cNvPr id="253" name="Text 12"/>
          <p:cNvSpPr/>
          <p:nvPr/>
        </p:nvSpPr>
        <p:spPr>
          <a:xfrm>
            <a:off x="3552480" y="3246120"/>
            <a:ext cx="2403720" cy="456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X-Client-Verify: SUCCESS</a:t>
            </a:r>
            <a:endParaRPr b="0" lang="en-US" sz="950" spc="-1" strike="noStrike">
              <a:solidFill>
                <a:srgbClr val="ffffff"/>
              </a:solidFill>
              <a:latin typeface="Arial"/>
            </a:endParaRPr>
          </a:p>
        </p:txBody>
      </p:sp>
      <p:sp>
        <p:nvSpPr>
          <p:cNvPr id="254" name="Shape 13"/>
          <p:cNvSpPr/>
          <p:nvPr/>
        </p:nvSpPr>
        <p:spPr>
          <a:xfrm>
            <a:off x="6282000" y="1463040"/>
            <a:ext cx="2678040" cy="233064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 name="Shape 14"/>
          <p:cNvSpPr/>
          <p:nvPr/>
        </p:nvSpPr>
        <p:spPr>
          <a:xfrm>
            <a:off x="7301520" y="1691640"/>
            <a:ext cx="639000" cy="639000"/>
          </a:xfrm>
          <a:prstGeom prst="ellipse">
            <a:avLst/>
          </a:prstGeom>
          <a:solidFill>
            <a:srgbClr val="d24b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56" name="Image 3" descr="preencoded.png"/>
          <p:cNvPicPr/>
          <p:nvPr/>
        </p:nvPicPr>
        <p:blipFill>
          <a:blip r:embed="rId4"/>
          <a:stretch/>
        </p:blipFill>
        <p:spPr>
          <a:xfrm>
            <a:off x="7467840" y="1857960"/>
            <a:ext cx="306000" cy="306000"/>
          </a:xfrm>
          <a:prstGeom prst="rect">
            <a:avLst/>
          </a:prstGeom>
          <a:ln w="0">
            <a:noFill/>
          </a:ln>
        </p:spPr>
      </p:pic>
      <p:sp>
        <p:nvSpPr>
          <p:cNvPr id="257" name="Text 15"/>
          <p:cNvSpPr/>
          <p:nvPr/>
        </p:nvSpPr>
        <p:spPr>
          <a:xfrm>
            <a:off x="6373440" y="2468880"/>
            <a:ext cx="2495160" cy="364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Revoked cert  (student)</a:t>
            </a:r>
            <a:endParaRPr b="0" lang="en-US" sz="1350" spc="-1" strike="noStrike">
              <a:solidFill>
                <a:srgbClr val="ffffff"/>
              </a:solidFill>
              <a:latin typeface="Arial"/>
            </a:endParaRPr>
          </a:p>
        </p:txBody>
      </p:sp>
      <p:sp>
        <p:nvSpPr>
          <p:cNvPr id="258" name="Text 16"/>
          <p:cNvSpPr/>
          <p:nvPr/>
        </p:nvSpPr>
        <p:spPr>
          <a:xfrm>
            <a:off x="6373440" y="2853000"/>
            <a:ext cx="249516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d24b4b"/>
                </a:solidFill>
                <a:latin typeface="Calibri"/>
                <a:ea typeface="Calibri"/>
              </a:rPr>
              <a:t>400  ·  blocked</a:t>
            </a:r>
            <a:endParaRPr b="0" lang="en-US" sz="1600" spc="-1" strike="noStrike">
              <a:solidFill>
                <a:srgbClr val="ffffff"/>
              </a:solidFill>
              <a:latin typeface="Arial"/>
            </a:endParaRPr>
          </a:p>
        </p:txBody>
      </p:sp>
      <p:sp>
        <p:nvSpPr>
          <p:cNvPr id="259" name="Text 17"/>
          <p:cNvSpPr/>
          <p:nvPr/>
        </p:nvSpPr>
        <p:spPr>
          <a:xfrm>
            <a:off x="6419160" y="3246120"/>
            <a:ext cx="2403720" cy="456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a:t>
            </a:r>
            <a:r>
              <a:rPr b="0" i="1" lang="en-US" sz="950" spc="-1" strike="noStrike">
                <a:solidFill>
                  <a:srgbClr val="afc3d0"/>
                </a:solidFill>
                <a:latin typeface="Calibri"/>
                <a:ea typeface="Calibri"/>
              </a:rPr>
              <a:t>The SSL certificate error”</a:t>
            </a:r>
            <a:endParaRPr b="0" lang="en-US" sz="950" spc="-1" strike="noStrike">
              <a:solidFill>
                <a:srgbClr val="ffffff"/>
              </a:solidFill>
              <a:latin typeface="Arial"/>
            </a:endParaRPr>
          </a:p>
        </p:txBody>
      </p:sp>
      <p:sp>
        <p:nvSpPr>
          <p:cNvPr id="260" name="Shape 18"/>
          <p:cNvSpPr/>
          <p:nvPr/>
        </p:nvSpPr>
        <p:spPr>
          <a:xfrm>
            <a:off x="548640" y="3977640"/>
            <a:ext cx="8045640" cy="565920"/>
          </a:xfrm>
          <a:prstGeom prst="roundRect">
            <a:avLst>
              <a:gd name="adj" fmla="val 9677"/>
            </a:avLst>
          </a:prstGeom>
          <a:solidFill>
            <a:srgbClr val="081a2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 name="Text 19"/>
          <p:cNvSpPr/>
          <p:nvPr/>
        </p:nvSpPr>
        <p:spPr>
          <a:xfrm>
            <a:off x="777240" y="3977640"/>
            <a:ext cx="7679880" cy="565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33c2ce"/>
                </a:solidFill>
                <a:latin typeface="Calibri"/>
                <a:ea typeface="Calibri"/>
              </a:rPr>
              <a:t>Then in the browser:  </a:t>
            </a:r>
            <a:r>
              <a:rPr b="0" lang="en-US" sz="1150" spc="-1" strike="noStrike">
                <a:solidFill>
                  <a:srgbClr val="d7e2e8"/>
                </a:solidFill>
                <a:latin typeface="Calibri"/>
                <a:ea typeface="Calibri"/>
              </a:rPr>
              <a:t>open https://www.cybersec.ulb.ac.be → pick the client cert → padlock shows the full chain.</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62"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63" name="Image 0" descr="preencoded.png"/>
          <p:cNvPicPr/>
          <p:nvPr/>
        </p:nvPicPr>
        <p:blipFill>
          <a:blip r:embed="rId1"/>
          <a:stretch/>
        </p:blipFill>
        <p:spPr>
          <a:xfrm>
            <a:off x="589680" y="516600"/>
            <a:ext cx="300600" cy="300600"/>
          </a:xfrm>
          <a:prstGeom prst="rect">
            <a:avLst/>
          </a:prstGeom>
          <a:ln w="0">
            <a:noFill/>
          </a:ln>
        </p:spPr>
      </p:pic>
      <p:sp>
        <p:nvSpPr>
          <p:cNvPr id="264"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AUTOMATION</a:t>
            </a:r>
            <a:endParaRPr b="0" lang="en-US" sz="1100" spc="-1" strike="noStrike">
              <a:solidFill>
                <a:srgbClr val="000000"/>
              </a:solidFill>
              <a:latin typeface="Arial"/>
            </a:endParaRPr>
          </a:p>
        </p:txBody>
      </p:sp>
      <p:sp>
        <p:nvSpPr>
          <p:cNvPr id="265"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Automated certificate renewal</a:t>
            </a:r>
            <a:endParaRPr b="0" lang="en-US" sz="2500" spc="-1" strike="noStrike">
              <a:solidFill>
                <a:srgbClr val="000000"/>
              </a:solidFill>
              <a:latin typeface="Arial"/>
            </a:endParaRPr>
          </a:p>
        </p:txBody>
      </p:sp>
      <p:sp>
        <p:nvSpPr>
          <p:cNvPr id="266" name="Shape 3"/>
          <p:cNvSpPr/>
          <p:nvPr/>
        </p:nvSpPr>
        <p:spPr>
          <a:xfrm>
            <a:off x="548640" y="1417320"/>
            <a:ext cx="3016440" cy="3062160"/>
          </a:xfrm>
          <a:prstGeom prst="roundRect">
            <a:avLst>
              <a:gd name="adj" fmla="val 24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7" name="Text 4"/>
          <p:cNvSpPr/>
          <p:nvPr/>
        </p:nvSpPr>
        <p:spPr>
          <a:xfrm>
            <a:off x="777240" y="1600200"/>
            <a:ext cx="2650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f9c92"/>
                </a:solidFill>
                <a:latin typeface="Calibri"/>
                <a:ea typeface="Calibri"/>
              </a:rPr>
              <a:t>Why it matters</a:t>
            </a:r>
            <a:endParaRPr b="0" lang="en-US" sz="1400" spc="-1" strike="noStrike">
              <a:solidFill>
                <a:srgbClr val="000000"/>
              </a:solidFill>
              <a:latin typeface="Arial"/>
            </a:endParaRPr>
          </a:p>
        </p:txBody>
      </p:sp>
      <p:sp>
        <p:nvSpPr>
          <p:cNvPr id="268" name="Text 5"/>
          <p:cNvSpPr/>
          <p:nvPr/>
        </p:nvSpPr>
        <p:spPr>
          <a:xfrm>
            <a:off x="777240" y="2011680"/>
            <a:ext cx="2559240" cy="639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d24b4b"/>
                </a:solidFill>
                <a:latin typeface="Calibri"/>
                <a:ea typeface="Calibri"/>
              </a:rPr>
              <a:t>147M</a:t>
            </a:r>
            <a:endParaRPr b="0" lang="en-US" sz="4400" spc="-1" strike="noStrike">
              <a:solidFill>
                <a:srgbClr val="000000"/>
              </a:solidFill>
              <a:latin typeface="Arial"/>
            </a:endParaRPr>
          </a:p>
        </p:txBody>
      </p:sp>
      <p:sp>
        <p:nvSpPr>
          <p:cNvPr id="269" name="Text 6"/>
          <p:cNvSpPr/>
          <p:nvPr/>
        </p:nvSpPr>
        <p:spPr>
          <a:xfrm>
            <a:off x="777240" y="2743200"/>
            <a:ext cx="2604960" cy="15534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00" spc="-1" strike="noStrike">
                <a:solidFill>
                  <a:srgbClr val="5e7484"/>
                </a:solidFill>
                <a:latin typeface="Calibri"/>
                <a:ea typeface="Calibri"/>
              </a:rPr>
              <a:t>records breached at Equifax (2017) — traced to one internal certificate left expired for ten months.</a:t>
            </a:r>
            <a:endParaRPr b="0" lang="en-US" sz="1200" spc="-1" strike="noStrike">
              <a:solidFill>
                <a:srgbClr val="000000"/>
              </a:solidFill>
              <a:latin typeface="Arial"/>
            </a:endParaRPr>
          </a:p>
        </p:txBody>
      </p:sp>
      <p:sp>
        <p:nvSpPr>
          <p:cNvPr id="270" name="Text 7"/>
          <p:cNvSpPr/>
          <p:nvPr/>
        </p:nvSpPr>
        <p:spPr>
          <a:xfrm>
            <a:off x="3840480" y="1463040"/>
            <a:ext cx="475380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6242f"/>
                </a:solidFill>
                <a:latin typeface="Calibri"/>
                <a:ea typeface="Calibri"/>
              </a:rPr>
              <a:t>Our renewal pipeline</a:t>
            </a:r>
            <a:endParaRPr b="0" lang="en-US" sz="1400" spc="-1" strike="noStrike">
              <a:solidFill>
                <a:srgbClr val="000000"/>
              </a:solidFill>
              <a:latin typeface="Arial"/>
            </a:endParaRPr>
          </a:p>
        </p:txBody>
      </p:sp>
      <p:sp>
        <p:nvSpPr>
          <p:cNvPr id="271" name="Shape 8"/>
          <p:cNvSpPr/>
          <p:nvPr/>
        </p:nvSpPr>
        <p:spPr>
          <a:xfrm>
            <a:off x="3886200" y="184716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72" name="Image 1" descr="preencoded.png"/>
          <p:cNvPicPr/>
          <p:nvPr/>
        </p:nvPicPr>
        <p:blipFill>
          <a:blip r:embed="rId2"/>
          <a:stretch/>
        </p:blipFill>
        <p:spPr>
          <a:xfrm>
            <a:off x="3931920" y="1892880"/>
            <a:ext cx="181800" cy="181800"/>
          </a:xfrm>
          <a:prstGeom prst="rect">
            <a:avLst/>
          </a:prstGeom>
          <a:ln w="0">
            <a:noFill/>
          </a:ln>
        </p:spPr>
      </p:pic>
      <p:sp>
        <p:nvSpPr>
          <p:cNvPr id="273" name="Text 9"/>
          <p:cNvSpPr/>
          <p:nvPr/>
        </p:nvSpPr>
        <p:spPr>
          <a:xfrm>
            <a:off x="4297680" y="179208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Daily cron — runs unattended</a:t>
            </a:r>
            <a:endParaRPr b="0" lang="en-US" sz="1200" spc="-1" strike="noStrike">
              <a:solidFill>
                <a:srgbClr val="000000"/>
              </a:solidFill>
              <a:latin typeface="Arial"/>
            </a:endParaRPr>
          </a:p>
        </p:txBody>
      </p:sp>
      <p:sp>
        <p:nvSpPr>
          <p:cNvPr id="274" name="Shape 10"/>
          <p:cNvSpPr/>
          <p:nvPr/>
        </p:nvSpPr>
        <p:spPr>
          <a:xfrm>
            <a:off x="3886200" y="229500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75" name="Image 2" descr="preencoded.png"/>
          <p:cNvPicPr/>
          <p:nvPr/>
        </p:nvPicPr>
        <p:blipFill>
          <a:blip r:embed="rId3"/>
          <a:stretch/>
        </p:blipFill>
        <p:spPr>
          <a:xfrm>
            <a:off x="3931920" y="2340720"/>
            <a:ext cx="181800" cy="181800"/>
          </a:xfrm>
          <a:prstGeom prst="rect">
            <a:avLst/>
          </a:prstGeom>
          <a:ln w="0">
            <a:noFill/>
          </a:ln>
        </p:spPr>
      </p:pic>
      <p:sp>
        <p:nvSpPr>
          <p:cNvPr id="276" name="Text 11"/>
          <p:cNvSpPr/>
          <p:nvPr/>
        </p:nvSpPr>
        <p:spPr>
          <a:xfrm>
            <a:off x="4297680" y="224028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Renew only if &lt; 30 days left </a:t>
            </a:r>
            <a:endParaRPr b="0" lang="en-US" sz="1200" spc="-1" strike="noStrike">
              <a:solidFill>
                <a:srgbClr val="000000"/>
              </a:solidFill>
              <a:latin typeface="Arial"/>
            </a:endParaRPr>
          </a:p>
        </p:txBody>
      </p:sp>
      <p:sp>
        <p:nvSpPr>
          <p:cNvPr id="277" name="Shape 12"/>
          <p:cNvSpPr/>
          <p:nvPr/>
        </p:nvSpPr>
        <p:spPr>
          <a:xfrm>
            <a:off x="3886200" y="274320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78" name="Image 3" descr="preencoded.png"/>
          <p:cNvPicPr/>
          <p:nvPr/>
        </p:nvPicPr>
        <p:blipFill>
          <a:blip r:embed="rId4"/>
          <a:stretch/>
        </p:blipFill>
        <p:spPr>
          <a:xfrm>
            <a:off x="3931920" y="2788920"/>
            <a:ext cx="181800" cy="181800"/>
          </a:xfrm>
          <a:prstGeom prst="rect">
            <a:avLst/>
          </a:prstGeom>
          <a:ln w="0">
            <a:noFill/>
          </a:ln>
        </p:spPr>
      </p:pic>
      <p:sp>
        <p:nvSpPr>
          <p:cNvPr id="279" name="Text 13"/>
          <p:cNvSpPr/>
          <p:nvPr/>
        </p:nvSpPr>
        <p:spPr>
          <a:xfrm>
            <a:off x="4297680" y="268848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Re-key, new CSR, sign, verify vs chain</a:t>
            </a:r>
            <a:endParaRPr b="0" lang="en-US" sz="1200" spc="-1" strike="noStrike">
              <a:solidFill>
                <a:srgbClr val="000000"/>
              </a:solidFill>
              <a:latin typeface="Arial"/>
            </a:endParaRPr>
          </a:p>
        </p:txBody>
      </p:sp>
      <p:sp>
        <p:nvSpPr>
          <p:cNvPr id="280" name="Shape 14"/>
          <p:cNvSpPr/>
          <p:nvPr/>
        </p:nvSpPr>
        <p:spPr>
          <a:xfrm>
            <a:off x="3886200" y="319140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81" name="Image 4" descr="preencoded.png"/>
          <p:cNvPicPr/>
          <p:nvPr/>
        </p:nvPicPr>
        <p:blipFill>
          <a:blip r:embed="rId5"/>
          <a:stretch/>
        </p:blipFill>
        <p:spPr>
          <a:xfrm>
            <a:off x="3931920" y="3237120"/>
            <a:ext cx="181800" cy="181800"/>
          </a:xfrm>
          <a:prstGeom prst="rect">
            <a:avLst/>
          </a:prstGeom>
          <a:ln w="0">
            <a:noFill/>
          </a:ln>
        </p:spPr>
      </p:pic>
      <p:sp>
        <p:nvSpPr>
          <p:cNvPr id="282" name="Text 15"/>
          <p:cNvSpPr/>
          <p:nvPr/>
        </p:nvSpPr>
        <p:spPr>
          <a:xfrm>
            <a:off x="4297680" y="313632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Back up, atomic swap, reload Nginx</a:t>
            </a:r>
            <a:endParaRPr b="0" lang="en-US" sz="1200" spc="-1" strike="noStrike">
              <a:solidFill>
                <a:srgbClr val="000000"/>
              </a:solidFill>
              <a:latin typeface="Arial"/>
            </a:endParaRPr>
          </a:p>
        </p:txBody>
      </p:sp>
      <p:sp>
        <p:nvSpPr>
          <p:cNvPr id="283" name="Shape 16"/>
          <p:cNvSpPr/>
          <p:nvPr/>
        </p:nvSpPr>
        <p:spPr>
          <a:xfrm>
            <a:off x="3886200" y="363924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84" name="Image 5" descr="preencoded.png"/>
          <p:cNvPicPr/>
          <p:nvPr/>
        </p:nvPicPr>
        <p:blipFill>
          <a:blip r:embed="rId6"/>
          <a:stretch/>
        </p:blipFill>
        <p:spPr>
          <a:xfrm>
            <a:off x="3931920" y="3684960"/>
            <a:ext cx="181800" cy="181800"/>
          </a:xfrm>
          <a:prstGeom prst="rect">
            <a:avLst/>
          </a:prstGeom>
          <a:ln w="0">
            <a:noFill/>
          </a:ln>
        </p:spPr>
      </p:pic>
      <p:sp>
        <p:nvSpPr>
          <p:cNvPr id="285" name="Text 17"/>
          <p:cNvSpPr/>
          <p:nvPr/>
        </p:nvSpPr>
        <p:spPr>
          <a:xfrm>
            <a:off x="4297680" y="358452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Server and client certs both tracked</a:t>
            </a:r>
            <a:endParaRPr b="0" lang="en-US" sz="1200" spc="-1" strike="noStrike">
              <a:solidFill>
                <a:srgbClr val="000000"/>
              </a:solidFill>
              <a:latin typeface="Arial"/>
            </a:endParaRPr>
          </a:p>
        </p:txBody>
      </p:sp>
      <p:sp>
        <p:nvSpPr>
          <p:cNvPr id="286" name="Shape 18"/>
          <p:cNvSpPr/>
          <p:nvPr/>
        </p:nvSpPr>
        <p:spPr>
          <a:xfrm>
            <a:off x="3886200" y="4087440"/>
            <a:ext cx="273240" cy="27324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87" name="Image 6" descr="preencoded.png"/>
          <p:cNvPicPr/>
          <p:nvPr/>
        </p:nvPicPr>
        <p:blipFill>
          <a:blip r:embed="rId7"/>
          <a:stretch/>
        </p:blipFill>
        <p:spPr>
          <a:xfrm>
            <a:off x="3931920" y="4133160"/>
            <a:ext cx="181800" cy="181800"/>
          </a:xfrm>
          <a:prstGeom prst="rect">
            <a:avLst/>
          </a:prstGeom>
          <a:ln w="0">
            <a:noFill/>
          </a:ln>
        </p:spPr>
      </p:pic>
      <p:sp>
        <p:nvSpPr>
          <p:cNvPr id="288" name="Text 19"/>
          <p:cNvSpPr/>
          <p:nvPr/>
        </p:nvSpPr>
        <p:spPr>
          <a:xfrm>
            <a:off x="4297680" y="4032360"/>
            <a:ext cx="429660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Weekly CRL refresh keeps it valid</a:t>
            </a:r>
            <a:endParaRPr b="0" lang="en-US" sz="1200" spc="-1" strike="noStrike">
              <a:solidFill>
                <a:srgbClr val="000000"/>
              </a:solidFill>
              <a:latin typeface="Arial"/>
            </a:endParaRPr>
          </a:p>
        </p:txBody>
      </p:sp>
      <p:sp>
        <p:nvSpPr>
          <p:cNvPr id="289" name="Text 20"/>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90" name="Text 21"/>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13</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91"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92" name="Image 0" descr="preencoded.png"/>
          <p:cNvPicPr/>
          <p:nvPr/>
        </p:nvPicPr>
        <p:blipFill>
          <a:blip r:embed="rId1"/>
          <a:stretch/>
        </p:blipFill>
        <p:spPr>
          <a:xfrm>
            <a:off x="589680" y="516600"/>
            <a:ext cx="300600" cy="300600"/>
          </a:xfrm>
          <a:prstGeom prst="rect">
            <a:avLst/>
          </a:prstGeom>
          <a:ln w="0">
            <a:noFill/>
          </a:ln>
        </p:spPr>
      </p:pic>
      <p:sp>
        <p:nvSpPr>
          <p:cNvPr id="293"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LIMITATIONS</a:t>
            </a:r>
            <a:endParaRPr b="0" lang="en-US" sz="1100" spc="-1" strike="noStrike">
              <a:solidFill>
                <a:srgbClr val="000000"/>
              </a:solidFill>
              <a:latin typeface="Arial"/>
            </a:endParaRPr>
          </a:p>
        </p:txBody>
      </p:sp>
      <p:sp>
        <p:nvSpPr>
          <p:cNvPr id="294"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When PKI breaks — real incidents</a:t>
            </a:r>
            <a:endParaRPr b="0" lang="en-US" sz="2500" spc="-1" strike="noStrike">
              <a:solidFill>
                <a:srgbClr val="000000"/>
              </a:solidFill>
              <a:latin typeface="Arial"/>
            </a:endParaRPr>
          </a:p>
        </p:txBody>
      </p:sp>
      <p:sp>
        <p:nvSpPr>
          <p:cNvPr id="295" name="Text 23"/>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96" name="Text 24"/>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14</a:t>
            </a:r>
            <a:endParaRPr b="0" lang="en-US" sz="800" spc="-1" strike="noStrike">
              <a:solidFill>
                <a:srgbClr val="000000"/>
              </a:solidFill>
              <a:latin typeface="Arial"/>
            </a:endParaRPr>
          </a:p>
        </p:txBody>
      </p:sp>
      <p:sp>
        <p:nvSpPr>
          <p:cNvPr id="297" name="Rounded Rectangle 316"/>
          <p:cNvSpPr/>
          <p:nvPr/>
        </p:nvSpPr>
        <p:spPr>
          <a:xfrm>
            <a:off x="548640" y="141732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98" name="TextBox 317"/>
          <p:cNvSpPr/>
          <p:nvPr/>
        </p:nvSpPr>
        <p:spPr>
          <a:xfrm>
            <a:off x="749880" y="150876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DigiNotar</a:t>
            </a:r>
            <a:endParaRPr b="0" lang="en-US" sz="1350" spc="-1" strike="noStrike">
              <a:solidFill>
                <a:srgbClr val="000000"/>
              </a:solidFill>
              <a:latin typeface="Arial"/>
            </a:endParaRPr>
          </a:p>
        </p:txBody>
      </p:sp>
      <p:sp>
        <p:nvSpPr>
          <p:cNvPr id="299" name="TextBox 318"/>
          <p:cNvSpPr/>
          <p:nvPr/>
        </p:nvSpPr>
        <p:spPr>
          <a:xfrm>
            <a:off x="3291840" y="151776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2011</a:t>
            </a:r>
            <a:endParaRPr b="0" lang="en-US" sz="1150" spc="-1" strike="noStrike">
              <a:solidFill>
                <a:srgbClr val="000000"/>
              </a:solidFill>
              <a:latin typeface="Arial"/>
            </a:endParaRPr>
          </a:p>
        </p:txBody>
      </p:sp>
      <p:sp>
        <p:nvSpPr>
          <p:cNvPr id="300" name="TextBox 319"/>
          <p:cNvSpPr/>
          <p:nvPr/>
        </p:nvSpPr>
        <p:spPr>
          <a:xfrm>
            <a:off x="749880" y="178308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CA breach → 531 fake certs; *.google.com spied on 300k.</a:t>
            </a:r>
            <a:endParaRPr b="0" lang="en-US" sz="950" spc="-1" strike="noStrike">
              <a:solidFill>
                <a:srgbClr val="000000"/>
              </a:solidFill>
              <a:latin typeface="Arial"/>
            </a:endParaRPr>
          </a:p>
        </p:txBody>
      </p:sp>
      <p:sp>
        <p:nvSpPr>
          <p:cNvPr id="301" name="TextBox 320"/>
          <p:cNvSpPr/>
          <p:nvPr/>
        </p:nvSpPr>
        <p:spPr>
          <a:xfrm>
            <a:off x="749880" y="211212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keep the Root offline</a:t>
            </a:r>
            <a:endParaRPr b="0" lang="en-US" sz="950" spc="-1" strike="noStrike">
              <a:solidFill>
                <a:srgbClr val="000000"/>
              </a:solidFill>
              <a:latin typeface="Arial"/>
            </a:endParaRPr>
          </a:p>
        </p:txBody>
      </p:sp>
      <p:sp>
        <p:nvSpPr>
          <p:cNvPr id="302" name="Rounded Rectangle 321"/>
          <p:cNvSpPr/>
          <p:nvPr/>
        </p:nvSpPr>
        <p:spPr>
          <a:xfrm>
            <a:off x="4709160" y="141732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03" name="TextBox 322"/>
          <p:cNvSpPr/>
          <p:nvPr/>
        </p:nvSpPr>
        <p:spPr>
          <a:xfrm>
            <a:off x="4910400" y="150876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Symantec distrust</a:t>
            </a:r>
            <a:endParaRPr b="0" lang="en-US" sz="1350" spc="-1" strike="noStrike">
              <a:solidFill>
                <a:srgbClr val="000000"/>
              </a:solidFill>
              <a:latin typeface="Arial"/>
            </a:endParaRPr>
          </a:p>
        </p:txBody>
      </p:sp>
      <p:sp>
        <p:nvSpPr>
          <p:cNvPr id="304" name="TextBox 323"/>
          <p:cNvSpPr/>
          <p:nvPr/>
        </p:nvSpPr>
        <p:spPr>
          <a:xfrm>
            <a:off x="7452360" y="151776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2017-2018</a:t>
            </a:r>
            <a:endParaRPr b="0" lang="en-US" sz="1150" spc="-1" strike="noStrike">
              <a:solidFill>
                <a:srgbClr val="000000"/>
              </a:solidFill>
              <a:latin typeface="Arial"/>
            </a:endParaRPr>
          </a:p>
        </p:txBody>
      </p:sp>
      <p:sp>
        <p:nvSpPr>
          <p:cNvPr id="305" name="TextBox 324"/>
          <p:cNvSpPr/>
          <p:nvPr/>
        </p:nvSpPr>
        <p:spPr>
          <a:xfrm>
            <a:off x="4910400" y="178308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30,000+ misissued via lax resellers → Chrome distrust.</a:t>
            </a:r>
            <a:endParaRPr b="0" lang="en-US" sz="950" spc="-1" strike="noStrike">
              <a:solidFill>
                <a:srgbClr val="000000"/>
              </a:solidFill>
              <a:latin typeface="Arial"/>
            </a:endParaRPr>
          </a:p>
        </p:txBody>
      </p:sp>
      <p:sp>
        <p:nvSpPr>
          <p:cNvPr id="306" name="TextBox 325"/>
          <p:cNvSpPr/>
          <p:nvPr/>
        </p:nvSpPr>
        <p:spPr>
          <a:xfrm>
            <a:off x="4910400" y="211212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governance &amp; oversight</a:t>
            </a:r>
            <a:endParaRPr b="0" lang="en-US" sz="950" spc="-1" strike="noStrike">
              <a:solidFill>
                <a:srgbClr val="000000"/>
              </a:solidFill>
              <a:latin typeface="Arial"/>
            </a:endParaRPr>
          </a:p>
        </p:txBody>
      </p:sp>
      <p:sp>
        <p:nvSpPr>
          <p:cNvPr id="307" name="Rounded Rectangle 326"/>
          <p:cNvSpPr/>
          <p:nvPr/>
        </p:nvSpPr>
        <p:spPr>
          <a:xfrm>
            <a:off x="548640" y="251460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08" name="TextBox 327"/>
          <p:cNvSpPr/>
          <p:nvPr/>
        </p:nvSpPr>
        <p:spPr>
          <a:xfrm>
            <a:off x="749880" y="260604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Heartbleed</a:t>
            </a:r>
            <a:endParaRPr b="0" lang="en-US" sz="1350" spc="-1" strike="noStrike">
              <a:solidFill>
                <a:srgbClr val="000000"/>
              </a:solidFill>
              <a:latin typeface="Arial"/>
            </a:endParaRPr>
          </a:p>
        </p:txBody>
      </p:sp>
      <p:sp>
        <p:nvSpPr>
          <p:cNvPr id="309" name="TextBox 328"/>
          <p:cNvSpPr/>
          <p:nvPr/>
        </p:nvSpPr>
        <p:spPr>
          <a:xfrm>
            <a:off x="3291840" y="261504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2014</a:t>
            </a:r>
            <a:endParaRPr b="0" lang="en-US" sz="1150" spc="-1" strike="noStrike">
              <a:solidFill>
                <a:srgbClr val="000000"/>
              </a:solidFill>
              <a:latin typeface="Arial"/>
            </a:endParaRPr>
          </a:p>
        </p:txBody>
      </p:sp>
      <p:sp>
        <p:nvSpPr>
          <p:cNvPr id="310" name="TextBox 329"/>
          <p:cNvSpPr/>
          <p:nvPr/>
        </p:nvSpPr>
        <p:spPr>
          <a:xfrm>
            <a:off x="749880" y="288036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Keys leaked on ~17% of servers; ~98% of revocations ignored.</a:t>
            </a:r>
            <a:endParaRPr b="0" lang="en-US" sz="950" spc="-1" strike="noStrike">
              <a:solidFill>
                <a:srgbClr val="000000"/>
              </a:solidFill>
              <a:latin typeface="Arial"/>
            </a:endParaRPr>
          </a:p>
        </p:txBody>
      </p:sp>
      <p:sp>
        <p:nvSpPr>
          <p:cNvPr id="311" name="TextBox 330"/>
          <p:cNvSpPr/>
          <p:nvPr/>
        </p:nvSpPr>
        <p:spPr>
          <a:xfrm>
            <a:off x="749880" y="320940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short-lived certs</a:t>
            </a:r>
            <a:endParaRPr b="0" lang="en-US" sz="950" spc="-1" strike="noStrike">
              <a:solidFill>
                <a:srgbClr val="000000"/>
              </a:solidFill>
              <a:latin typeface="Arial"/>
            </a:endParaRPr>
          </a:p>
        </p:txBody>
      </p:sp>
      <p:sp>
        <p:nvSpPr>
          <p:cNvPr id="312" name="Rounded Rectangle 331"/>
          <p:cNvSpPr/>
          <p:nvPr/>
        </p:nvSpPr>
        <p:spPr>
          <a:xfrm>
            <a:off x="4709160" y="251460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13" name="TextBox 332"/>
          <p:cNvSpPr/>
          <p:nvPr/>
        </p:nvSpPr>
        <p:spPr>
          <a:xfrm>
            <a:off x="4910400" y="260604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CNNIC / MCS Holdings</a:t>
            </a:r>
            <a:endParaRPr b="0" lang="en-US" sz="1350" spc="-1" strike="noStrike">
              <a:solidFill>
                <a:srgbClr val="000000"/>
              </a:solidFill>
              <a:latin typeface="Arial"/>
            </a:endParaRPr>
          </a:p>
        </p:txBody>
      </p:sp>
      <p:sp>
        <p:nvSpPr>
          <p:cNvPr id="314" name="TextBox 333"/>
          <p:cNvSpPr/>
          <p:nvPr/>
        </p:nvSpPr>
        <p:spPr>
          <a:xfrm>
            <a:off x="7452360" y="261504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2015</a:t>
            </a:r>
            <a:endParaRPr b="0" lang="en-US" sz="1150" spc="-1" strike="noStrike">
              <a:solidFill>
                <a:srgbClr val="000000"/>
              </a:solidFill>
              <a:latin typeface="Arial"/>
            </a:endParaRPr>
          </a:p>
        </p:txBody>
      </p:sp>
      <p:sp>
        <p:nvSpPr>
          <p:cNvPr id="315" name="TextBox 334"/>
          <p:cNvSpPr/>
          <p:nvPr/>
        </p:nvSpPr>
        <p:spPr>
          <a:xfrm>
            <a:off x="4910400" y="288036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Sub-CA with no name constraint → forged Google certs.</a:t>
            </a:r>
            <a:endParaRPr b="0" lang="en-US" sz="950" spc="-1" strike="noStrike">
              <a:solidFill>
                <a:srgbClr val="000000"/>
              </a:solidFill>
              <a:latin typeface="Arial"/>
            </a:endParaRPr>
          </a:p>
        </p:txBody>
      </p:sp>
      <p:sp>
        <p:nvSpPr>
          <p:cNvPr id="316" name="TextBox 335"/>
          <p:cNvSpPr/>
          <p:nvPr/>
        </p:nvSpPr>
        <p:spPr>
          <a:xfrm>
            <a:off x="4910400" y="320940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Certificate Transparency</a:t>
            </a:r>
            <a:endParaRPr b="0" lang="en-US" sz="950" spc="-1" strike="noStrike">
              <a:solidFill>
                <a:srgbClr val="000000"/>
              </a:solidFill>
              <a:latin typeface="Arial"/>
            </a:endParaRPr>
          </a:p>
        </p:txBody>
      </p:sp>
      <p:sp>
        <p:nvSpPr>
          <p:cNvPr id="317" name="Rounded Rectangle 336"/>
          <p:cNvSpPr/>
          <p:nvPr/>
        </p:nvSpPr>
        <p:spPr>
          <a:xfrm>
            <a:off x="548640" y="361188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18" name="TextBox 337"/>
          <p:cNvSpPr/>
          <p:nvPr/>
        </p:nvSpPr>
        <p:spPr>
          <a:xfrm>
            <a:off x="749880" y="370332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ComodoHacker</a:t>
            </a:r>
            <a:endParaRPr b="0" lang="en-US" sz="1350" spc="-1" strike="noStrike">
              <a:solidFill>
                <a:srgbClr val="000000"/>
              </a:solidFill>
              <a:latin typeface="Arial"/>
            </a:endParaRPr>
          </a:p>
        </p:txBody>
      </p:sp>
      <p:sp>
        <p:nvSpPr>
          <p:cNvPr id="319" name="TextBox 338"/>
          <p:cNvSpPr/>
          <p:nvPr/>
        </p:nvSpPr>
        <p:spPr>
          <a:xfrm>
            <a:off x="3291840" y="371232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2011</a:t>
            </a:r>
            <a:endParaRPr b="0" lang="en-US" sz="1150" spc="-1" strike="noStrike">
              <a:solidFill>
                <a:srgbClr val="000000"/>
              </a:solidFill>
              <a:latin typeface="Arial"/>
            </a:endParaRPr>
          </a:p>
        </p:txBody>
      </p:sp>
      <p:sp>
        <p:nvSpPr>
          <p:cNvPr id="320" name="TextBox 339"/>
          <p:cNvSpPr/>
          <p:nvPr/>
        </p:nvSpPr>
        <p:spPr>
          <a:xfrm>
            <a:off x="749880" y="397764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Stolen reseller login → 9 fake certs (Google, Skype…).</a:t>
            </a:r>
            <a:endParaRPr b="0" lang="en-US" sz="950" spc="-1" strike="noStrike">
              <a:solidFill>
                <a:srgbClr val="000000"/>
              </a:solidFill>
              <a:latin typeface="Arial"/>
            </a:endParaRPr>
          </a:p>
        </p:txBody>
      </p:sp>
      <p:sp>
        <p:nvSpPr>
          <p:cNvPr id="321" name="TextBox 340"/>
          <p:cNvSpPr/>
          <p:nvPr/>
        </p:nvSpPr>
        <p:spPr>
          <a:xfrm>
            <a:off x="749880" y="430668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MFA &amp; reseller audits</a:t>
            </a:r>
            <a:endParaRPr b="0" lang="en-US" sz="950" spc="-1" strike="noStrike">
              <a:solidFill>
                <a:srgbClr val="000000"/>
              </a:solidFill>
              <a:latin typeface="Arial"/>
            </a:endParaRPr>
          </a:p>
        </p:txBody>
      </p:sp>
      <p:sp>
        <p:nvSpPr>
          <p:cNvPr id="322" name="Rounded Rectangle 341"/>
          <p:cNvSpPr/>
          <p:nvPr/>
        </p:nvSpPr>
        <p:spPr>
          <a:xfrm>
            <a:off x="4709160" y="3611880"/>
            <a:ext cx="3885840" cy="914040"/>
          </a:xfrm>
          <a:prstGeom prst="roundRect">
            <a:avLst>
              <a:gd name="adj" fmla="val 8000"/>
            </a:avLst>
          </a:prstGeom>
          <a:solidFill>
            <a:srgbClr val="ffffff"/>
          </a:solidFill>
          <a:ln>
            <a:noFill/>
          </a:ln>
          <a:effectLst>
            <a:outerShdw blurRad="88920" dir="5400000" dist="38160" rotWithShape="0">
              <a:srgbClr val="0c2233">
                <a:alpha val="12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23" name="TextBox 342"/>
          <p:cNvSpPr/>
          <p:nvPr/>
        </p:nvSpPr>
        <p:spPr>
          <a:xfrm>
            <a:off x="4910400" y="3703320"/>
            <a:ext cx="246852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50" spc="-1" strike="noStrike">
                <a:solidFill>
                  <a:srgbClr val="16242f"/>
                </a:solidFill>
                <a:latin typeface="Calibri"/>
              </a:rPr>
              <a:t>Equifax</a:t>
            </a:r>
            <a:endParaRPr b="0" lang="en-US" sz="1350" spc="-1" strike="noStrike">
              <a:solidFill>
                <a:srgbClr val="000000"/>
              </a:solidFill>
              <a:latin typeface="Arial"/>
            </a:endParaRPr>
          </a:p>
        </p:txBody>
      </p:sp>
      <p:sp>
        <p:nvSpPr>
          <p:cNvPr id="324" name="TextBox 343"/>
          <p:cNvSpPr/>
          <p:nvPr/>
        </p:nvSpPr>
        <p:spPr>
          <a:xfrm>
            <a:off x="7452360" y="3712320"/>
            <a:ext cx="941400" cy="175680"/>
          </a:xfrm>
          <a:prstGeom prst="rect">
            <a:avLst/>
          </a:prstGeom>
          <a:noFill/>
          <a:ln w="0">
            <a:noFill/>
          </a:ln>
        </p:spPr>
        <p:style>
          <a:lnRef idx="0"/>
          <a:fillRef idx="0"/>
          <a:effectRef idx="0"/>
          <a:fontRef idx="minor"/>
        </p:style>
        <p:txBody>
          <a:bodyPr lIns="0" rIns="0" tIns="0" bIns="0" anchor="t">
            <a:spAutoFit/>
          </a:bodyPr>
          <a:p>
            <a:pPr algn="r">
              <a:lnSpc>
                <a:spcPct val="100000"/>
              </a:lnSpc>
            </a:pPr>
            <a:r>
              <a:rPr b="1" lang="en-US" sz="1150" spc="-1" strike="noStrike">
                <a:solidFill>
                  <a:srgbClr val="d24b4b"/>
                </a:solidFill>
                <a:latin typeface="Calibri"/>
              </a:rPr>
              <a:t>2017</a:t>
            </a:r>
            <a:endParaRPr b="0" lang="en-US" sz="1150" spc="-1" strike="noStrike">
              <a:solidFill>
                <a:srgbClr val="000000"/>
              </a:solidFill>
              <a:latin typeface="Arial"/>
            </a:endParaRPr>
          </a:p>
        </p:txBody>
      </p:sp>
      <p:sp>
        <p:nvSpPr>
          <p:cNvPr id="325" name="TextBox 344"/>
          <p:cNvSpPr/>
          <p:nvPr/>
        </p:nvSpPr>
        <p:spPr>
          <a:xfrm>
            <a:off x="4910400" y="397764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950" spc="-1" strike="noStrike">
                <a:solidFill>
                  <a:srgbClr val="5e7484"/>
                </a:solidFill>
                <a:latin typeface="Calibri"/>
              </a:rPr>
              <a:t>One internal cert expired 10 months → 147M records stolen.</a:t>
            </a:r>
            <a:endParaRPr b="0" lang="en-US" sz="950" spc="-1" strike="noStrike">
              <a:solidFill>
                <a:srgbClr val="000000"/>
              </a:solidFill>
              <a:latin typeface="Arial"/>
            </a:endParaRPr>
          </a:p>
        </p:txBody>
      </p:sp>
      <p:sp>
        <p:nvSpPr>
          <p:cNvPr id="326" name="TextBox 345"/>
          <p:cNvSpPr/>
          <p:nvPr/>
        </p:nvSpPr>
        <p:spPr>
          <a:xfrm>
            <a:off x="4910400" y="4306680"/>
            <a:ext cx="3520080" cy="145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950" spc="-1" strike="noStrike">
                <a:solidFill>
                  <a:srgbClr val="0f9c92"/>
                </a:solidFill>
                <a:latin typeface="Calibri"/>
              </a:rPr>
              <a:t>→ </a:t>
            </a:r>
            <a:r>
              <a:rPr b="1" lang="en-US" sz="950" spc="-1" strike="noStrike">
                <a:solidFill>
                  <a:srgbClr val="0f9c92"/>
                </a:solidFill>
                <a:latin typeface="Calibri"/>
              </a:rPr>
              <a:t>automate renewal</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327" name="Shape 0"/>
          <p:cNvSpPr/>
          <p:nvPr/>
        </p:nvSpPr>
        <p:spPr>
          <a:xfrm>
            <a:off x="457200" y="384120"/>
            <a:ext cx="565920" cy="565920"/>
          </a:xfrm>
          <a:prstGeom prst="ellipse">
            <a:avLst/>
          </a:prstGeom>
          <a:solidFill>
            <a:srgbClr val="0f9c9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328" name="Image 0" descr="preencoded.png"/>
          <p:cNvPicPr/>
          <p:nvPr/>
        </p:nvPicPr>
        <p:blipFill>
          <a:blip r:embed="rId1"/>
          <a:stretch/>
        </p:blipFill>
        <p:spPr>
          <a:xfrm>
            <a:off x="589680" y="516600"/>
            <a:ext cx="300600" cy="300600"/>
          </a:xfrm>
          <a:prstGeom prst="rect">
            <a:avLst/>
          </a:prstGeom>
          <a:ln w="0">
            <a:noFill/>
          </a:ln>
        </p:spPr>
      </p:pic>
      <p:sp>
        <p:nvSpPr>
          <p:cNvPr id="329" name="Text 1"/>
          <p:cNvSpPr/>
          <p:nvPr/>
        </p:nvSpPr>
        <p:spPr>
          <a:xfrm>
            <a:off x="1188720" y="402480"/>
            <a:ext cx="73141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4" strike="noStrike">
                <a:solidFill>
                  <a:srgbClr val="0f9c92"/>
                </a:solidFill>
                <a:latin typeface="Calibri"/>
                <a:ea typeface="Calibri"/>
              </a:rPr>
              <a:t>LIMITATIONS</a:t>
            </a:r>
            <a:endParaRPr b="0" lang="en-US" sz="1100" spc="-1" strike="noStrike">
              <a:solidFill>
                <a:srgbClr val="000000"/>
              </a:solidFill>
              <a:latin typeface="Arial"/>
            </a:endParaRPr>
          </a:p>
        </p:txBody>
      </p:sp>
      <p:sp>
        <p:nvSpPr>
          <p:cNvPr id="330" name="Text 2"/>
          <p:cNvSpPr/>
          <p:nvPr/>
        </p:nvSpPr>
        <p:spPr>
          <a:xfrm>
            <a:off x="1170360" y="603360"/>
            <a:ext cx="74970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Lessons → our design choices</a:t>
            </a:r>
            <a:endParaRPr b="0" lang="en-US" sz="2500" spc="-1" strike="noStrike">
              <a:solidFill>
                <a:srgbClr val="000000"/>
              </a:solidFill>
              <a:latin typeface="Arial"/>
            </a:endParaRPr>
          </a:p>
        </p:txBody>
      </p:sp>
      <p:sp>
        <p:nvSpPr>
          <p:cNvPr id="331" name="Shape 3"/>
          <p:cNvSpPr/>
          <p:nvPr/>
        </p:nvSpPr>
        <p:spPr>
          <a:xfrm>
            <a:off x="548640" y="14630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2" name="Shape 4"/>
          <p:cNvSpPr/>
          <p:nvPr/>
        </p:nvSpPr>
        <p:spPr>
          <a:xfrm>
            <a:off x="731520" y="16826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33" name="Image 1" descr="preencoded.png"/>
          <p:cNvPicPr/>
          <p:nvPr/>
        </p:nvPicPr>
        <p:blipFill>
          <a:blip r:embed="rId2"/>
          <a:stretch/>
        </p:blipFill>
        <p:spPr>
          <a:xfrm>
            <a:off x="850320" y="1801440"/>
            <a:ext cx="218520" cy="218520"/>
          </a:xfrm>
          <a:prstGeom prst="rect">
            <a:avLst/>
          </a:prstGeom>
          <a:ln w="0">
            <a:noFill/>
          </a:ln>
        </p:spPr>
      </p:pic>
      <p:sp>
        <p:nvSpPr>
          <p:cNvPr id="334" name="Text 5"/>
          <p:cNvSpPr/>
          <p:nvPr/>
        </p:nvSpPr>
        <p:spPr>
          <a:xfrm>
            <a:off x="1325880" y="14630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Offline Root CA</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compromise can't reach the trust anchor</a:t>
            </a:r>
            <a:endParaRPr b="0" lang="en-US" sz="1000" spc="-1" strike="noStrike">
              <a:solidFill>
                <a:srgbClr val="000000"/>
              </a:solidFill>
              <a:latin typeface="Arial"/>
            </a:endParaRPr>
          </a:p>
        </p:txBody>
      </p:sp>
      <p:sp>
        <p:nvSpPr>
          <p:cNvPr id="335" name="Shape 6"/>
          <p:cNvSpPr/>
          <p:nvPr/>
        </p:nvSpPr>
        <p:spPr>
          <a:xfrm>
            <a:off x="4663440" y="14630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6" name="Shape 7"/>
          <p:cNvSpPr/>
          <p:nvPr/>
        </p:nvSpPr>
        <p:spPr>
          <a:xfrm>
            <a:off x="4846320" y="16826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37" name="Image 2" descr="preencoded.png"/>
          <p:cNvPicPr/>
          <p:nvPr/>
        </p:nvPicPr>
        <p:blipFill>
          <a:blip r:embed="rId3"/>
          <a:stretch/>
        </p:blipFill>
        <p:spPr>
          <a:xfrm>
            <a:off x="4965120" y="1801440"/>
            <a:ext cx="218520" cy="218520"/>
          </a:xfrm>
          <a:prstGeom prst="rect">
            <a:avLst/>
          </a:prstGeom>
          <a:ln w="0">
            <a:noFill/>
          </a:ln>
        </p:spPr>
      </p:pic>
      <p:sp>
        <p:nvSpPr>
          <p:cNvPr id="338" name="Text 8"/>
          <p:cNvSpPr/>
          <p:nvPr/>
        </p:nvSpPr>
        <p:spPr>
          <a:xfrm>
            <a:off x="5440680" y="14630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Strict EKU separation</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server vs client roles never overlap</a:t>
            </a:r>
            <a:endParaRPr b="0" lang="en-US" sz="1000" spc="-1" strike="noStrike">
              <a:solidFill>
                <a:srgbClr val="000000"/>
              </a:solidFill>
              <a:latin typeface="Arial"/>
            </a:endParaRPr>
          </a:p>
        </p:txBody>
      </p:sp>
      <p:sp>
        <p:nvSpPr>
          <p:cNvPr id="339" name="Shape 9"/>
          <p:cNvSpPr/>
          <p:nvPr/>
        </p:nvSpPr>
        <p:spPr>
          <a:xfrm>
            <a:off x="548640" y="24962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0" name="Shape 10"/>
          <p:cNvSpPr/>
          <p:nvPr/>
        </p:nvSpPr>
        <p:spPr>
          <a:xfrm>
            <a:off x="731520" y="27158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41" name="Image 3" descr="preencoded.png"/>
          <p:cNvPicPr/>
          <p:nvPr/>
        </p:nvPicPr>
        <p:blipFill>
          <a:blip r:embed="rId4"/>
          <a:stretch/>
        </p:blipFill>
        <p:spPr>
          <a:xfrm>
            <a:off x="850320" y="2834640"/>
            <a:ext cx="218520" cy="218520"/>
          </a:xfrm>
          <a:prstGeom prst="rect">
            <a:avLst/>
          </a:prstGeom>
          <a:ln w="0">
            <a:noFill/>
          </a:ln>
        </p:spPr>
      </p:pic>
      <p:sp>
        <p:nvSpPr>
          <p:cNvPr id="342" name="Text 11"/>
          <p:cNvSpPr/>
          <p:nvPr/>
        </p:nvSpPr>
        <p:spPr>
          <a:xfrm>
            <a:off x="1325880" y="24962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Automated renewal</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no certificate ever silently expires</a:t>
            </a:r>
            <a:endParaRPr b="0" lang="en-US" sz="1000" spc="-1" strike="noStrike">
              <a:solidFill>
                <a:srgbClr val="000000"/>
              </a:solidFill>
              <a:latin typeface="Arial"/>
            </a:endParaRPr>
          </a:p>
        </p:txBody>
      </p:sp>
      <p:sp>
        <p:nvSpPr>
          <p:cNvPr id="343" name="Shape 12"/>
          <p:cNvSpPr/>
          <p:nvPr/>
        </p:nvSpPr>
        <p:spPr>
          <a:xfrm>
            <a:off x="4663440" y="24962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4" name="Shape 13"/>
          <p:cNvSpPr/>
          <p:nvPr/>
        </p:nvSpPr>
        <p:spPr>
          <a:xfrm>
            <a:off x="4846320" y="27158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45" name="Image 4" descr="preencoded.png"/>
          <p:cNvPicPr/>
          <p:nvPr/>
        </p:nvPicPr>
        <p:blipFill>
          <a:blip r:embed="rId5"/>
          <a:stretch/>
        </p:blipFill>
        <p:spPr>
          <a:xfrm>
            <a:off x="4965120" y="2834640"/>
            <a:ext cx="218520" cy="218520"/>
          </a:xfrm>
          <a:prstGeom prst="rect">
            <a:avLst/>
          </a:prstGeom>
          <a:ln w="0">
            <a:noFill/>
          </a:ln>
        </p:spPr>
      </p:pic>
      <p:sp>
        <p:nvSpPr>
          <p:cNvPr id="346" name="Text 14"/>
          <p:cNvSpPr/>
          <p:nvPr/>
        </p:nvSpPr>
        <p:spPr>
          <a:xfrm>
            <a:off x="5440680" y="24962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Scheduled CRL refresh</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revocation stays current and valid</a:t>
            </a:r>
            <a:endParaRPr b="0" lang="en-US" sz="1000" spc="-1" strike="noStrike">
              <a:solidFill>
                <a:srgbClr val="000000"/>
              </a:solidFill>
              <a:latin typeface="Arial"/>
            </a:endParaRPr>
          </a:p>
        </p:txBody>
      </p:sp>
      <p:sp>
        <p:nvSpPr>
          <p:cNvPr id="347" name="Shape 15"/>
          <p:cNvSpPr/>
          <p:nvPr/>
        </p:nvSpPr>
        <p:spPr>
          <a:xfrm>
            <a:off x="548640" y="35294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8" name="Shape 16"/>
          <p:cNvSpPr/>
          <p:nvPr/>
        </p:nvSpPr>
        <p:spPr>
          <a:xfrm>
            <a:off x="731520" y="37490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49" name="Image 5" descr="preencoded.png"/>
          <p:cNvPicPr/>
          <p:nvPr/>
        </p:nvPicPr>
        <p:blipFill>
          <a:blip r:embed="rId6"/>
          <a:stretch/>
        </p:blipFill>
        <p:spPr>
          <a:xfrm>
            <a:off x="850320" y="3867840"/>
            <a:ext cx="218520" cy="218520"/>
          </a:xfrm>
          <a:prstGeom prst="rect">
            <a:avLst/>
          </a:prstGeom>
          <a:ln w="0">
            <a:noFill/>
          </a:ln>
        </p:spPr>
      </p:pic>
      <p:sp>
        <p:nvSpPr>
          <p:cNvPr id="350" name="Text 17"/>
          <p:cNvSpPr/>
          <p:nvPr/>
        </p:nvSpPr>
        <p:spPr>
          <a:xfrm>
            <a:off x="1325880" y="35294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Encrypted keys, 0600 perms</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private keys protected at rest</a:t>
            </a:r>
            <a:endParaRPr b="0" lang="en-US" sz="1000" spc="-1" strike="noStrike">
              <a:solidFill>
                <a:srgbClr val="000000"/>
              </a:solidFill>
              <a:latin typeface="Arial"/>
            </a:endParaRPr>
          </a:p>
        </p:txBody>
      </p:sp>
      <p:sp>
        <p:nvSpPr>
          <p:cNvPr id="351" name="Shape 18"/>
          <p:cNvSpPr/>
          <p:nvPr/>
        </p:nvSpPr>
        <p:spPr>
          <a:xfrm>
            <a:off x="4663440" y="3529440"/>
            <a:ext cx="3930840" cy="89496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52" name="Shape 19"/>
          <p:cNvSpPr/>
          <p:nvPr/>
        </p:nvSpPr>
        <p:spPr>
          <a:xfrm>
            <a:off x="4846320" y="3749040"/>
            <a:ext cx="456120" cy="456120"/>
          </a:xfrm>
          <a:prstGeom prst="ellipse">
            <a:avLst/>
          </a:prstGeom>
          <a:solidFill>
            <a:srgbClr val="eaf2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353" name="Image 6" descr="preencoded.png"/>
          <p:cNvPicPr/>
          <p:nvPr/>
        </p:nvPicPr>
        <p:blipFill>
          <a:blip r:embed="rId7"/>
          <a:stretch/>
        </p:blipFill>
        <p:spPr>
          <a:xfrm>
            <a:off x="4965120" y="3867840"/>
            <a:ext cx="218520" cy="218520"/>
          </a:xfrm>
          <a:prstGeom prst="rect">
            <a:avLst/>
          </a:prstGeom>
          <a:ln w="0">
            <a:noFill/>
          </a:ln>
        </p:spPr>
      </p:pic>
      <p:sp>
        <p:nvSpPr>
          <p:cNvPr id="354" name="Text 20"/>
          <p:cNvSpPr/>
          <p:nvPr/>
        </p:nvSpPr>
        <p:spPr>
          <a:xfrm>
            <a:off x="5440680" y="3529440"/>
            <a:ext cx="3016440" cy="89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SAN + fullchain everywhere</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works in real browsers, not just curl</a:t>
            </a:r>
            <a:endParaRPr b="0" lang="en-US" sz="1000" spc="-1" strike="noStrike">
              <a:solidFill>
                <a:srgbClr val="000000"/>
              </a:solidFill>
              <a:latin typeface="Arial"/>
            </a:endParaRPr>
          </a:p>
        </p:txBody>
      </p:sp>
      <p:sp>
        <p:nvSpPr>
          <p:cNvPr id="355" name="Text 21"/>
          <p:cNvSpPr/>
          <p:nvPr/>
        </p:nvSpPr>
        <p:spPr>
          <a:xfrm>
            <a:off x="457200" y="4855320"/>
            <a:ext cx="548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356" name="Text 22"/>
          <p:cNvSpPr/>
          <p:nvPr/>
        </p:nvSpPr>
        <p:spPr>
          <a:xfrm>
            <a:off x="8229600" y="4855320"/>
            <a:ext cx="456120" cy="227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15</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2081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2026-06-12T07:39:54Z</dcterms:created>
  <dc:creator>ULB Cybersecurity Lab</dc:creator>
  <dc:description/>
  <dc:language>en-US</dc:language>
  <cp:lastModifiedBy/>
  <dcterms:modified xsi:type="dcterms:W3CDTF">2026-06-14T12:07:04Z</dcterms:modified>
  <cp:revision>14</cp:revision>
  <dc:subject>PptxGenJS Presentation</dc:subject>
  <dc:title>Certificate Authority Chain &amp; Mutual TLS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