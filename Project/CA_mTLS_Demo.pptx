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7.png" ContentType="image/png"/>
  <Override PartName="/ppt/media/image16.png" ContentType="image/png"/>
  <Override PartName="/ppt/media/image11.png" ContentType="image/png"/>
  <Override PartName="/ppt/media/image2.png" ContentType="image/png"/>
  <Override PartName="/ppt/media/image17.png" ContentType="image/png"/>
  <Override PartName="/ppt/media/image8.png" ContentType="image/png"/>
  <Override PartName="/ppt/media/image3.png" ContentType="image/png"/>
  <Override PartName="/ppt/media/image12.png" ContentType="image/png"/>
  <Override PartName="/ppt/media/image18.png" ContentType="image/png"/>
  <Override PartName="/ppt/media/image20.png" ContentType="image/png"/>
  <Override PartName="/ppt/media/image9.png" ContentType="image/png"/>
  <Override PartName="/ppt/media/image4.png" ContentType="image/png"/>
  <Override PartName="/ppt/media/image13.png" ContentType="image/png"/>
  <Override PartName="/ppt/media/image30.png" ContentType="image/png"/>
  <Override PartName="/ppt/media/image28.png" ContentType="image/png"/>
  <Override PartName="/ppt/media/image10.png" ContentType="image/png"/>
  <Override PartName="/ppt/media/image1.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0675E7C-5BBD-4C77-BF8B-423A8B401DA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Welcome. This project builds a complete two-tier Public Key </a:t>
            </a:r>
            <a:r>
              <a:rPr b="0" lang="en-US" sz="2000" spc="-1" strike="noStrike">
                <a:solidFill>
                  <a:srgbClr val="000000"/>
                </a:solidFill>
                <a:latin typeface="Arial"/>
              </a:rPr>
              <a:t>Infrastructure on Linux from scratch with OpenSSL, then uses it </a:t>
            </a:r>
            <a:r>
              <a:rPr b="0" lang="en-US" sz="2000" spc="-1" strike="noStrike">
                <a:solidFill>
                  <a:srgbClr val="000000"/>
                </a:solidFill>
                <a:latin typeface="Arial"/>
              </a:rPr>
              <a:t>to deploy mutual TLS on Nginx and automate certificate </a:t>
            </a:r>
            <a:r>
              <a:rPr b="0" lang="en-US" sz="2000" spc="-1" strike="noStrike">
                <a:solidFill>
                  <a:srgbClr val="000000"/>
                </a:solidFill>
                <a:latin typeface="Arial"/>
              </a:rPr>
              <a:t>renewal. Over the next ~15 minutes we'll walk through the </a:t>
            </a:r>
            <a:r>
              <a:rPr b="0" lang="en-US" sz="2000" spc="-1" strike="noStrike">
                <a:solidFill>
                  <a:srgbClr val="000000"/>
                </a:solidFill>
                <a:latin typeface="Arial"/>
              </a:rPr>
              <a:t>theory, show the working deployment live, and finish with what </a:t>
            </a:r>
            <a:r>
              <a:rPr b="0" lang="en-US" sz="2000" spc="-1" strike="noStrike">
                <a:solidFill>
                  <a:srgbClr val="000000"/>
                </a:solidFill>
                <a:latin typeface="Arial"/>
              </a:rPr>
              <a:t>real-world CA failures taught us.</a:t>
            </a:r>
            <a:endParaRPr b="0" lang="en-US" sz="2000" spc="-1" strike="noStrike">
              <a:solidFill>
                <a:srgbClr val="000000"/>
              </a:solidFill>
              <a:latin typeface="Arial"/>
            </a:endParaRPr>
          </a:p>
        </p:txBody>
      </p:sp>
      <p:sp>
        <p:nvSpPr>
          <p:cNvPr id="34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6002B38-EF13-44FB-99F6-CC5E9CB8484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Quick roadmap. Five parts, five speakers. We start with the theory of certificates and trust, then how we actually built the CA, then revocation and mutual TLS, then a live demonstration plus the renewal automation, and finally the real-world failures that shaped our design.</a:t>
            </a:r>
            <a:endParaRPr b="0" lang="en-US" sz="2000" spc="-1" strike="noStrike">
              <a:solidFill>
                <a:srgbClr val="000000"/>
              </a:solidFill>
              <a:latin typeface="Arial"/>
            </a:endParaRPr>
          </a:p>
        </p:txBody>
      </p:sp>
      <p:sp>
        <p:nvSpPr>
          <p:cNvPr id="35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E6CC84C-DD00-49D3-81E0-3E3501DC0E0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Everything in PKI exists to answer one question: does this </a:t>
            </a:r>
            <a:r>
              <a:rPr b="0" lang="en-US" sz="2000" spc="-1" strike="noStrike">
                <a:solidFill>
                  <a:srgbClr val="000000"/>
                </a:solidFill>
                <a:latin typeface="Arial"/>
              </a:rPr>
              <a:t>public key really belong to who it claims? The CA acts as a </a:t>
            </a:r>
            <a:r>
              <a:rPr b="0" lang="en-US" sz="2000" spc="-1" strike="noStrike">
                <a:solidFill>
                  <a:srgbClr val="000000"/>
                </a:solidFill>
                <a:latin typeface="Arial"/>
              </a:rPr>
              <a:t>trusted third party that vouches for that binding by signing the </a:t>
            </a:r>
            <a:r>
              <a:rPr b="0" lang="en-US" sz="2000" spc="-1" strike="noStrike">
                <a:solidFill>
                  <a:srgbClr val="000000"/>
                </a:solidFill>
                <a:latin typeface="Arial"/>
              </a:rPr>
              <a:t>certificate. From that single mechanism we get the three TLS </a:t>
            </a:r>
            <a:r>
              <a:rPr b="0" lang="en-US" sz="2000" spc="-1" strike="noStrike">
                <a:solidFill>
                  <a:srgbClr val="000000"/>
                </a:solidFill>
                <a:latin typeface="Arial"/>
              </a:rPr>
              <a:t>guarantees on the right: authentication, confidentiality and </a:t>
            </a:r>
            <a:r>
              <a:rPr b="0" lang="en-US" sz="2000" spc="-1" strike="noStrike">
                <a:solidFill>
                  <a:srgbClr val="000000"/>
                </a:solidFill>
                <a:latin typeface="Arial"/>
              </a:rPr>
              <a:t>integrity.</a:t>
            </a:r>
            <a:endParaRPr b="0" lang="en-US" sz="2000" spc="-1" strike="noStrike">
              <a:solidFill>
                <a:srgbClr val="000000"/>
              </a:solidFill>
              <a:latin typeface="Arial"/>
            </a:endParaRPr>
          </a:p>
        </p:txBody>
      </p:sp>
      <p:sp>
        <p:nvSpPr>
          <p:cNvPr id="35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ABA8C0C-855A-4CF6-9D2C-491F8B98369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685800" y="1143000"/>
            <a:ext cx="5486040" cy="3085920"/>
          </a:xfrm>
          <a:prstGeom prst="rect">
            <a:avLst/>
          </a:prstGeom>
          <a:ln w="0">
            <a:noFill/>
          </a:ln>
        </p:spPr>
      </p:sp>
      <p:sp>
        <p:nvSpPr>
          <p:cNvPr id="3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 v3 certificate is core identity fields plus extensions — and the extensions are what make modern PKI work. Basic Constraints separate CAs from leaf certs. Key Usage and EKU pin down what a cert may do — this is what distinguishes a server cert from a client cert. The one to remember is the SAN, highlighted: browsers no longer look at the Common Name at all and match the hostname only against the SAN. We learned that the hard way.</a:t>
            </a:r>
            <a:endParaRPr b="0" lang="en-US" sz="2000" spc="-1" strike="noStrike">
              <a:solidFill>
                <a:srgbClr val="000000"/>
              </a:solidFill>
              <a:latin typeface="Arial"/>
            </a:endParaRPr>
          </a:p>
        </p:txBody>
      </p:sp>
      <p:sp>
        <p:nvSpPr>
          <p:cNvPr id="35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41A2ABE-CF07-48E3-A046-02D4C23F999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685800" y="1143000"/>
            <a:ext cx="5486040" cy="3085920"/>
          </a:xfrm>
          <a:prstGeom prst="rect">
            <a:avLst/>
          </a:prstGeom>
          <a:ln w="0">
            <a:noFill/>
          </a:ln>
        </p:spPr>
      </p:sp>
      <p:sp>
        <p:nvSpPr>
          <p:cNvPr id="3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Public PKI uses a </a:t>
            </a:r>
            <a:r>
              <a:rPr b="0" lang="en-US" sz="2000" spc="-1" strike="noStrike">
                <a:solidFill>
                  <a:srgbClr val="000000"/>
                </a:solidFill>
                <a:latin typeface="Arial"/>
              </a:rPr>
              <a:t>hierarchy. The Root is </a:t>
            </a:r>
            <a:r>
              <a:rPr b="0" lang="en-US" sz="2000" spc="-1" strike="noStrike">
                <a:solidFill>
                  <a:srgbClr val="000000"/>
                </a:solidFill>
                <a:latin typeface="Arial"/>
              </a:rPr>
              <a:t>the trust anchor — self-</a:t>
            </a:r>
            <a:r>
              <a:rPr b="0" lang="en-US" sz="2000" spc="-1" strike="noStrike">
                <a:solidFill>
                  <a:srgbClr val="000000"/>
                </a:solidFill>
                <a:latin typeface="Arial"/>
              </a:rPr>
              <a:t>signed, very long-lived, </a:t>
            </a:r>
            <a:r>
              <a:rPr b="0" lang="en-US" sz="2000" spc="-1" strike="noStrike">
                <a:solidFill>
                  <a:srgbClr val="000000"/>
                </a:solidFill>
                <a:latin typeface="Arial"/>
              </a:rPr>
              <a:t>and kept offline. It signs </a:t>
            </a:r>
            <a:r>
              <a:rPr b="0" lang="en-US" sz="2000" spc="-1" strike="noStrike">
                <a:solidFill>
                  <a:srgbClr val="000000"/>
                </a:solidFill>
                <a:latin typeface="Arial"/>
              </a:rPr>
              <a:t>exactly one thing: the </a:t>
            </a:r>
            <a:r>
              <a:rPr b="0" lang="en-US" sz="2000" spc="-1" strike="noStrike">
                <a:solidFill>
                  <a:srgbClr val="000000"/>
                </a:solidFill>
                <a:latin typeface="Arial"/>
              </a:rPr>
              <a:t>Intermediate. The </a:t>
            </a:r>
            <a:r>
              <a:rPr b="0" lang="en-US" sz="2000" spc="-1" strike="noStrike">
                <a:solidFill>
                  <a:srgbClr val="000000"/>
                </a:solidFill>
                <a:latin typeface="Arial"/>
              </a:rPr>
              <a:t>Intermediate does the </a:t>
            </a:r>
            <a:r>
              <a:rPr b="0" lang="en-US" sz="2000" spc="-1" strike="noStrike">
                <a:solidFill>
                  <a:srgbClr val="000000"/>
                </a:solidFill>
                <a:latin typeface="Arial"/>
              </a:rPr>
              <a:t>daily work of issuing </a:t>
            </a:r>
            <a:r>
              <a:rPr b="0" lang="en-US" sz="2000" spc="-1" strike="noStrike">
                <a:solidFill>
                  <a:srgbClr val="000000"/>
                </a:solidFill>
                <a:latin typeface="Arial"/>
              </a:rPr>
              <a:t>server and client certs. </a:t>
            </a:r>
            <a:r>
              <a:rPr b="0" lang="en-US" sz="2000" spc="-1" strike="noStrike">
                <a:solidFill>
                  <a:srgbClr val="000000"/>
                </a:solidFill>
                <a:latin typeface="Arial"/>
              </a:rPr>
              <a:t>The pathlen:0 constraint </a:t>
            </a:r>
            <a:r>
              <a:rPr b="0" lang="en-US" sz="2000" spc="-1" strike="noStrike">
                <a:solidFill>
                  <a:srgbClr val="000000"/>
                </a:solidFill>
                <a:latin typeface="Arial"/>
              </a:rPr>
              <a:t>stops it from creating </a:t>
            </a:r>
            <a:r>
              <a:rPr b="0" lang="en-US" sz="2000" spc="-1" strike="noStrike">
                <a:solidFill>
                  <a:srgbClr val="000000"/>
                </a:solidFill>
                <a:latin typeface="Arial"/>
              </a:rPr>
              <a:t>further CAs. The payoff </a:t>
            </a:r>
            <a:r>
              <a:rPr b="0" lang="en-US" sz="2000" spc="-1" strike="noStrike">
                <a:solidFill>
                  <a:srgbClr val="000000"/>
                </a:solidFill>
                <a:latin typeface="Arial"/>
              </a:rPr>
              <a:t>is in the banner: if the </a:t>
            </a:r>
            <a:r>
              <a:rPr b="0" lang="en-US" sz="2000" spc="-1" strike="noStrike">
                <a:solidFill>
                  <a:srgbClr val="000000"/>
                </a:solidFill>
                <a:latin typeface="Arial"/>
              </a:rPr>
              <a:t>online Intermediate is </a:t>
            </a:r>
            <a:r>
              <a:rPr b="0" lang="en-US" sz="2000" spc="-1" strike="noStrike">
                <a:solidFill>
                  <a:srgbClr val="000000"/>
                </a:solidFill>
                <a:latin typeface="Arial"/>
              </a:rPr>
              <a:t>ever compromised, you </a:t>
            </a:r>
            <a:r>
              <a:rPr b="0" lang="en-US" sz="2000" spc="-1" strike="noStrike">
                <a:solidFill>
                  <a:srgbClr val="000000"/>
                </a:solidFill>
                <a:latin typeface="Arial"/>
              </a:rPr>
              <a:t>revoke and replace it </a:t>
            </a:r>
            <a:r>
              <a:rPr b="0" lang="en-US" sz="2000" spc="-1" strike="noStrike">
                <a:solidFill>
                  <a:srgbClr val="000000"/>
                </a:solidFill>
                <a:latin typeface="Arial"/>
              </a:rPr>
              <a:t>without touching the </a:t>
            </a:r>
            <a:r>
              <a:rPr b="0" lang="en-US" sz="2000" spc="-1" strike="noStrike">
                <a:solidFill>
                  <a:srgbClr val="000000"/>
                </a:solidFill>
                <a:latin typeface="Arial"/>
              </a:rPr>
              <a:t>Root.</a:t>
            </a:r>
            <a:endParaRPr b="0" lang="en-US" sz="2000" spc="-1" strike="noStrike">
              <a:solidFill>
                <a:srgbClr val="000000"/>
              </a:solidFill>
              <a:latin typeface="Arial"/>
            </a:endParaRPr>
          </a:p>
        </p:txBody>
      </p:sp>
      <p:sp>
        <p:nvSpPr>
          <p:cNvPr id="36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889D9E3-7ECF-4EC4-99B5-5B55F93F051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685800" y="1143000"/>
            <a:ext cx="5486040" cy="3085920"/>
          </a:xfrm>
          <a:prstGeom prst="rect">
            <a:avLst/>
          </a:prstGeom>
          <a:ln w="0">
            <a:noFill/>
          </a:ln>
        </p:spPr>
      </p:sp>
      <p:sp>
        <p:nvSpPr>
          <p:cNvPr id="3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Concretely: everything is built with OpenSSL, deployed on Nginx on Ubuntu, and protected end to end with mutual TLS. The four cards are our key parameters — a two-tier CA, 4096-bit CA keys and 2048-bit leaf keys, 375-day end-entity certs in line with current browser limits, all renewed automatically, which is the part we'll demo at the end.</a:t>
            </a:r>
            <a:endParaRPr b="0" lang="en-US" sz="2000" spc="-1" strike="noStrike">
              <a:solidFill>
                <a:srgbClr val="000000"/>
              </a:solidFill>
              <a:latin typeface="Arial"/>
            </a:endParaRPr>
          </a:p>
        </p:txBody>
      </p:sp>
      <p:sp>
        <p:nvSpPr>
          <p:cNvPr id="36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0A0A55F-F78D-41A7-8F99-BBEF16C6D2E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685800" y="1143000"/>
            <a:ext cx="5486040" cy="3085920"/>
          </a:xfrm>
          <a:prstGeom prst="rect">
            <a:avLst/>
          </a:prstGeom>
          <a:ln w="0">
            <a:noFill/>
          </a:ln>
        </p:spPr>
      </p:sp>
      <p:sp>
        <p:nvSpPr>
          <p:cNvPr id="3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Building the hierarchy is three moves. One: create the Root — a strong encrypted key and a self-signed certificate. Two: create the Intermediate key and a signing request, and have the Root sign it, with pathlen:0 so it can't spawn more CAs. Three: bundle the Intermediate and Root together so any client can verify a leaf certificate all the way up to the trust anchor.</a:t>
            </a:r>
            <a:endParaRPr b="0" lang="en-US" sz="2000" spc="-1" strike="noStrike">
              <a:solidFill>
                <a:srgbClr val="000000"/>
              </a:solidFill>
              <a:latin typeface="Arial"/>
            </a:endParaRPr>
          </a:p>
        </p:txBody>
      </p:sp>
      <p:sp>
        <p:nvSpPr>
          <p:cNvPr id="36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D1DC4A-2CB3-44C1-A597-66184792CCF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685800" y="1143000"/>
            <a:ext cx="5486040" cy="3085920"/>
          </a:xfrm>
          <a:prstGeom prst="rect">
            <a:avLst/>
          </a:prstGeom>
          <a:ln w="0">
            <a:noFill/>
          </a:ln>
        </p:spPr>
      </p:sp>
      <p:sp>
        <p:nvSpPr>
          <p:cNvPr id="3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Intermediate then issues the leaf certs. The server cert carries the hostname in both CN and SAN and is served as a fullchain so clients can build the path. We issue two client certs on purpose: prof stays valid for the success demo, student gets revoked for the failure demo. The amber banner is the lesson we hit immediately — without a SAN the browser refuses the certificate outright, regardless of the Common Name.</a:t>
            </a:r>
            <a:endParaRPr b="0" lang="en-US" sz="2000" spc="-1" strike="noStrike">
              <a:solidFill>
                <a:srgbClr val="000000"/>
              </a:solidFill>
              <a:latin typeface="Arial"/>
            </a:endParaRPr>
          </a:p>
        </p:txBody>
      </p:sp>
      <p:sp>
        <p:nvSpPr>
          <p:cNvPr id="37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EEE004F-BF60-4D7D-877B-2E91141CE64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685800" y="1143000"/>
            <a:ext cx="5486040" cy="3085920"/>
          </a:xfrm>
          <a:prstGeom prst="rect">
            <a:avLst/>
          </a:prstGeom>
          <a:ln w="0">
            <a:noFill/>
          </a:ln>
        </p:spPr>
      </p:sp>
      <p:sp>
        <p:nvSpPr>
          <p:cNvPr id="3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Revocation lets us invalidate a certificate before it expires. We revoke the student cert, regenerate the signed CRL, and Nginx consults it on every handshake. A subtle point we discovered, in the amber box: Nginx checks revocation for the entire chain, so we also had to generate a Root CRL and serve a combined file — otherwise it rejected every client cert, valid or not. Note CRLs go over plain HTTP by design: they're signed and public, and HTTPS would be circular.</a:t>
            </a:r>
            <a:endParaRPr b="0" lang="en-US" sz="2000" spc="-1" strike="noStrike">
              <a:solidFill>
                <a:srgbClr val="000000"/>
              </a:solidFill>
              <a:latin typeface="Arial"/>
            </a:endParaRPr>
          </a:p>
        </p:txBody>
      </p:sp>
      <p:sp>
        <p:nvSpPr>
          <p:cNvPr id="37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65BF2D5-3F7E-4242-A9AE-58052FBE1A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685800" y="1143000"/>
            <a:ext cx="5486040" cy="3085920"/>
          </a:xfrm>
          <a:prstGeom prst="rect">
            <a:avLst/>
          </a:prstGeom>
          <a:ln w="0">
            <a:noFill/>
          </a:ln>
        </p:spPr>
      </p:sp>
      <p:sp>
        <p:nvSpPr>
          <p:cNvPr id="3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Standard TLS is one-way: the server proves its identity, the client stays anonymous — fine for public websites. Mutual TLS makes it two-way: both sides present and verify certificates. The mechanism is one extra message, the CertificateRequest, plus the client's own certificate. That's why mTLS is the backbone of zero-trust, service meshes and machine-to-machine APIs.</a:t>
            </a:r>
            <a:endParaRPr b="0" lang="en-US" sz="2000" spc="-1" strike="noStrike">
              <a:solidFill>
                <a:srgbClr val="000000"/>
              </a:solidFill>
              <a:latin typeface="Arial"/>
            </a:endParaRPr>
          </a:p>
        </p:txBody>
      </p:sp>
      <p:sp>
        <p:nvSpPr>
          <p:cNvPr id="37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FE11762-4381-4098-9707-2CD54F90A77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685800" y="1143000"/>
            <a:ext cx="5486040" cy="3085920"/>
          </a:xfrm>
          <a:prstGeom prst="rect">
            <a:avLst/>
          </a:prstGeom>
          <a:ln w="0">
            <a:noFill/>
          </a:ln>
        </p:spPr>
      </p:sp>
      <p:sp>
        <p:nvSpPr>
          <p:cNvPr id="3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extended handshake. The standard parts are greyed; the teal steps are mTLS-specific. The server asks for a client certificate with CertificateRequest. The client sends its cert and, crucially, a CertificateVerify — a signature over the handshake that proves it holds the private key. The server validates that cert against our CA chain, checks the clientAuth EKU and revocation, and only then are session keys derived. If any check fails, the connection is dropped.</a:t>
            </a:r>
            <a:endParaRPr b="0" lang="en-US" sz="2000" spc="-1" strike="noStrike">
              <a:solidFill>
                <a:srgbClr val="000000"/>
              </a:solidFill>
              <a:latin typeface="Arial"/>
            </a:endParaRPr>
          </a:p>
        </p:txBody>
      </p:sp>
      <p:sp>
        <p:nvSpPr>
          <p:cNvPr id="37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D72A7B0-EBAE-410C-808E-466564C9480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685800" y="1143000"/>
            <a:ext cx="5486040" cy="3085920"/>
          </a:xfrm>
          <a:prstGeom prst="rect">
            <a:avLst/>
          </a:prstGeom>
          <a:ln w="0">
            <a:noFill/>
          </a:ln>
        </p:spPr>
      </p:sp>
      <p:sp>
        <p:nvSpPr>
          <p:cNvPr id="3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heart of the demo — switch to the terminal now. </a:t>
            </a:r>
            <a:r>
              <a:rPr b="0" lang="en-US" sz="2000" spc="-1" strike="noStrike">
                <a:solidFill>
                  <a:srgbClr val="000000"/>
                </a:solidFill>
                <a:latin typeface="Arial"/>
              </a:rPr>
              <a:t>Run three curl commands. No client cert: rejected, 400, 'no </a:t>
            </a:r>
            <a:r>
              <a:rPr b="0" lang="en-US" sz="2000" spc="-1" strike="noStrike">
                <a:solidFill>
                  <a:srgbClr val="000000"/>
                </a:solidFill>
                <a:latin typeface="Arial"/>
              </a:rPr>
              <a:t>certificate was sent.' Valid prof cert: 200 OK, and notice the X-</a:t>
            </a:r>
            <a:r>
              <a:rPr b="0" lang="en-US" sz="2000" spc="-1" strike="noStrike">
                <a:solidFill>
                  <a:srgbClr val="000000"/>
                </a:solidFill>
                <a:latin typeface="Arial"/>
              </a:rPr>
              <a:t>Client-Verify SUCCESS header — Nginx tells us exactly who </a:t>
            </a:r>
            <a:r>
              <a:rPr b="0" lang="en-US" sz="2000" spc="-1" strike="noStrike">
                <a:solidFill>
                  <a:srgbClr val="000000"/>
                </a:solidFill>
                <a:latin typeface="Arial"/>
              </a:rPr>
              <a:t>authenticated. Revoked student cert: rejected again, but with </a:t>
            </a:r>
            <a:r>
              <a:rPr b="0" lang="en-US" sz="2000" spc="-1" strike="noStrike">
                <a:solidFill>
                  <a:srgbClr val="000000"/>
                </a:solidFill>
                <a:latin typeface="Arial"/>
              </a:rPr>
              <a:t>a different message, 'SSL certificate error,' proving the CRL is </a:t>
            </a:r>
            <a:r>
              <a:rPr b="0" lang="en-US" sz="2000" spc="-1" strike="noStrike">
                <a:solidFill>
                  <a:srgbClr val="000000"/>
                </a:solidFill>
                <a:latin typeface="Arial"/>
              </a:rPr>
              <a:t>doing its job. Then open it in the browser to show the padlock </a:t>
            </a:r>
            <a:r>
              <a:rPr b="0" lang="en-US" sz="2000" spc="-1" strike="noStrike">
                <a:solidFill>
                  <a:srgbClr val="000000"/>
                </a:solidFill>
                <a:latin typeface="Arial"/>
              </a:rPr>
              <a:t>and the chain. Three requests, three outcomes — that's </a:t>
            </a:r>
            <a:r>
              <a:rPr b="0" lang="en-US" sz="2000" spc="-1" strike="noStrike">
                <a:solidFill>
                  <a:srgbClr val="000000"/>
                </a:solidFill>
                <a:latin typeface="Arial"/>
              </a:rPr>
              <a:t>mutual TLS plus revocation working end to end.</a:t>
            </a:r>
            <a:endParaRPr b="0" lang="en-US" sz="2000" spc="-1" strike="noStrike">
              <a:solidFill>
                <a:srgbClr val="000000"/>
              </a:solidFill>
              <a:latin typeface="Arial"/>
            </a:endParaRPr>
          </a:p>
        </p:txBody>
      </p:sp>
      <p:sp>
        <p:nvSpPr>
          <p:cNvPr id="38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F0F4FB8-D691-4EBD-9A4A-1DE459FC057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685800" y="1143000"/>
            <a:ext cx="5486040" cy="3085920"/>
          </a:xfrm>
          <a:prstGeom prst="rect">
            <a:avLst/>
          </a:prstGeom>
          <a:ln w="0">
            <a:noFill/>
          </a:ln>
        </p:spPr>
      </p:sp>
      <p:sp>
        <p:nvSpPr>
          <p:cNvPr id="3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Short-lived certs only work if renewal is automatic — and the cost of forgetting is real: Equifax lost 145 million records because one inspection certificate sat expired for ten months. Our pipeline, on the right, is a daily cron job that renews only when fewer than 30 days remain, exactly like certbot. It re-keys, signs, verifies against the chain, backs up the old files, swaps atomically, and only reloads Nginx if the config tests clean. Both server and client certs are tracked, and a weekly job keeps the CRL fresh.</a:t>
            </a:r>
            <a:endParaRPr b="0" lang="en-US" sz="2000" spc="-1" strike="noStrike">
              <a:solidFill>
                <a:srgbClr val="000000"/>
              </a:solidFill>
              <a:latin typeface="Arial"/>
            </a:endParaRPr>
          </a:p>
        </p:txBody>
      </p:sp>
      <p:sp>
        <p:nvSpPr>
          <p:cNvPr id="38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8E890A3-9966-4DD6-B753-45F77AEC5AF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685800" y="1143000"/>
            <a:ext cx="5486040" cy="3085920"/>
          </a:xfrm>
          <a:prstGeom prst="rect">
            <a:avLst/>
          </a:prstGeom>
          <a:ln w="0">
            <a:noFill/>
          </a:ln>
        </p:spPr>
      </p:sp>
      <p:sp>
        <p:nvSpPr>
          <p:cNvPr id="3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PKI's weak points aren't </a:t>
            </a:r>
            <a:r>
              <a:rPr b="0" lang="en-US" sz="2000" spc="-1" strike="noStrike">
                <a:solidFill>
                  <a:srgbClr val="000000"/>
                </a:solidFill>
                <a:latin typeface="Arial"/>
              </a:rPr>
              <a:t>the cryptography — </a:t>
            </a:r>
            <a:r>
              <a:rPr b="0" lang="en-US" sz="2000" spc="-1" strike="noStrike">
                <a:solidFill>
                  <a:srgbClr val="000000"/>
                </a:solidFill>
                <a:latin typeface="Arial"/>
              </a:rPr>
              <a:t>they're the edges: </a:t>
            </a:r>
            <a:r>
              <a:rPr b="0" lang="en-US" sz="2000" spc="-1" strike="noStrike">
                <a:solidFill>
                  <a:srgbClr val="000000"/>
                </a:solidFill>
                <a:latin typeface="Arial"/>
              </a:rPr>
              <a:t>operations, governance, </a:t>
            </a:r>
            <a:r>
              <a:rPr b="0" lang="en-US" sz="2000" spc="-1" strike="noStrike">
                <a:solidFill>
                  <a:srgbClr val="000000"/>
                </a:solidFill>
                <a:latin typeface="Arial"/>
              </a:rPr>
              <a:t>revocation. Four </a:t>
            </a:r>
            <a:r>
              <a:rPr b="0" lang="en-US" sz="2000" spc="-1" strike="noStrike">
                <a:solidFill>
                  <a:srgbClr val="000000"/>
                </a:solidFill>
                <a:latin typeface="Arial"/>
              </a:rPr>
              <a:t>documented cases. </a:t>
            </a:r>
            <a:r>
              <a:rPr b="0" lang="en-US" sz="2000" spc="-1" strike="noStrike">
                <a:solidFill>
                  <a:srgbClr val="000000"/>
                </a:solidFill>
                <a:latin typeface="Arial"/>
              </a:rPr>
              <a:t>DigiNotar: a breached </a:t>
            </a:r>
            <a:r>
              <a:rPr b="0" lang="en-US" sz="2000" spc="-1" strike="noStrike">
                <a:solidFill>
                  <a:srgbClr val="000000"/>
                </a:solidFill>
                <a:latin typeface="Arial"/>
              </a:rPr>
              <a:t>CA issued fake Google </a:t>
            </a:r>
            <a:r>
              <a:rPr b="0" lang="en-US" sz="2000" spc="-1" strike="noStrike">
                <a:solidFill>
                  <a:srgbClr val="000000"/>
                </a:solidFill>
                <a:latin typeface="Arial"/>
              </a:rPr>
              <a:t>certs to spy on Iranian </a:t>
            </a:r>
            <a:r>
              <a:rPr b="0" lang="en-US" sz="2000" spc="-1" strike="noStrike">
                <a:solidFill>
                  <a:srgbClr val="000000"/>
                </a:solidFill>
                <a:latin typeface="Arial"/>
              </a:rPr>
              <a:t>users — which is </a:t>
            </a:r>
            <a:r>
              <a:rPr b="0" lang="en-US" sz="2000" spc="-1" strike="noStrike">
                <a:solidFill>
                  <a:srgbClr val="000000"/>
                </a:solidFill>
                <a:latin typeface="Arial"/>
              </a:rPr>
              <a:t>exactly why we keep the </a:t>
            </a:r>
            <a:r>
              <a:rPr b="0" lang="en-US" sz="2000" spc="-1" strike="noStrike">
                <a:solidFill>
                  <a:srgbClr val="000000"/>
                </a:solidFill>
                <a:latin typeface="Arial"/>
              </a:rPr>
              <a:t>Root offline. Symantec: </a:t>
            </a:r>
            <a:r>
              <a:rPr b="0" lang="en-US" sz="2000" spc="-1" strike="noStrike">
                <a:solidFill>
                  <a:srgbClr val="000000"/>
                </a:solidFill>
                <a:latin typeface="Arial"/>
              </a:rPr>
              <a:t>tens of thousands of </a:t>
            </a:r>
            <a:r>
              <a:rPr b="0" lang="en-US" sz="2000" spc="-1" strike="noStrike">
                <a:solidFill>
                  <a:srgbClr val="000000"/>
                </a:solidFill>
                <a:latin typeface="Arial"/>
              </a:rPr>
              <a:t>misissued certs, a </a:t>
            </a:r>
            <a:r>
              <a:rPr b="0" lang="en-US" sz="2000" spc="-1" strike="noStrike">
                <a:solidFill>
                  <a:srgbClr val="000000"/>
                </a:solidFill>
                <a:latin typeface="Arial"/>
              </a:rPr>
              <a:t>governance failure. </a:t>
            </a:r>
            <a:r>
              <a:rPr b="0" lang="en-US" sz="2000" spc="-1" strike="noStrike">
                <a:solidFill>
                  <a:srgbClr val="000000"/>
                </a:solidFill>
                <a:latin typeface="Arial"/>
              </a:rPr>
              <a:t>Heartbleed: mass key </a:t>
            </a:r>
            <a:r>
              <a:rPr b="0" lang="en-US" sz="2000" spc="-1" strike="noStrike">
                <a:solidFill>
                  <a:srgbClr val="000000"/>
                </a:solidFill>
                <a:latin typeface="Arial"/>
              </a:rPr>
              <a:t>leakage exposed that </a:t>
            </a:r>
            <a:r>
              <a:rPr b="0" lang="en-US" sz="2000" spc="-1" strike="noStrike">
                <a:solidFill>
                  <a:srgbClr val="000000"/>
                </a:solidFill>
                <a:latin typeface="Arial"/>
              </a:rPr>
              <a:t>revocation barely works, </a:t>
            </a:r>
            <a:r>
              <a:rPr b="0" lang="en-US" sz="2000" spc="-1" strike="noStrike">
                <a:solidFill>
                  <a:srgbClr val="000000"/>
                </a:solidFill>
                <a:latin typeface="Arial"/>
              </a:rPr>
              <a:t>pushing the industry to </a:t>
            </a:r>
            <a:r>
              <a:rPr b="0" lang="en-US" sz="2000" spc="-1" strike="noStrike">
                <a:solidFill>
                  <a:srgbClr val="000000"/>
                </a:solidFill>
                <a:latin typeface="Arial"/>
              </a:rPr>
              <a:t>short-lived certs. And </a:t>
            </a:r>
            <a:r>
              <a:rPr b="0" lang="en-US" sz="2000" spc="-1" strike="noStrike">
                <a:solidFill>
                  <a:srgbClr val="000000"/>
                </a:solidFill>
                <a:latin typeface="Arial"/>
              </a:rPr>
              <a:t>Equifax: a single </a:t>
            </a:r>
            <a:r>
              <a:rPr b="0" lang="en-US" sz="2000" spc="-1" strike="noStrike">
                <a:solidFill>
                  <a:srgbClr val="000000"/>
                </a:solidFill>
                <a:latin typeface="Arial"/>
              </a:rPr>
              <a:t>forgotten renewal. Each </a:t>
            </a:r>
            <a:r>
              <a:rPr b="0" lang="en-US" sz="2000" spc="-1" strike="noStrike">
                <a:solidFill>
                  <a:srgbClr val="000000"/>
                </a:solidFill>
                <a:latin typeface="Arial"/>
              </a:rPr>
              <a:t>one maps directly to a </a:t>
            </a:r>
            <a:r>
              <a:rPr b="0" lang="en-US" sz="2000" spc="-1" strike="noStrike">
                <a:solidFill>
                  <a:srgbClr val="000000"/>
                </a:solidFill>
                <a:latin typeface="Arial"/>
              </a:rPr>
              <a:t>choice in our build.</a:t>
            </a:r>
            <a:endParaRPr b="0" lang="en-US" sz="2000" spc="-1" strike="noStrike">
              <a:solidFill>
                <a:srgbClr val="000000"/>
              </a:solidFill>
              <a:latin typeface="Arial"/>
            </a:endParaRPr>
          </a:p>
        </p:txBody>
      </p:sp>
      <p:sp>
        <p:nvSpPr>
          <p:cNvPr id="38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E7E1002-C948-488A-BC74-1A794C27800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685800" y="1143000"/>
            <a:ext cx="5486040" cy="3085920"/>
          </a:xfrm>
          <a:prstGeom prst="rect">
            <a:avLst/>
          </a:prstGeom>
          <a:ln w="0">
            <a:noFill/>
          </a:ln>
        </p:spPr>
      </p:sp>
      <p:sp>
        <p:nvSpPr>
          <p:cNvPr id="3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 every architectural decision answers a documented failure. Offline Root, because of DigiNotar. Strict separation of server and client key usage. Automated renewal, because of Equifax. Scheduled CRL refresh for revocation hygiene. Encrypted keys with locked-down permissions. And SAN plus fullchain on everything, so it works in a real browser and not only on the command line. The synthesis from our report: PKI breaks at its edges, so we hardened the edges.</a:t>
            </a:r>
            <a:endParaRPr b="0" lang="en-US" sz="2000" spc="-1" strike="noStrike">
              <a:solidFill>
                <a:srgbClr val="000000"/>
              </a:solidFill>
              <a:latin typeface="Arial"/>
            </a:endParaRPr>
          </a:p>
        </p:txBody>
      </p:sp>
      <p:sp>
        <p:nvSpPr>
          <p:cNvPr id="39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DBC3743-AFF1-4D5F-B366-0D9A3EEFFA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a:t>
            </a:r>
            <a:r>
              <a:rPr b="0" lang="en-US" sz="1800" spc="-1" strike="noStrike">
                <a:solidFill>
                  <a:schemeClr val="dk1"/>
                </a:solidFill>
                <a:latin typeface="Calibri"/>
              </a:rPr>
              <a:t>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slideLayout" Target="../slideLayouts/slideLayout1.xml"/><Relationship Id="rId9"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6.png"/><Relationship Id="rId3" Type="http://schemas.openxmlformats.org/officeDocument/2006/relationships/image" Target="../media/image6.png"/><Relationship Id="rId4" Type="http://schemas.openxmlformats.org/officeDocument/2006/relationships/image" Target="../media/image6.png"/><Relationship Id="rId5" Type="http://schemas.openxmlformats.org/officeDocument/2006/relationships/image" Target="../media/image6.png"/><Relationship Id="rId6" Type="http://schemas.openxmlformats.org/officeDocument/2006/relationships/image" Target="../media/image6.png"/><Relationship Id="rId7" Type="http://schemas.openxmlformats.org/officeDocument/2006/relationships/image" Target="../media/image6.png"/><Relationship Id="rId8" Type="http://schemas.openxmlformats.org/officeDocument/2006/relationships/slideLayout" Target="../slideLayouts/slideLayout1.xml"/><Relationship Id="rId9"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3.png"/><Relationship Id="rId7" Type="http://schemas.openxmlformats.org/officeDocument/2006/relationships/image" Target="../media/image30.png"/><Relationship Id="rId8" Type="http://schemas.openxmlformats.org/officeDocument/2006/relationships/slideLayout" Target="../slideLayouts/slideLayout1.xml"/><Relationship Id="rId9"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2233"/>
        </a:solidFill>
      </p:bgPr>
    </p:bg>
    <p:spTree>
      <p:nvGrpSpPr>
        <p:cNvPr id="1" name=""/>
        <p:cNvGrpSpPr/>
        <p:nvPr/>
      </p:nvGrpSpPr>
      <p:grpSpPr>
        <a:xfrm>
          <a:off x="0" y="0"/>
          <a:ext cx="0" cy="0"/>
          <a:chOff x="0" y="0"/>
          <a:chExt cx="0" cy="0"/>
        </a:xfrm>
      </p:grpSpPr>
      <p:pic>
        <p:nvPicPr>
          <p:cNvPr id="8" name="Image 0" descr="preencoded.png"/>
          <p:cNvPicPr/>
          <p:nvPr/>
        </p:nvPicPr>
        <p:blipFill>
          <a:blip r:embed="rId1"/>
          <a:stretch/>
        </p:blipFill>
        <p:spPr>
          <a:xfrm>
            <a:off x="6766920" y="1600200"/>
            <a:ext cx="1919880" cy="1919880"/>
          </a:xfrm>
          <a:prstGeom prst="rect">
            <a:avLst/>
          </a:prstGeom>
          <a:ln w="0">
            <a:noFill/>
          </a:ln>
        </p:spPr>
      </p:pic>
      <p:sp>
        <p:nvSpPr>
          <p:cNvPr id="9" name="Text 1"/>
          <p:cNvSpPr/>
          <p:nvPr/>
        </p:nvSpPr>
        <p:spPr>
          <a:xfrm>
            <a:off x="548640" y="91440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299" strike="noStrike">
                <a:solidFill>
                  <a:srgbClr val="33c2ce"/>
                </a:solidFill>
                <a:latin typeface="Calibri"/>
                <a:ea typeface="Calibri"/>
              </a:rPr>
              <a:t>NETWORK SECURITY PROJECT</a:t>
            </a:r>
            <a:endParaRPr b="0" lang="en-US" sz="1300" spc="-1" strike="noStrike">
              <a:solidFill>
                <a:srgbClr val="ffffff"/>
              </a:solidFill>
              <a:latin typeface="Arial"/>
            </a:endParaRPr>
          </a:p>
        </p:txBody>
      </p:sp>
      <p:sp>
        <p:nvSpPr>
          <p:cNvPr id="10" name="Text 2"/>
          <p:cNvSpPr/>
          <p:nvPr/>
        </p:nvSpPr>
        <p:spPr>
          <a:xfrm>
            <a:off x="502920" y="1280160"/>
            <a:ext cx="5668920" cy="1371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300" spc="-1" strike="noStrike">
                <a:solidFill>
                  <a:srgbClr val="ffffff"/>
                </a:solidFill>
                <a:latin typeface="Calibri"/>
                <a:ea typeface="Calibri"/>
              </a:rPr>
              <a:t>Certificate Authority Chain &amp; Mutual TLS on Linux</a:t>
            </a:r>
            <a:endParaRPr b="0" lang="en-US" sz="3300" spc="-1" strike="noStrike">
              <a:solidFill>
                <a:srgbClr val="ffffff"/>
              </a:solidFill>
              <a:latin typeface="Arial"/>
            </a:endParaRPr>
          </a:p>
        </p:txBody>
      </p:sp>
      <p:sp>
        <p:nvSpPr>
          <p:cNvPr id="11" name="Text 3"/>
          <p:cNvSpPr/>
          <p:nvPr/>
        </p:nvSpPr>
        <p:spPr>
          <a:xfrm>
            <a:off x="548640" y="2743200"/>
            <a:ext cx="54860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ffffff"/>
              </a:solidFill>
              <a:latin typeface="Arial"/>
            </a:endParaRPr>
          </a:p>
        </p:txBody>
      </p:sp>
      <p:sp>
        <p:nvSpPr>
          <p:cNvPr id="12" name="Text 4"/>
          <p:cNvSpPr/>
          <p:nvPr/>
        </p:nvSpPr>
        <p:spPr>
          <a:xfrm>
            <a:off x="503280" y="3475080"/>
            <a:ext cx="5668920" cy="63972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200" spc="-1" strike="noStrike">
                <a:solidFill>
                  <a:srgbClr val="d7e2e8"/>
                </a:solidFill>
                <a:latin typeface="Calibri"/>
                <a:ea typeface="Calibri"/>
              </a:rPr>
              <a:t>·  </a:t>
            </a:r>
            <a:r>
              <a:rPr b="0" lang="en-US" sz="1200" spc="-1" strike="noStrike">
                <a:solidFill>
                  <a:srgbClr val="d7e2e8"/>
                </a:solidFill>
                <a:latin typeface="Calibri"/>
                <a:ea typeface="Calibri"/>
              </a:rPr>
              <a:t>Fernandez Ojeda Franklin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Lecky-Thompson Willian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a:t>
            </a:r>
            <a:r>
              <a:rPr b="0" lang="en-US" sz="1200" spc="-1" strike="noStrike">
                <a:solidFill>
                  <a:srgbClr val="d7e2e8"/>
                </a:solidFill>
                <a:latin typeface="Calibri"/>
                <a:ea typeface="Calibri"/>
              </a:rPr>
              <a:t> Otto Aleksandra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a:t>
            </a:r>
            <a:r>
              <a:rPr b="0" lang="en-US" sz="1200" spc="-1" strike="noStrike">
                <a:solidFill>
                  <a:srgbClr val="d7e2e8"/>
                </a:solidFill>
                <a:latin typeface="Calibri"/>
                <a:ea typeface="Calibri"/>
              </a:rPr>
              <a:t>Rafaat Moheeb Eeskandar Abanoub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d7e2e8"/>
                </a:solidFill>
                <a:latin typeface="Calibri"/>
                <a:ea typeface="Calibri"/>
              </a:rPr>
              <a:t>·  Vanderslagmolen Moïra</a:t>
            </a:r>
            <a:endParaRPr b="0" lang="en-US" sz="1200" spc="-1" strike="noStrike">
              <a:solidFill>
                <a:srgbClr val="ffffff"/>
              </a:solidFill>
              <a:latin typeface="Arial"/>
            </a:endParaRPr>
          </a:p>
        </p:txBody>
      </p:sp>
      <p:sp>
        <p:nvSpPr>
          <p:cNvPr id="13" name="Text 5"/>
          <p:cNvSpPr/>
          <p:nvPr/>
        </p:nvSpPr>
        <p:spPr>
          <a:xfrm>
            <a:off x="548640" y="443484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0f9c92"/>
                </a:solidFill>
                <a:latin typeface="Calibri"/>
                <a:ea typeface="Calibri"/>
              </a:rPr>
              <a:t>Université libre de Bruxelles  ·  June 2026</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4"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5" name="Image 0" descr="preencoded.png"/>
          <p:cNvPicPr/>
          <p:nvPr/>
        </p:nvPicPr>
        <p:blipFill>
          <a:blip r:embed="rId1"/>
          <a:stretch/>
        </p:blipFill>
        <p:spPr>
          <a:xfrm>
            <a:off x="589680" y="516600"/>
            <a:ext cx="301320" cy="301320"/>
          </a:xfrm>
          <a:prstGeom prst="rect">
            <a:avLst/>
          </a:prstGeom>
          <a:ln w="0">
            <a:noFill/>
          </a:ln>
        </p:spPr>
      </p:pic>
      <p:sp>
        <p:nvSpPr>
          <p:cNvPr id="16"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OVERVIEW</a:t>
            </a:r>
            <a:endParaRPr b="0" lang="en-US" sz="1100" spc="-1" strike="noStrike">
              <a:solidFill>
                <a:srgbClr val="000000"/>
              </a:solidFill>
              <a:latin typeface="Arial"/>
            </a:endParaRPr>
          </a:p>
        </p:txBody>
      </p:sp>
      <p:sp>
        <p:nvSpPr>
          <p:cNvPr id="17"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Agenda </a:t>
            </a:r>
            <a:endParaRPr b="0" lang="en-US" sz="2500" spc="-1" strike="noStrike">
              <a:solidFill>
                <a:srgbClr val="000000"/>
              </a:solidFill>
              <a:latin typeface="Arial"/>
            </a:endParaRPr>
          </a:p>
        </p:txBody>
      </p:sp>
      <p:sp>
        <p:nvSpPr>
          <p:cNvPr id="18" name="Shape 3"/>
          <p:cNvSpPr/>
          <p:nvPr/>
        </p:nvSpPr>
        <p:spPr>
          <a:xfrm>
            <a:off x="640080" y="1417320"/>
            <a:ext cx="7863480" cy="56664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 name="Shape 4"/>
          <p:cNvSpPr/>
          <p:nvPr/>
        </p:nvSpPr>
        <p:spPr>
          <a:xfrm>
            <a:off x="841320" y="1517760"/>
            <a:ext cx="365400" cy="36540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Text 5"/>
          <p:cNvSpPr/>
          <p:nvPr/>
        </p:nvSpPr>
        <p:spPr>
          <a:xfrm>
            <a:off x="841320" y="151776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1</a:t>
            </a:r>
            <a:endParaRPr b="0" lang="en-US" sz="1600" spc="-1" strike="noStrike">
              <a:solidFill>
                <a:srgbClr val="000000"/>
              </a:solidFill>
              <a:latin typeface="Arial"/>
            </a:endParaRPr>
          </a:p>
        </p:txBody>
      </p:sp>
      <p:sp>
        <p:nvSpPr>
          <p:cNvPr id="21" name="Text 6"/>
          <p:cNvSpPr/>
          <p:nvPr/>
        </p:nvSpPr>
        <p:spPr>
          <a:xfrm>
            <a:off x="1417320" y="1417320"/>
            <a:ext cx="51202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PKI &amp; X.509 foundations</a:t>
            </a:r>
            <a:endParaRPr b="0" lang="en-US" sz="1500" spc="-1" strike="noStrike">
              <a:solidFill>
                <a:srgbClr val="000000"/>
              </a:solidFill>
              <a:latin typeface="Arial"/>
            </a:endParaRPr>
          </a:p>
        </p:txBody>
      </p:sp>
      <p:sp>
        <p:nvSpPr>
          <p:cNvPr id="22" name="Text 7"/>
          <p:cNvSpPr/>
          <p:nvPr/>
        </p:nvSpPr>
        <p:spPr>
          <a:xfrm>
            <a:off x="6400800" y="1417320"/>
            <a:ext cx="1919880" cy="5666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23" name="Shape 8"/>
          <p:cNvSpPr/>
          <p:nvPr/>
        </p:nvSpPr>
        <p:spPr>
          <a:xfrm>
            <a:off x="640080" y="2084760"/>
            <a:ext cx="7863480" cy="56664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 name="Shape 9"/>
          <p:cNvSpPr/>
          <p:nvPr/>
        </p:nvSpPr>
        <p:spPr>
          <a:xfrm>
            <a:off x="841320" y="2185560"/>
            <a:ext cx="365400" cy="36540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Text 10"/>
          <p:cNvSpPr/>
          <p:nvPr/>
        </p:nvSpPr>
        <p:spPr>
          <a:xfrm>
            <a:off x="841320" y="218556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2</a:t>
            </a:r>
            <a:endParaRPr b="0" lang="en-US" sz="1600" spc="-1" strike="noStrike">
              <a:solidFill>
                <a:srgbClr val="000000"/>
              </a:solidFill>
              <a:latin typeface="Arial"/>
            </a:endParaRPr>
          </a:p>
        </p:txBody>
      </p:sp>
      <p:sp>
        <p:nvSpPr>
          <p:cNvPr id="26" name="Text 11"/>
          <p:cNvSpPr/>
          <p:nvPr/>
        </p:nvSpPr>
        <p:spPr>
          <a:xfrm>
            <a:off x="1417320" y="2084760"/>
            <a:ext cx="51202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Building the CA hierarchy</a:t>
            </a:r>
            <a:endParaRPr b="0" lang="en-US" sz="1500" spc="-1" strike="noStrike">
              <a:solidFill>
                <a:srgbClr val="000000"/>
              </a:solidFill>
              <a:latin typeface="Arial"/>
            </a:endParaRPr>
          </a:p>
        </p:txBody>
      </p:sp>
      <p:sp>
        <p:nvSpPr>
          <p:cNvPr id="27" name="Text 12"/>
          <p:cNvSpPr/>
          <p:nvPr/>
        </p:nvSpPr>
        <p:spPr>
          <a:xfrm>
            <a:off x="6400800" y="2084760"/>
            <a:ext cx="1919880" cy="5666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28" name="Shape 13"/>
          <p:cNvSpPr/>
          <p:nvPr/>
        </p:nvSpPr>
        <p:spPr>
          <a:xfrm>
            <a:off x="640080" y="2752200"/>
            <a:ext cx="7863480" cy="56664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 name="Shape 14"/>
          <p:cNvSpPr/>
          <p:nvPr/>
        </p:nvSpPr>
        <p:spPr>
          <a:xfrm>
            <a:off x="841320" y="2853000"/>
            <a:ext cx="365400" cy="36540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Text 15"/>
          <p:cNvSpPr/>
          <p:nvPr/>
        </p:nvSpPr>
        <p:spPr>
          <a:xfrm>
            <a:off x="841320" y="285300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3</a:t>
            </a:r>
            <a:endParaRPr b="0" lang="en-US" sz="1600" spc="-1" strike="noStrike">
              <a:solidFill>
                <a:srgbClr val="000000"/>
              </a:solidFill>
              <a:latin typeface="Arial"/>
            </a:endParaRPr>
          </a:p>
        </p:txBody>
      </p:sp>
      <p:sp>
        <p:nvSpPr>
          <p:cNvPr id="31" name="Text 16"/>
          <p:cNvSpPr/>
          <p:nvPr/>
        </p:nvSpPr>
        <p:spPr>
          <a:xfrm>
            <a:off x="1417320" y="2752200"/>
            <a:ext cx="51202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Revocation &amp; Mutual TLS</a:t>
            </a:r>
            <a:endParaRPr b="0" lang="en-US" sz="1500" spc="-1" strike="noStrike">
              <a:solidFill>
                <a:srgbClr val="000000"/>
              </a:solidFill>
              <a:latin typeface="Arial"/>
            </a:endParaRPr>
          </a:p>
        </p:txBody>
      </p:sp>
      <p:sp>
        <p:nvSpPr>
          <p:cNvPr id="32" name="Text 17"/>
          <p:cNvSpPr/>
          <p:nvPr/>
        </p:nvSpPr>
        <p:spPr>
          <a:xfrm>
            <a:off x="6400800" y="2752200"/>
            <a:ext cx="1919880" cy="5666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33" name="Shape 18"/>
          <p:cNvSpPr/>
          <p:nvPr/>
        </p:nvSpPr>
        <p:spPr>
          <a:xfrm>
            <a:off x="640080" y="3420000"/>
            <a:ext cx="7863480" cy="56664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 name="Shape 19"/>
          <p:cNvSpPr/>
          <p:nvPr/>
        </p:nvSpPr>
        <p:spPr>
          <a:xfrm>
            <a:off x="841320" y="3520440"/>
            <a:ext cx="365400" cy="365400"/>
          </a:xfrm>
          <a:prstGeom prst="ellipse">
            <a:avLst/>
          </a:prstGeom>
          <a:solidFill>
            <a:srgbClr val="33c2c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 name="Text 20"/>
          <p:cNvSpPr/>
          <p:nvPr/>
        </p:nvSpPr>
        <p:spPr>
          <a:xfrm>
            <a:off x="841320" y="352044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4</a:t>
            </a:r>
            <a:endParaRPr b="0" lang="en-US" sz="1600" spc="-1" strike="noStrike">
              <a:solidFill>
                <a:srgbClr val="000000"/>
              </a:solidFill>
              <a:latin typeface="Arial"/>
            </a:endParaRPr>
          </a:p>
        </p:txBody>
      </p:sp>
      <p:sp>
        <p:nvSpPr>
          <p:cNvPr id="36" name="Text 21"/>
          <p:cNvSpPr/>
          <p:nvPr/>
        </p:nvSpPr>
        <p:spPr>
          <a:xfrm>
            <a:off x="1417320" y="3420000"/>
            <a:ext cx="51202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Live demo &amp; automated renewal</a:t>
            </a:r>
            <a:endParaRPr b="0" lang="en-US" sz="1500" spc="-1" strike="noStrike">
              <a:solidFill>
                <a:srgbClr val="000000"/>
              </a:solidFill>
              <a:latin typeface="Arial"/>
            </a:endParaRPr>
          </a:p>
        </p:txBody>
      </p:sp>
      <p:sp>
        <p:nvSpPr>
          <p:cNvPr id="37" name="Text 22"/>
          <p:cNvSpPr/>
          <p:nvPr/>
        </p:nvSpPr>
        <p:spPr>
          <a:xfrm>
            <a:off x="6400800" y="3420000"/>
            <a:ext cx="1919880" cy="5666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38" name="Shape 23"/>
          <p:cNvSpPr/>
          <p:nvPr/>
        </p:nvSpPr>
        <p:spPr>
          <a:xfrm>
            <a:off x="640080" y="4087440"/>
            <a:ext cx="7863480" cy="566640"/>
          </a:xfrm>
          <a:prstGeom prst="roundRect">
            <a:avLst>
              <a:gd name="adj" fmla="val 1290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 name="Shape 24"/>
          <p:cNvSpPr/>
          <p:nvPr/>
        </p:nvSpPr>
        <p:spPr>
          <a:xfrm>
            <a:off x="841320" y="4187880"/>
            <a:ext cx="365400" cy="36540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Text 25"/>
          <p:cNvSpPr/>
          <p:nvPr/>
        </p:nvSpPr>
        <p:spPr>
          <a:xfrm>
            <a:off x="841320" y="418788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ffffff"/>
                </a:solidFill>
                <a:latin typeface="Calibri"/>
                <a:ea typeface="Calibri"/>
              </a:rPr>
              <a:t>5</a:t>
            </a:r>
            <a:endParaRPr b="0" lang="en-US" sz="1600" spc="-1" strike="noStrike">
              <a:solidFill>
                <a:srgbClr val="000000"/>
              </a:solidFill>
              <a:latin typeface="Arial"/>
            </a:endParaRPr>
          </a:p>
        </p:txBody>
      </p:sp>
      <p:sp>
        <p:nvSpPr>
          <p:cNvPr id="41" name="Text 26"/>
          <p:cNvSpPr/>
          <p:nvPr/>
        </p:nvSpPr>
        <p:spPr>
          <a:xfrm>
            <a:off x="1417320" y="4087440"/>
            <a:ext cx="512028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When PKI breaks &amp; lessons</a:t>
            </a:r>
            <a:endParaRPr b="0" lang="en-US" sz="1500" spc="-1" strike="noStrike">
              <a:solidFill>
                <a:srgbClr val="000000"/>
              </a:solidFill>
              <a:latin typeface="Arial"/>
            </a:endParaRPr>
          </a:p>
        </p:txBody>
      </p:sp>
      <p:sp>
        <p:nvSpPr>
          <p:cNvPr id="42" name="Text 27"/>
          <p:cNvSpPr/>
          <p:nvPr/>
        </p:nvSpPr>
        <p:spPr>
          <a:xfrm>
            <a:off x="6400800" y="4087440"/>
            <a:ext cx="1919880" cy="5666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endParaRPr b="0" lang="en-US" sz="1800" spc="-1" strike="noStrike">
              <a:solidFill>
                <a:srgbClr val="000000"/>
              </a:solidFill>
              <a:latin typeface="Arial"/>
            </a:endParaRPr>
          </a:p>
        </p:txBody>
      </p:sp>
      <p:sp>
        <p:nvSpPr>
          <p:cNvPr id="43" name="Text 28"/>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44" name="Text 29"/>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2</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45"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46" name="Image 0" descr="preencoded.png"/>
          <p:cNvPicPr/>
          <p:nvPr/>
        </p:nvPicPr>
        <p:blipFill>
          <a:blip r:embed="rId1"/>
          <a:stretch/>
        </p:blipFill>
        <p:spPr>
          <a:xfrm>
            <a:off x="589680" y="516600"/>
            <a:ext cx="301320" cy="301320"/>
          </a:xfrm>
          <a:prstGeom prst="rect">
            <a:avLst/>
          </a:prstGeom>
          <a:ln w="0">
            <a:noFill/>
          </a:ln>
        </p:spPr>
      </p:pic>
      <p:sp>
        <p:nvSpPr>
          <p:cNvPr id="47"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FOUNDATIONS</a:t>
            </a:r>
            <a:endParaRPr b="0" lang="en-US" sz="1100" spc="-1" strike="noStrike">
              <a:solidFill>
                <a:srgbClr val="000000"/>
              </a:solidFill>
              <a:latin typeface="Arial"/>
            </a:endParaRPr>
          </a:p>
        </p:txBody>
      </p:sp>
      <p:sp>
        <p:nvSpPr>
          <p:cNvPr id="48"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The trust problem PKI solves</a:t>
            </a:r>
            <a:endParaRPr b="0" lang="en-US" sz="2500" spc="-1" strike="noStrike">
              <a:solidFill>
                <a:srgbClr val="000000"/>
              </a:solidFill>
              <a:latin typeface="Arial"/>
            </a:endParaRPr>
          </a:p>
        </p:txBody>
      </p:sp>
      <p:sp>
        <p:nvSpPr>
          <p:cNvPr id="49" name="Text 3"/>
          <p:cNvSpPr/>
          <p:nvPr/>
        </p:nvSpPr>
        <p:spPr>
          <a:xfrm>
            <a:off x="548640" y="1417320"/>
            <a:ext cx="4571640" cy="3017160"/>
          </a:xfrm>
          <a:prstGeom prst="rect">
            <a:avLst/>
          </a:prstGeom>
          <a:noFill/>
          <a:ln w="0">
            <a:noFill/>
          </a:ln>
        </p:spPr>
        <p:style>
          <a:lnRef idx="0"/>
          <a:fillRef idx="0"/>
          <a:effectRef idx="0"/>
          <a:fontRef idx="minor"/>
        </p:style>
        <p:txBody>
          <a:bodyPr lIns="0" rIns="0" tIns="0" bIns="0" anchor="t">
            <a:noAutofit/>
          </a:bodyPr>
          <a:p>
            <a:pPr defTabSz="914400">
              <a:lnSpc>
                <a:spcPct val="105000"/>
              </a:lnSpc>
              <a:spcAft>
                <a:spcPts val="400"/>
              </a:spcAft>
              <a:tabLst>
                <a:tab algn="l" pos="0"/>
              </a:tabLst>
            </a:pPr>
            <a:r>
              <a:rPr b="1" lang="en-US" sz="1400" spc="-1" strike="noStrike">
                <a:solidFill>
                  <a:srgbClr val="0f9c92"/>
                </a:solidFill>
                <a:latin typeface="Calibri"/>
                <a:ea typeface="Calibri"/>
              </a:rPr>
              <a:t>The problem</a:t>
            </a:r>
            <a:endParaRPr b="0" lang="en-US" sz="1400" spc="-1" strike="noStrike">
              <a:solidFill>
                <a:srgbClr val="000000"/>
              </a:solidFill>
              <a:latin typeface="Arial"/>
            </a:endParaRPr>
          </a:p>
          <a:p>
            <a:pPr defTabSz="914400">
              <a:lnSpc>
                <a:spcPct val="105000"/>
              </a:lnSpc>
              <a:spcAft>
                <a:spcPts val="1400"/>
              </a:spcAft>
              <a:tabLst>
                <a:tab algn="l" pos="0"/>
              </a:tabLst>
            </a:pPr>
            <a:r>
              <a:rPr b="0" lang="en-US" sz="1300" spc="-1" strike="noStrike">
                <a:solidFill>
                  <a:srgbClr val="16242f"/>
                </a:solidFill>
                <a:latin typeface="Calibri"/>
                <a:ea typeface="Calibri"/>
              </a:rPr>
              <a:t>How do you know a public key really belongs to the server you think you're talking to?</a:t>
            </a:r>
            <a:endParaRPr b="0" lang="en-US" sz="1300" spc="-1" strike="noStrike">
              <a:solidFill>
                <a:srgbClr val="000000"/>
              </a:solidFill>
              <a:latin typeface="Arial"/>
            </a:endParaRPr>
          </a:p>
          <a:p>
            <a:pPr defTabSz="914400">
              <a:lnSpc>
                <a:spcPct val="105000"/>
              </a:lnSpc>
              <a:spcAft>
                <a:spcPts val="400"/>
              </a:spcAft>
              <a:tabLst>
                <a:tab algn="l" pos="0"/>
              </a:tabLst>
            </a:pPr>
            <a:r>
              <a:rPr b="1" lang="en-US" sz="1400" spc="-1" strike="noStrike">
                <a:solidFill>
                  <a:srgbClr val="0f9c92"/>
                </a:solidFill>
                <a:latin typeface="Calibri"/>
                <a:ea typeface="Calibri"/>
              </a:rPr>
              <a:t>The answer</a:t>
            </a:r>
            <a:endParaRPr b="0" lang="en-US" sz="1400" spc="-1" strike="noStrike">
              <a:solidFill>
                <a:srgbClr val="000000"/>
              </a:solidFill>
              <a:latin typeface="Arial"/>
            </a:endParaRPr>
          </a:p>
          <a:p>
            <a:pPr defTabSz="914400">
              <a:lnSpc>
                <a:spcPct val="105000"/>
              </a:lnSpc>
              <a:tabLst>
                <a:tab algn="l" pos="0"/>
              </a:tabLst>
            </a:pPr>
            <a:r>
              <a:rPr b="0" lang="en-US" sz="1300" spc="-1" strike="noStrike">
                <a:solidFill>
                  <a:srgbClr val="16242f"/>
                </a:solidFill>
                <a:latin typeface="Calibri"/>
                <a:ea typeface="Calibri"/>
              </a:rPr>
              <a:t>A trusted Certificate Authority signs an X.509 certificate that binds an identity to its public key. Relying parties trust the CA's signature — no prior contact needed.</a:t>
            </a:r>
            <a:endParaRPr b="0" lang="en-US" sz="1300" spc="-1" strike="noStrike">
              <a:solidFill>
                <a:srgbClr val="000000"/>
              </a:solidFill>
              <a:latin typeface="Arial"/>
            </a:endParaRPr>
          </a:p>
        </p:txBody>
      </p:sp>
      <p:sp>
        <p:nvSpPr>
          <p:cNvPr id="50" name="Shape 4"/>
          <p:cNvSpPr/>
          <p:nvPr/>
        </p:nvSpPr>
        <p:spPr>
          <a:xfrm>
            <a:off x="5394960" y="1417320"/>
            <a:ext cx="3200040" cy="868320"/>
          </a:xfrm>
          <a:prstGeom prst="roundRect">
            <a:avLst>
              <a:gd name="adj" fmla="val 84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 name="Shape 5"/>
          <p:cNvSpPr/>
          <p:nvPr/>
        </p:nvSpPr>
        <p:spPr>
          <a:xfrm>
            <a:off x="5577840" y="1636920"/>
            <a:ext cx="420120" cy="42012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52" name="Image 1" descr="preencoded.png"/>
          <p:cNvPicPr/>
          <p:nvPr/>
        </p:nvPicPr>
        <p:blipFill>
          <a:blip r:embed="rId2"/>
          <a:stretch/>
        </p:blipFill>
        <p:spPr>
          <a:xfrm>
            <a:off x="5687280" y="1746000"/>
            <a:ext cx="201600" cy="201600"/>
          </a:xfrm>
          <a:prstGeom prst="rect">
            <a:avLst/>
          </a:prstGeom>
          <a:ln w="0">
            <a:noFill/>
          </a:ln>
        </p:spPr>
      </p:pic>
      <p:sp>
        <p:nvSpPr>
          <p:cNvPr id="53" name="Text 6"/>
          <p:cNvSpPr/>
          <p:nvPr/>
        </p:nvSpPr>
        <p:spPr>
          <a:xfrm>
            <a:off x="6172200" y="1417320"/>
            <a:ext cx="233136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Authentication</a:t>
            </a:r>
            <a:endParaRPr b="0" lang="en-US" sz="1350" spc="-1" strike="noStrike">
              <a:solidFill>
                <a:srgbClr val="000000"/>
              </a:solidFill>
              <a:latin typeface="Arial"/>
            </a:endParaRPr>
          </a:p>
          <a:p>
            <a:pPr defTabSz="914400">
              <a:lnSpc>
                <a:spcPct val="100000"/>
              </a:lnSpc>
              <a:tabLst>
                <a:tab algn="l" pos="0"/>
              </a:tabLst>
            </a:pPr>
            <a:r>
              <a:rPr b="0" lang="en-US" sz="1050" spc="-1" strike="noStrike">
                <a:solidFill>
                  <a:srgbClr val="5e7484"/>
                </a:solidFill>
                <a:latin typeface="Calibri"/>
                <a:ea typeface="Calibri"/>
              </a:rPr>
              <a:t>you are talking to the real server</a:t>
            </a:r>
            <a:endParaRPr b="0" lang="en-US" sz="1050" spc="-1" strike="noStrike">
              <a:solidFill>
                <a:srgbClr val="000000"/>
              </a:solidFill>
              <a:latin typeface="Arial"/>
            </a:endParaRPr>
          </a:p>
        </p:txBody>
      </p:sp>
      <p:sp>
        <p:nvSpPr>
          <p:cNvPr id="54" name="Shape 7"/>
          <p:cNvSpPr/>
          <p:nvPr/>
        </p:nvSpPr>
        <p:spPr>
          <a:xfrm>
            <a:off x="5394960" y="2423160"/>
            <a:ext cx="3200040" cy="868320"/>
          </a:xfrm>
          <a:prstGeom prst="roundRect">
            <a:avLst>
              <a:gd name="adj" fmla="val 84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 name="Shape 8"/>
          <p:cNvSpPr/>
          <p:nvPr/>
        </p:nvSpPr>
        <p:spPr>
          <a:xfrm>
            <a:off x="5577840" y="2642760"/>
            <a:ext cx="420120" cy="420120"/>
          </a:xfrm>
          <a:prstGeom prst="ellipse">
            <a:avLst/>
          </a:prstGeom>
          <a:solidFill>
            <a:srgbClr val="33c2c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56" name="Image 2" descr="preencoded.png"/>
          <p:cNvPicPr/>
          <p:nvPr/>
        </p:nvPicPr>
        <p:blipFill>
          <a:blip r:embed="rId3"/>
          <a:stretch/>
        </p:blipFill>
        <p:spPr>
          <a:xfrm>
            <a:off x="5687280" y="2751840"/>
            <a:ext cx="201600" cy="201600"/>
          </a:xfrm>
          <a:prstGeom prst="rect">
            <a:avLst/>
          </a:prstGeom>
          <a:ln w="0">
            <a:noFill/>
          </a:ln>
        </p:spPr>
      </p:pic>
      <p:sp>
        <p:nvSpPr>
          <p:cNvPr id="57" name="Text 9"/>
          <p:cNvSpPr/>
          <p:nvPr/>
        </p:nvSpPr>
        <p:spPr>
          <a:xfrm>
            <a:off x="6172200" y="2423160"/>
            <a:ext cx="233136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Confidentiality</a:t>
            </a:r>
            <a:endParaRPr b="0" lang="en-US" sz="1350" spc="-1" strike="noStrike">
              <a:solidFill>
                <a:srgbClr val="000000"/>
              </a:solidFill>
              <a:latin typeface="Arial"/>
            </a:endParaRPr>
          </a:p>
          <a:p>
            <a:pPr defTabSz="914400">
              <a:lnSpc>
                <a:spcPct val="100000"/>
              </a:lnSpc>
              <a:tabLst>
                <a:tab algn="l" pos="0"/>
              </a:tabLst>
            </a:pPr>
            <a:r>
              <a:rPr b="0" lang="en-US" sz="1050" spc="-1" strike="noStrike">
                <a:solidFill>
                  <a:srgbClr val="5e7484"/>
                </a:solidFill>
                <a:latin typeface="Calibri"/>
                <a:ea typeface="Calibri"/>
              </a:rPr>
              <a:t>traffic cannot be read in transit</a:t>
            </a:r>
            <a:endParaRPr b="0" lang="en-US" sz="1050" spc="-1" strike="noStrike">
              <a:solidFill>
                <a:srgbClr val="000000"/>
              </a:solidFill>
              <a:latin typeface="Arial"/>
            </a:endParaRPr>
          </a:p>
        </p:txBody>
      </p:sp>
      <p:sp>
        <p:nvSpPr>
          <p:cNvPr id="58" name="Shape 10"/>
          <p:cNvSpPr/>
          <p:nvPr/>
        </p:nvSpPr>
        <p:spPr>
          <a:xfrm>
            <a:off x="5394960" y="3429000"/>
            <a:ext cx="3200040" cy="868320"/>
          </a:xfrm>
          <a:prstGeom prst="roundRect">
            <a:avLst>
              <a:gd name="adj" fmla="val 84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 name="Shape 11"/>
          <p:cNvSpPr/>
          <p:nvPr/>
        </p:nvSpPr>
        <p:spPr>
          <a:xfrm>
            <a:off x="5577840" y="3648600"/>
            <a:ext cx="420120" cy="42012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0" name="Image 3" descr="preencoded.png"/>
          <p:cNvPicPr/>
          <p:nvPr/>
        </p:nvPicPr>
        <p:blipFill>
          <a:blip r:embed="rId4"/>
          <a:stretch/>
        </p:blipFill>
        <p:spPr>
          <a:xfrm>
            <a:off x="5687280" y="3757680"/>
            <a:ext cx="201600" cy="201600"/>
          </a:xfrm>
          <a:prstGeom prst="rect">
            <a:avLst/>
          </a:prstGeom>
          <a:ln w="0">
            <a:noFill/>
          </a:ln>
        </p:spPr>
      </p:pic>
      <p:sp>
        <p:nvSpPr>
          <p:cNvPr id="61" name="Text 12"/>
          <p:cNvSpPr/>
          <p:nvPr/>
        </p:nvSpPr>
        <p:spPr>
          <a:xfrm>
            <a:off x="6172200" y="3429000"/>
            <a:ext cx="233136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Integrity</a:t>
            </a:r>
            <a:endParaRPr b="0" lang="en-US" sz="1350" spc="-1" strike="noStrike">
              <a:solidFill>
                <a:srgbClr val="000000"/>
              </a:solidFill>
              <a:latin typeface="Arial"/>
            </a:endParaRPr>
          </a:p>
          <a:p>
            <a:pPr defTabSz="914400">
              <a:lnSpc>
                <a:spcPct val="100000"/>
              </a:lnSpc>
              <a:tabLst>
                <a:tab algn="l" pos="0"/>
              </a:tabLst>
            </a:pPr>
            <a:r>
              <a:rPr b="0" lang="en-US" sz="1050" spc="-1" strike="noStrike">
                <a:solidFill>
                  <a:srgbClr val="5e7484"/>
                </a:solidFill>
                <a:latin typeface="Calibri"/>
                <a:ea typeface="Calibri"/>
              </a:rPr>
              <a:t>tampering is detected</a:t>
            </a:r>
            <a:endParaRPr b="0" lang="en-US" sz="1050" spc="-1" strike="noStrike">
              <a:solidFill>
                <a:srgbClr val="000000"/>
              </a:solidFill>
              <a:latin typeface="Arial"/>
            </a:endParaRPr>
          </a:p>
        </p:txBody>
      </p:sp>
      <p:sp>
        <p:nvSpPr>
          <p:cNvPr id="62" name="Text 13"/>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63" name="Text 14"/>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3</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64"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5" name="Image 0" descr="preencoded.png"/>
          <p:cNvPicPr/>
          <p:nvPr/>
        </p:nvPicPr>
        <p:blipFill>
          <a:blip r:embed="rId1"/>
          <a:stretch/>
        </p:blipFill>
        <p:spPr>
          <a:xfrm>
            <a:off x="589680" y="516600"/>
            <a:ext cx="301320" cy="301320"/>
          </a:xfrm>
          <a:prstGeom prst="rect">
            <a:avLst/>
          </a:prstGeom>
          <a:ln w="0">
            <a:noFill/>
          </a:ln>
        </p:spPr>
      </p:pic>
      <p:sp>
        <p:nvSpPr>
          <p:cNvPr id="66"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FOUNDATIONS</a:t>
            </a:r>
            <a:endParaRPr b="0" lang="en-US" sz="1100" spc="-1" strike="noStrike">
              <a:solidFill>
                <a:srgbClr val="000000"/>
              </a:solidFill>
              <a:latin typeface="Arial"/>
            </a:endParaRPr>
          </a:p>
        </p:txBody>
      </p:sp>
      <p:sp>
        <p:nvSpPr>
          <p:cNvPr id="67"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Anatomy of an X.509 v3 certificate</a:t>
            </a:r>
            <a:endParaRPr b="0" lang="en-US" sz="2500" spc="-1" strike="noStrike">
              <a:solidFill>
                <a:srgbClr val="000000"/>
              </a:solidFill>
              <a:latin typeface="Arial"/>
            </a:endParaRPr>
          </a:p>
        </p:txBody>
      </p:sp>
      <p:sp>
        <p:nvSpPr>
          <p:cNvPr id="68" name="Shape 3"/>
          <p:cNvSpPr/>
          <p:nvPr/>
        </p:nvSpPr>
        <p:spPr>
          <a:xfrm>
            <a:off x="548640" y="1417320"/>
            <a:ext cx="3200040" cy="3154320"/>
          </a:xfrm>
          <a:prstGeom prst="roundRect">
            <a:avLst>
              <a:gd name="adj" fmla="val 2319"/>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 name="Text 4"/>
          <p:cNvSpPr/>
          <p:nvPr/>
        </p:nvSpPr>
        <p:spPr>
          <a:xfrm>
            <a:off x="777240" y="1554480"/>
            <a:ext cx="2742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f9c92"/>
                </a:solidFill>
                <a:latin typeface="Calibri"/>
                <a:ea typeface="Calibri"/>
              </a:rPr>
              <a:t>Core fields</a:t>
            </a:r>
            <a:endParaRPr b="0" lang="en-US" sz="1400" spc="-1" strike="noStrike">
              <a:solidFill>
                <a:srgbClr val="000000"/>
              </a:solidFill>
              <a:latin typeface="Arial"/>
            </a:endParaRPr>
          </a:p>
        </p:txBody>
      </p:sp>
      <p:sp>
        <p:nvSpPr>
          <p:cNvPr id="70" name="Text 5"/>
          <p:cNvSpPr/>
          <p:nvPr/>
        </p:nvSpPr>
        <p:spPr>
          <a:xfrm>
            <a:off x="822960" y="1920240"/>
            <a:ext cx="2742840" cy="25599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Subject — who the cert is for</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Issuer — the signing CA</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Validity — Not Before / Not After</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Public Key — owner's key</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Serial Number — unique ID</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Signature — CA's signature</a:t>
            </a:r>
            <a:endParaRPr b="0" lang="en-US" sz="1150" spc="-1" strike="noStrike">
              <a:solidFill>
                <a:srgbClr val="000000"/>
              </a:solidFill>
              <a:latin typeface="Arial"/>
            </a:endParaRPr>
          </a:p>
        </p:txBody>
      </p:sp>
      <p:sp>
        <p:nvSpPr>
          <p:cNvPr id="71" name="Text 6"/>
          <p:cNvSpPr/>
          <p:nvPr/>
        </p:nvSpPr>
        <p:spPr>
          <a:xfrm>
            <a:off x="3977640" y="1463040"/>
            <a:ext cx="46630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Version 3 extensions — where the security lives</a:t>
            </a:r>
            <a:endParaRPr b="0" lang="en-US" sz="1350" spc="-1" strike="noStrike">
              <a:solidFill>
                <a:srgbClr val="000000"/>
              </a:solidFill>
              <a:latin typeface="Arial"/>
            </a:endParaRPr>
          </a:p>
        </p:txBody>
      </p:sp>
      <p:sp>
        <p:nvSpPr>
          <p:cNvPr id="72" name="Shape 7"/>
          <p:cNvSpPr/>
          <p:nvPr/>
        </p:nvSpPr>
        <p:spPr>
          <a:xfrm>
            <a:off x="3977640" y="1810440"/>
            <a:ext cx="4617360" cy="60300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3" name="Text 8"/>
          <p:cNvSpPr/>
          <p:nvPr/>
        </p:nvSpPr>
        <p:spPr>
          <a:xfrm>
            <a:off x="4160520" y="1874520"/>
            <a:ext cx="42973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Basic Constraints</a:t>
            </a:r>
            <a:endParaRPr b="0" lang="en-US" sz="1250" spc="-1" strike="noStrike">
              <a:solidFill>
                <a:srgbClr val="000000"/>
              </a:solidFill>
              <a:latin typeface="Arial"/>
            </a:endParaRPr>
          </a:p>
        </p:txBody>
      </p:sp>
      <p:sp>
        <p:nvSpPr>
          <p:cNvPr id="74" name="Text 9"/>
          <p:cNvSpPr/>
          <p:nvPr/>
        </p:nvSpPr>
        <p:spPr>
          <a:xfrm>
            <a:off x="4160520" y="212148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CA:TRUE / CA:FALSE + pathlen</a:t>
            </a:r>
            <a:endParaRPr b="0" lang="en-US" sz="1050" spc="-1" strike="noStrike">
              <a:solidFill>
                <a:srgbClr val="000000"/>
              </a:solidFill>
              <a:latin typeface="Arial"/>
            </a:endParaRPr>
          </a:p>
        </p:txBody>
      </p:sp>
      <p:sp>
        <p:nvSpPr>
          <p:cNvPr id="75" name="Shape 10"/>
          <p:cNvSpPr/>
          <p:nvPr/>
        </p:nvSpPr>
        <p:spPr>
          <a:xfrm>
            <a:off x="3977640" y="2496240"/>
            <a:ext cx="4617360" cy="60300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 name="Text 11"/>
          <p:cNvSpPr/>
          <p:nvPr/>
        </p:nvSpPr>
        <p:spPr>
          <a:xfrm>
            <a:off x="4160520" y="2560320"/>
            <a:ext cx="42973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Key Usage / EKU</a:t>
            </a:r>
            <a:endParaRPr b="0" lang="en-US" sz="1250" spc="-1" strike="noStrike">
              <a:solidFill>
                <a:srgbClr val="000000"/>
              </a:solidFill>
              <a:latin typeface="Arial"/>
            </a:endParaRPr>
          </a:p>
        </p:txBody>
      </p:sp>
      <p:sp>
        <p:nvSpPr>
          <p:cNvPr id="77" name="Text 12"/>
          <p:cNvSpPr/>
          <p:nvPr/>
        </p:nvSpPr>
        <p:spPr>
          <a:xfrm>
            <a:off x="4160520" y="280728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serverAuth vs clientAuth</a:t>
            </a:r>
            <a:endParaRPr b="0" lang="en-US" sz="1050" spc="-1" strike="noStrike">
              <a:solidFill>
                <a:srgbClr val="000000"/>
              </a:solidFill>
              <a:latin typeface="Arial"/>
            </a:endParaRPr>
          </a:p>
        </p:txBody>
      </p:sp>
      <p:sp>
        <p:nvSpPr>
          <p:cNvPr id="78" name="Shape 13"/>
          <p:cNvSpPr/>
          <p:nvPr/>
        </p:nvSpPr>
        <p:spPr>
          <a:xfrm>
            <a:off x="3977640" y="3182040"/>
            <a:ext cx="4617360" cy="60300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wrap="none" lIns="0" rIns="0" tIns="0" bIns="0" anchor="t">
            <a:spAutoFit/>
          </a:bodyPr>
          <a:p>
            <a:endParaRPr b="1" lang="en-US" sz="1250" spc="-1" strike="noStrike">
              <a:solidFill>
                <a:srgbClr val="16242f"/>
              </a:solidFill>
              <a:latin typeface="Calibri"/>
              <a:ea typeface="Calibri"/>
            </a:endParaRPr>
          </a:p>
        </p:txBody>
      </p:sp>
      <p:sp>
        <p:nvSpPr>
          <p:cNvPr id="79" name="Text 14"/>
          <p:cNvSpPr/>
          <p:nvPr/>
        </p:nvSpPr>
        <p:spPr>
          <a:xfrm>
            <a:off x="4160520" y="3246120"/>
            <a:ext cx="42973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Subject Alt. Name (SAN)</a:t>
            </a:r>
            <a:endParaRPr b="0" lang="en-US" sz="1250" spc="-1" strike="noStrike">
              <a:solidFill>
                <a:srgbClr val="000000"/>
              </a:solidFill>
              <a:latin typeface="Arial"/>
              <a:ea typeface="Noto Sans CJK SC"/>
            </a:endParaRPr>
          </a:p>
        </p:txBody>
      </p:sp>
      <p:sp>
        <p:nvSpPr>
          <p:cNvPr id="80" name="Text 15"/>
          <p:cNvSpPr/>
          <p:nvPr/>
        </p:nvSpPr>
        <p:spPr>
          <a:xfrm>
            <a:off x="4160520" y="3531240"/>
            <a:ext cx="2226240" cy="16128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1050" spc="-1" strike="noStrike">
                <a:solidFill>
                  <a:srgbClr val="5e7484"/>
                </a:solidFill>
                <a:latin typeface="Calibri"/>
              </a:rPr>
              <a:t>hostname match — required by browsers</a:t>
            </a:r>
            <a:endParaRPr b="0" lang="en-US" sz="1050" spc="-1" strike="noStrike">
              <a:solidFill>
                <a:srgbClr val="5e7484"/>
              </a:solidFill>
              <a:latin typeface="Calibri"/>
              <a:ea typeface="Calibri"/>
            </a:endParaRPr>
          </a:p>
        </p:txBody>
      </p:sp>
      <p:sp>
        <p:nvSpPr>
          <p:cNvPr id="81" name="Shape 16"/>
          <p:cNvSpPr/>
          <p:nvPr/>
        </p:nvSpPr>
        <p:spPr>
          <a:xfrm>
            <a:off x="3977640" y="3867840"/>
            <a:ext cx="4617360" cy="603000"/>
          </a:xfrm>
          <a:prstGeom prst="roundRect">
            <a:avLst>
              <a:gd name="adj" fmla="val 1212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Text 17"/>
          <p:cNvSpPr/>
          <p:nvPr/>
        </p:nvSpPr>
        <p:spPr>
          <a:xfrm>
            <a:off x="4160520" y="3931920"/>
            <a:ext cx="42973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6242f"/>
                </a:solidFill>
                <a:latin typeface="Calibri"/>
                <a:ea typeface="Calibri"/>
              </a:rPr>
              <a:t>SKI / AKI</a:t>
            </a:r>
            <a:endParaRPr b="0" lang="en-US" sz="1250" spc="-1" strike="noStrike">
              <a:solidFill>
                <a:srgbClr val="000000"/>
              </a:solidFill>
              <a:latin typeface="Arial"/>
            </a:endParaRPr>
          </a:p>
        </p:txBody>
      </p:sp>
      <p:sp>
        <p:nvSpPr>
          <p:cNvPr id="83" name="Text 18"/>
          <p:cNvSpPr/>
          <p:nvPr/>
        </p:nvSpPr>
        <p:spPr>
          <a:xfrm>
            <a:off x="4160520" y="4178880"/>
            <a:ext cx="42973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links a cert to its issuer</a:t>
            </a:r>
            <a:endParaRPr b="0" lang="en-US" sz="1050" spc="-1" strike="noStrike">
              <a:solidFill>
                <a:srgbClr val="000000"/>
              </a:solidFill>
              <a:latin typeface="Arial"/>
            </a:endParaRPr>
          </a:p>
        </p:txBody>
      </p:sp>
      <p:sp>
        <p:nvSpPr>
          <p:cNvPr id="84" name="Text 19"/>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85" name="Text 20"/>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4</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86"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7" name="Image 0" descr="preencoded.png"/>
          <p:cNvPicPr/>
          <p:nvPr/>
        </p:nvPicPr>
        <p:blipFill>
          <a:blip r:embed="rId1"/>
          <a:stretch/>
        </p:blipFill>
        <p:spPr>
          <a:xfrm>
            <a:off x="589680" y="516600"/>
            <a:ext cx="301320" cy="301320"/>
          </a:xfrm>
          <a:prstGeom prst="rect">
            <a:avLst/>
          </a:prstGeom>
          <a:ln w="0">
            <a:noFill/>
          </a:ln>
        </p:spPr>
      </p:pic>
      <p:sp>
        <p:nvSpPr>
          <p:cNvPr id="88"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FOUNDATIONS</a:t>
            </a:r>
            <a:endParaRPr b="0" lang="en-US" sz="1100" spc="-1" strike="noStrike">
              <a:solidFill>
                <a:srgbClr val="000000"/>
              </a:solidFill>
              <a:latin typeface="Arial"/>
            </a:endParaRPr>
          </a:p>
        </p:txBody>
      </p:sp>
      <p:sp>
        <p:nvSpPr>
          <p:cNvPr id="89"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Two-tier trust model</a:t>
            </a:r>
            <a:endParaRPr b="0" lang="en-US" sz="2500" spc="-1" strike="noStrike">
              <a:solidFill>
                <a:srgbClr val="000000"/>
              </a:solidFill>
              <a:latin typeface="Arial"/>
            </a:endParaRPr>
          </a:p>
        </p:txBody>
      </p:sp>
      <p:sp>
        <p:nvSpPr>
          <p:cNvPr id="90" name="Shape 3"/>
          <p:cNvSpPr/>
          <p:nvPr/>
        </p:nvSpPr>
        <p:spPr>
          <a:xfrm>
            <a:off x="2926080" y="1371600"/>
            <a:ext cx="3291480" cy="712800"/>
          </a:xfrm>
          <a:prstGeom prst="roundRect">
            <a:avLst>
              <a:gd name="adj" fmla="val 8974"/>
            </a:avLst>
          </a:prstGeom>
          <a:solidFill>
            <a:srgbClr val="0c2233"/>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Text 4"/>
          <p:cNvSpPr/>
          <p:nvPr/>
        </p:nvSpPr>
        <p:spPr>
          <a:xfrm>
            <a:off x="3017520" y="1371600"/>
            <a:ext cx="3108600" cy="712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Root CA</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self-signed · offline · 20 years</a:t>
            </a:r>
            <a:endParaRPr b="0" lang="en-US" sz="1050" spc="-1" strike="noStrike">
              <a:solidFill>
                <a:srgbClr val="000000"/>
              </a:solidFill>
              <a:latin typeface="Arial"/>
            </a:endParaRPr>
          </a:p>
        </p:txBody>
      </p:sp>
      <p:sp>
        <p:nvSpPr>
          <p:cNvPr id="92" name="Shape 5"/>
          <p:cNvSpPr/>
          <p:nvPr/>
        </p:nvSpPr>
        <p:spPr>
          <a:xfrm>
            <a:off x="4572000" y="2084760"/>
            <a:ext cx="360" cy="347400"/>
          </a:xfrm>
          <a:prstGeom prst="line">
            <a:avLst/>
          </a:prstGeom>
          <a:ln w="22225">
            <a:solidFill>
              <a:srgbClr val="5e7484"/>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93" name="Text 6"/>
          <p:cNvSpPr/>
          <p:nvPr/>
        </p:nvSpPr>
        <p:spPr>
          <a:xfrm>
            <a:off x="4663440" y="2121480"/>
            <a:ext cx="914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5e7484"/>
                </a:solidFill>
                <a:latin typeface="Calibri"/>
                <a:ea typeface="Calibri"/>
              </a:rPr>
              <a:t>signs</a:t>
            </a:r>
            <a:endParaRPr b="0" lang="en-US" sz="1000" spc="-1" strike="noStrike">
              <a:solidFill>
                <a:srgbClr val="000000"/>
              </a:solidFill>
              <a:latin typeface="Arial"/>
            </a:endParaRPr>
          </a:p>
        </p:txBody>
      </p:sp>
      <p:sp>
        <p:nvSpPr>
          <p:cNvPr id="94" name="Shape 7"/>
          <p:cNvSpPr/>
          <p:nvPr/>
        </p:nvSpPr>
        <p:spPr>
          <a:xfrm>
            <a:off x="2926080" y="2450520"/>
            <a:ext cx="3291480" cy="712800"/>
          </a:xfrm>
          <a:prstGeom prst="roundRect">
            <a:avLst>
              <a:gd name="adj" fmla="val 8974"/>
            </a:avLst>
          </a:prstGeom>
          <a:solidFill>
            <a:srgbClr val="0f9c9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Text 8"/>
          <p:cNvSpPr/>
          <p:nvPr/>
        </p:nvSpPr>
        <p:spPr>
          <a:xfrm>
            <a:off x="3017520" y="2450520"/>
            <a:ext cx="3108600" cy="712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Intermediate CA</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online · 10 years · pathlen:0</a:t>
            </a:r>
            <a:endParaRPr b="0" lang="en-US" sz="1050" spc="-1" strike="noStrike">
              <a:solidFill>
                <a:srgbClr val="000000"/>
              </a:solidFill>
              <a:latin typeface="Arial"/>
            </a:endParaRPr>
          </a:p>
        </p:txBody>
      </p:sp>
      <p:sp>
        <p:nvSpPr>
          <p:cNvPr id="96" name="Shape 9"/>
          <p:cNvSpPr/>
          <p:nvPr/>
        </p:nvSpPr>
        <p:spPr>
          <a:xfrm flipH="1">
            <a:off x="2743200" y="3163680"/>
            <a:ext cx="1554480" cy="448200"/>
          </a:xfrm>
          <a:prstGeom prst="line">
            <a:avLst/>
          </a:prstGeom>
          <a:ln w="22225">
            <a:solidFill>
              <a:srgbClr val="5e7484"/>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97" name="Shape 10"/>
          <p:cNvSpPr/>
          <p:nvPr/>
        </p:nvSpPr>
        <p:spPr>
          <a:xfrm>
            <a:off x="4846320" y="3163680"/>
            <a:ext cx="1554480" cy="448200"/>
          </a:xfrm>
          <a:prstGeom prst="line">
            <a:avLst/>
          </a:prstGeom>
          <a:ln w="22225">
            <a:solidFill>
              <a:srgbClr val="5e7484"/>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98" name="Text 11"/>
          <p:cNvSpPr/>
          <p:nvPr/>
        </p:nvSpPr>
        <p:spPr>
          <a:xfrm>
            <a:off x="4069080" y="320040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00" spc="-1" strike="noStrike">
                <a:solidFill>
                  <a:srgbClr val="5e7484"/>
                </a:solidFill>
                <a:latin typeface="Calibri"/>
                <a:ea typeface="Calibri"/>
              </a:rPr>
              <a:t>issues</a:t>
            </a:r>
            <a:endParaRPr b="0" lang="en-US" sz="1000" spc="-1" strike="noStrike">
              <a:solidFill>
                <a:srgbClr val="000000"/>
              </a:solidFill>
              <a:latin typeface="Arial"/>
            </a:endParaRPr>
          </a:p>
        </p:txBody>
      </p:sp>
      <p:sp>
        <p:nvSpPr>
          <p:cNvPr id="99" name="Shape 12"/>
          <p:cNvSpPr/>
          <p:nvPr/>
        </p:nvSpPr>
        <p:spPr>
          <a:xfrm>
            <a:off x="1371600" y="3630240"/>
            <a:ext cx="2742840" cy="712800"/>
          </a:xfrm>
          <a:prstGeom prst="roundRect">
            <a:avLst>
              <a:gd name="adj" fmla="val 8974"/>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0" name="Text 13"/>
          <p:cNvSpPr/>
          <p:nvPr/>
        </p:nvSpPr>
        <p:spPr>
          <a:xfrm>
            <a:off x="1463040" y="3630240"/>
            <a:ext cx="2559960" cy="712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Server certificate</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EKU: serverAuth</a:t>
            </a:r>
            <a:endParaRPr b="0" lang="en-US" sz="1050" spc="-1" strike="noStrike">
              <a:solidFill>
                <a:srgbClr val="000000"/>
              </a:solidFill>
              <a:latin typeface="Arial"/>
            </a:endParaRPr>
          </a:p>
        </p:txBody>
      </p:sp>
      <p:sp>
        <p:nvSpPr>
          <p:cNvPr id="101" name="Shape 14"/>
          <p:cNvSpPr/>
          <p:nvPr/>
        </p:nvSpPr>
        <p:spPr>
          <a:xfrm>
            <a:off x="5029200" y="3630240"/>
            <a:ext cx="2742840" cy="712800"/>
          </a:xfrm>
          <a:prstGeom prst="roundRect">
            <a:avLst>
              <a:gd name="adj" fmla="val 8974"/>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 name="Text 15"/>
          <p:cNvSpPr/>
          <p:nvPr/>
        </p:nvSpPr>
        <p:spPr>
          <a:xfrm>
            <a:off x="5120640" y="3630240"/>
            <a:ext cx="2559960" cy="712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Client certificate</a:t>
            </a:r>
            <a:endParaRPr b="0" lang="en-US" sz="1400" spc="-1" strike="noStrike">
              <a:solidFill>
                <a:srgbClr val="000000"/>
              </a:solidFill>
              <a:latin typeface="Arial"/>
            </a:endParaRPr>
          </a:p>
          <a:p>
            <a:pPr algn="ctr" defTabSz="914400">
              <a:lnSpc>
                <a:spcPct val="100000"/>
              </a:lnSpc>
              <a:tabLst>
                <a:tab algn="l" pos="0"/>
              </a:tabLst>
            </a:pPr>
            <a:r>
              <a:rPr b="0" lang="en-US" sz="1050" spc="-1" strike="noStrike">
                <a:solidFill>
                  <a:srgbClr val="ffffff"/>
                </a:solidFill>
                <a:latin typeface="Calibri"/>
                <a:ea typeface="Calibri"/>
              </a:rPr>
              <a:t>EKU: clientAuth</a:t>
            </a:r>
            <a:endParaRPr b="0" lang="en-US" sz="1050" spc="-1" strike="noStrike">
              <a:solidFill>
                <a:srgbClr val="000000"/>
              </a:solidFill>
              <a:latin typeface="Arial"/>
            </a:endParaRPr>
          </a:p>
        </p:txBody>
      </p:sp>
      <p:sp>
        <p:nvSpPr>
          <p:cNvPr id="103" name="Text 17"/>
          <p:cNvSpPr/>
          <p:nvPr/>
        </p:nvSpPr>
        <p:spPr>
          <a:xfrm>
            <a:off x="731520" y="4526280"/>
            <a:ext cx="7772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04" name="Text 18"/>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05" name="Text 19"/>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5</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06"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07" name="Image 0" descr="preencoded.png"/>
          <p:cNvPicPr/>
          <p:nvPr/>
        </p:nvPicPr>
        <p:blipFill>
          <a:blip r:embed="rId1"/>
          <a:stretch/>
        </p:blipFill>
        <p:spPr>
          <a:xfrm>
            <a:off x="589680" y="516600"/>
            <a:ext cx="301320" cy="301320"/>
          </a:xfrm>
          <a:prstGeom prst="rect">
            <a:avLst/>
          </a:prstGeom>
          <a:ln w="0">
            <a:noFill/>
          </a:ln>
        </p:spPr>
      </p:pic>
      <p:sp>
        <p:nvSpPr>
          <p:cNvPr id="108"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OUR DEPLOYMENT</a:t>
            </a:r>
            <a:endParaRPr b="0" lang="en-US" sz="1100" spc="-1" strike="noStrike">
              <a:solidFill>
                <a:srgbClr val="000000"/>
              </a:solidFill>
              <a:latin typeface="Arial"/>
            </a:endParaRPr>
          </a:p>
        </p:txBody>
      </p:sp>
      <p:sp>
        <p:nvSpPr>
          <p:cNvPr id="109"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What we built</a:t>
            </a:r>
            <a:endParaRPr b="0" lang="en-US" sz="2500" spc="-1" strike="noStrike">
              <a:solidFill>
                <a:srgbClr val="000000"/>
              </a:solidFill>
              <a:latin typeface="Arial"/>
            </a:endParaRPr>
          </a:p>
        </p:txBody>
      </p:sp>
      <p:sp>
        <p:nvSpPr>
          <p:cNvPr id="110" name="Shape 3"/>
          <p:cNvSpPr/>
          <p:nvPr/>
        </p:nvSpPr>
        <p:spPr>
          <a:xfrm>
            <a:off x="640080" y="1417320"/>
            <a:ext cx="2468520" cy="776880"/>
          </a:xfrm>
          <a:prstGeom prst="roundRect">
            <a:avLst>
              <a:gd name="adj" fmla="val 8235"/>
            </a:avLst>
          </a:prstGeom>
          <a:solidFill>
            <a:srgbClr val="0c2233"/>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Text 4"/>
          <p:cNvSpPr/>
          <p:nvPr/>
        </p:nvSpPr>
        <p:spPr>
          <a:xfrm>
            <a:off x="731520" y="1417320"/>
            <a:ext cx="228564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OpenSSL CA hierarchy</a:t>
            </a:r>
            <a:endParaRPr b="0" lang="en-US" sz="1400" spc="-1" strike="noStrike">
              <a:solidFill>
                <a:srgbClr val="000000"/>
              </a:solidFill>
              <a:latin typeface="Arial"/>
            </a:endParaRPr>
          </a:p>
          <a:p>
            <a:pPr algn="ctr" defTabSz="914400">
              <a:lnSpc>
                <a:spcPct val="100000"/>
              </a:lnSpc>
              <a:tabLst>
                <a:tab algn="l" pos="0"/>
              </a:tabLst>
            </a:pPr>
            <a:endParaRPr b="0" lang="en-US" sz="1400" spc="-1" strike="noStrike">
              <a:solidFill>
                <a:srgbClr val="000000"/>
              </a:solidFill>
              <a:latin typeface="Arial"/>
            </a:endParaRPr>
          </a:p>
        </p:txBody>
      </p:sp>
      <p:sp>
        <p:nvSpPr>
          <p:cNvPr id="112" name="Shape 5"/>
          <p:cNvSpPr/>
          <p:nvPr/>
        </p:nvSpPr>
        <p:spPr>
          <a:xfrm>
            <a:off x="3136320" y="1801080"/>
            <a:ext cx="356400" cy="360"/>
          </a:xfrm>
          <a:prstGeom prst="line">
            <a:avLst/>
          </a:prstGeom>
          <a:ln w="22225">
            <a:solidFill>
              <a:srgbClr val="0f9c9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3" name="Shape 6"/>
          <p:cNvSpPr/>
          <p:nvPr/>
        </p:nvSpPr>
        <p:spPr>
          <a:xfrm>
            <a:off x="3520440" y="1417320"/>
            <a:ext cx="2468520" cy="776880"/>
          </a:xfrm>
          <a:prstGeom prst="roundRect">
            <a:avLst>
              <a:gd name="adj" fmla="val 8235"/>
            </a:avLst>
          </a:prstGeom>
          <a:solidFill>
            <a:srgbClr val="0c2233"/>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Text 7"/>
          <p:cNvSpPr/>
          <p:nvPr/>
        </p:nvSpPr>
        <p:spPr>
          <a:xfrm>
            <a:off x="3611880" y="1417320"/>
            <a:ext cx="228564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Server + client certs</a:t>
            </a:r>
            <a:endParaRPr b="0" lang="en-US" sz="1400" spc="-1" strike="noStrike">
              <a:solidFill>
                <a:srgbClr val="000000"/>
              </a:solidFill>
              <a:latin typeface="Arial"/>
            </a:endParaRPr>
          </a:p>
          <a:p>
            <a:pPr algn="ctr" defTabSz="914400">
              <a:lnSpc>
                <a:spcPct val="100000"/>
              </a:lnSpc>
              <a:tabLst>
                <a:tab algn="l" pos="0"/>
              </a:tabLst>
            </a:pPr>
            <a:endParaRPr b="0" lang="en-US" sz="1400" spc="-1" strike="noStrike">
              <a:solidFill>
                <a:srgbClr val="000000"/>
              </a:solidFill>
              <a:latin typeface="Arial"/>
            </a:endParaRPr>
          </a:p>
        </p:txBody>
      </p:sp>
      <p:sp>
        <p:nvSpPr>
          <p:cNvPr id="115" name="Shape 8"/>
          <p:cNvSpPr/>
          <p:nvPr/>
        </p:nvSpPr>
        <p:spPr>
          <a:xfrm>
            <a:off x="6016680" y="1801080"/>
            <a:ext cx="356400" cy="360"/>
          </a:xfrm>
          <a:prstGeom prst="line">
            <a:avLst/>
          </a:prstGeom>
          <a:ln w="22225">
            <a:solidFill>
              <a:srgbClr val="0f9c9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6" name="Shape 9"/>
          <p:cNvSpPr/>
          <p:nvPr/>
        </p:nvSpPr>
        <p:spPr>
          <a:xfrm>
            <a:off x="6400800" y="1417320"/>
            <a:ext cx="2468520" cy="776880"/>
          </a:xfrm>
          <a:prstGeom prst="roundRect">
            <a:avLst>
              <a:gd name="adj" fmla="val 8235"/>
            </a:avLst>
          </a:prstGeom>
          <a:solidFill>
            <a:srgbClr val="0f9c9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7" name="Text 10"/>
          <p:cNvSpPr/>
          <p:nvPr/>
        </p:nvSpPr>
        <p:spPr>
          <a:xfrm>
            <a:off x="6492240" y="1417320"/>
            <a:ext cx="228564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ea typeface="Calibri"/>
              </a:rPr>
              <a:t>Nginx with mTLS</a:t>
            </a:r>
            <a:endParaRPr b="0" lang="en-US" sz="1400" spc="-1" strike="noStrike">
              <a:solidFill>
                <a:srgbClr val="000000"/>
              </a:solidFill>
              <a:latin typeface="Arial"/>
            </a:endParaRPr>
          </a:p>
          <a:p>
            <a:pPr algn="ctr" defTabSz="914400">
              <a:lnSpc>
                <a:spcPct val="100000"/>
              </a:lnSpc>
              <a:tabLst>
                <a:tab algn="l" pos="0"/>
              </a:tabLst>
            </a:pPr>
            <a:endParaRPr b="0" lang="en-US" sz="1400" spc="-1" strike="noStrike">
              <a:solidFill>
                <a:srgbClr val="000000"/>
              </a:solidFill>
              <a:latin typeface="Arial"/>
            </a:endParaRPr>
          </a:p>
        </p:txBody>
      </p:sp>
      <p:sp>
        <p:nvSpPr>
          <p:cNvPr id="118" name="Shape 11"/>
          <p:cNvSpPr/>
          <p:nvPr/>
        </p:nvSpPr>
        <p:spPr>
          <a:xfrm>
            <a:off x="548640" y="2697480"/>
            <a:ext cx="1947240" cy="169128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9" name="Shape 12"/>
          <p:cNvSpPr/>
          <p:nvPr/>
        </p:nvSpPr>
        <p:spPr>
          <a:xfrm>
            <a:off x="1239120" y="2926080"/>
            <a:ext cx="566640" cy="5666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20" name="Image 1" descr="preencoded.png"/>
          <p:cNvPicPr/>
          <p:nvPr/>
        </p:nvPicPr>
        <p:blipFill>
          <a:blip r:embed="rId2"/>
          <a:stretch/>
        </p:blipFill>
        <p:spPr>
          <a:xfrm>
            <a:off x="1386360" y="3073320"/>
            <a:ext cx="271800" cy="271800"/>
          </a:xfrm>
          <a:prstGeom prst="rect">
            <a:avLst/>
          </a:prstGeom>
          <a:ln w="0">
            <a:noFill/>
          </a:ln>
        </p:spPr>
      </p:pic>
      <p:sp>
        <p:nvSpPr>
          <p:cNvPr id="121" name="Text 13"/>
          <p:cNvSpPr/>
          <p:nvPr/>
        </p:nvSpPr>
        <p:spPr>
          <a:xfrm>
            <a:off x="594360" y="3657600"/>
            <a:ext cx="185580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Two-tier CA</a:t>
            </a:r>
            <a:endParaRPr b="0" lang="en-US" sz="1300" spc="-1" strike="noStrike">
              <a:solidFill>
                <a:srgbClr val="000000"/>
              </a:solidFill>
              <a:latin typeface="Arial"/>
            </a:endParaRPr>
          </a:p>
        </p:txBody>
      </p:sp>
      <p:sp>
        <p:nvSpPr>
          <p:cNvPr id="122" name="Text 14"/>
          <p:cNvSpPr/>
          <p:nvPr/>
        </p:nvSpPr>
        <p:spPr>
          <a:xfrm>
            <a:off x="594360" y="3959280"/>
            <a:ext cx="1855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Root + Intermediate</a:t>
            </a:r>
            <a:endParaRPr b="0" lang="en-US" sz="1050" spc="-1" strike="noStrike">
              <a:solidFill>
                <a:srgbClr val="000000"/>
              </a:solidFill>
              <a:latin typeface="Arial"/>
            </a:endParaRPr>
          </a:p>
        </p:txBody>
      </p:sp>
      <p:sp>
        <p:nvSpPr>
          <p:cNvPr id="123" name="Shape 15"/>
          <p:cNvSpPr/>
          <p:nvPr/>
        </p:nvSpPr>
        <p:spPr>
          <a:xfrm>
            <a:off x="2697480" y="2697480"/>
            <a:ext cx="1947240" cy="169128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4" name="Shape 16"/>
          <p:cNvSpPr/>
          <p:nvPr/>
        </p:nvSpPr>
        <p:spPr>
          <a:xfrm>
            <a:off x="3387960" y="2926080"/>
            <a:ext cx="566640" cy="5666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25" name="Image 2" descr="preencoded.png"/>
          <p:cNvPicPr/>
          <p:nvPr/>
        </p:nvPicPr>
        <p:blipFill>
          <a:blip r:embed="rId3"/>
          <a:stretch/>
        </p:blipFill>
        <p:spPr>
          <a:xfrm>
            <a:off x="3535200" y="3073320"/>
            <a:ext cx="271800" cy="271800"/>
          </a:xfrm>
          <a:prstGeom prst="rect">
            <a:avLst/>
          </a:prstGeom>
          <a:ln w="0">
            <a:noFill/>
          </a:ln>
        </p:spPr>
      </p:pic>
      <p:sp>
        <p:nvSpPr>
          <p:cNvPr id="126" name="Text 17"/>
          <p:cNvSpPr/>
          <p:nvPr/>
        </p:nvSpPr>
        <p:spPr>
          <a:xfrm>
            <a:off x="2743200" y="3657600"/>
            <a:ext cx="185580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RSA 4096 / 2048</a:t>
            </a:r>
            <a:endParaRPr b="0" lang="en-US" sz="1300" spc="-1" strike="noStrike">
              <a:solidFill>
                <a:srgbClr val="000000"/>
              </a:solidFill>
              <a:latin typeface="Arial"/>
            </a:endParaRPr>
          </a:p>
        </p:txBody>
      </p:sp>
      <p:sp>
        <p:nvSpPr>
          <p:cNvPr id="127" name="Text 18"/>
          <p:cNvSpPr/>
          <p:nvPr/>
        </p:nvSpPr>
        <p:spPr>
          <a:xfrm>
            <a:off x="2743200" y="3959280"/>
            <a:ext cx="1855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CA keys / leaf keys</a:t>
            </a:r>
            <a:endParaRPr b="0" lang="en-US" sz="1050" spc="-1" strike="noStrike">
              <a:solidFill>
                <a:srgbClr val="000000"/>
              </a:solidFill>
              <a:latin typeface="Arial"/>
            </a:endParaRPr>
          </a:p>
        </p:txBody>
      </p:sp>
      <p:sp>
        <p:nvSpPr>
          <p:cNvPr id="128" name="Shape 19"/>
          <p:cNvSpPr/>
          <p:nvPr/>
        </p:nvSpPr>
        <p:spPr>
          <a:xfrm>
            <a:off x="4846320" y="2697480"/>
            <a:ext cx="1947240" cy="169128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9" name="Shape 20"/>
          <p:cNvSpPr/>
          <p:nvPr/>
        </p:nvSpPr>
        <p:spPr>
          <a:xfrm>
            <a:off x="5536800" y="2926080"/>
            <a:ext cx="566640" cy="5666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0" name="Image 3" descr="preencoded.png"/>
          <p:cNvPicPr/>
          <p:nvPr/>
        </p:nvPicPr>
        <p:blipFill>
          <a:blip r:embed="rId4"/>
          <a:stretch/>
        </p:blipFill>
        <p:spPr>
          <a:xfrm>
            <a:off x="5684040" y="3073320"/>
            <a:ext cx="271800" cy="271800"/>
          </a:xfrm>
          <a:prstGeom prst="rect">
            <a:avLst/>
          </a:prstGeom>
          <a:ln w="0">
            <a:noFill/>
          </a:ln>
        </p:spPr>
      </p:pic>
      <p:sp>
        <p:nvSpPr>
          <p:cNvPr id="131" name="Text 21"/>
          <p:cNvSpPr/>
          <p:nvPr/>
        </p:nvSpPr>
        <p:spPr>
          <a:xfrm>
            <a:off x="4892040" y="3657600"/>
            <a:ext cx="185580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375-day leaf certs</a:t>
            </a:r>
            <a:endParaRPr b="0" lang="en-US" sz="1300" spc="-1" strike="noStrike">
              <a:solidFill>
                <a:srgbClr val="000000"/>
              </a:solidFill>
              <a:latin typeface="Arial"/>
            </a:endParaRPr>
          </a:p>
        </p:txBody>
      </p:sp>
      <p:sp>
        <p:nvSpPr>
          <p:cNvPr id="132" name="Text 22"/>
          <p:cNvSpPr/>
          <p:nvPr/>
        </p:nvSpPr>
        <p:spPr>
          <a:xfrm>
            <a:off x="4892040" y="3959280"/>
            <a:ext cx="1855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renewed automatically</a:t>
            </a:r>
            <a:endParaRPr b="0" lang="en-US" sz="1050" spc="-1" strike="noStrike">
              <a:solidFill>
                <a:srgbClr val="000000"/>
              </a:solidFill>
              <a:latin typeface="Arial"/>
            </a:endParaRPr>
          </a:p>
        </p:txBody>
      </p:sp>
      <p:sp>
        <p:nvSpPr>
          <p:cNvPr id="133" name="Shape 23"/>
          <p:cNvSpPr/>
          <p:nvPr/>
        </p:nvSpPr>
        <p:spPr>
          <a:xfrm>
            <a:off x="6995160" y="2697480"/>
            <a:ext cx="1947240" cy="1691280"/>
          </a:xfrm>
          <a:prstGeom prst="roundRect">
            <a:avLst>
              <a:gd name="adj" fmla="val 43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 name="Shape 24"/>
          <p:cNvSpPr/>
          <p:nvPr/>
        </p:nvSpPr>
        <p:spPr>
          <a:xfrm>
            <a:off x="7685640" y="2926080"/>
            <a:ext cx="566640" cy="5666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5" name="Image 4" descr="preencoded.png"/>
          <p:cNvPicPr/>
          <p:nvPr/>
        </p:nvPicPr>
        <p:blipFill>
          <a:blip r:embed="rId5"/>
          <a:stretch/>
        </p:blipFill>
        <p:spPr>
          <a:xfrm>
            <a:off x="7832880" y="3073320"/>
            <a:ext cx="271800" cy="271800"/>
          </a:xfrm>
          <a:prstGeom prst="rect">
            <a:avLst/>
          </a:prstGeom>
          <a:ln w="0">
            <a:noFill/>
          </a:ln>
        </p:spPr>
      </p:pic>
      <p:sp>
        <p:nvSpPr>
          <p:cNvPr id="136" name="Text 25"/>
          <p:cNvSpPr/>
          <p:nvPr/>
        </p:nvSpPr>
        <p:spPr>
          <a:xfrm>
            <a:off x="7040880" y="3657600"/>
            <a:ext cx="185580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6242f"/>
                </a:solidFill>
                <a:latin typeface="Calibri"/>
                <a:ea typeface="Calibri"/>
              </a:rPr>
              <a:t>mTLS on Ubuntu</a:t>
            </a:r>
            <a:endParaRPr b="0" lang="en-US" sz="1300" spc="-1" strike="noStrike">
              <a:solidFill>
                <a:srgbClr val="000000"/>
              </a:solidFill>
              <a:latin typeface="Arial"/>
            </a:endParaRPr>
          </a:p>
        </p:txBody>
      </p:sp>
      <p:sp>
        <p:nvSpPr>
          <p:cNvPr id="137" name="Text 26"/>
          <p:cNvSpPr/>
          <p:nvPr/>
        </p:nvSpPr>
        <p:spPr>
          <a:xfrm>
            <a:off x="7040880" y="3959280"/>
            <a:ext cx="18558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e7484"/>
                </a:solidFill>
                <a:latin typeface="Calibri"/>
                <a:ea typeface="Calibri"/>
              </a:rPr>
              <a:t>Nginx, TLS 1.2 / 1.3</a:t>
            </a:r>
            <a:endParaRPr b="0" lang="en-US" sz="1050" spc="-1" strike="noStrike">
              <a:solidFill>
                <a:srgbClr val="000000"/>
              </a:solidFill>
              <a:latin typeface="Arial"/>
            </a:endParaRPr>
          </a:p>
        </p:txBody>
      </p:sp>
      <p:sp>
        <p:nvSpPr>
          <p:cNvPr id="138" name="Text 27"/>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39" name="Text 28"/>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6</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40"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41" name="Image 0" descr="preencoded.png"/>
          <p:cNvPicPr/>
          <p:nvPr/>
        </p:nvPicPr>
        <p:blipFill>
          <a:blip r:embed="rId1"/>
          <a:stretch/>
        </p:blipFill>
        <p:spPr>
          <a:xfrm>
            <a:off x="589680" y="516600"/>
            <a:ext cx="301320" cy="301320"/>
          </a:xfrm>
          <a:prstGeom prst="rect">
            <a:avLst/>
          </a:prstGeom>
          <a:ln w="0">
            <a:noFill/>
          </a:ln>
        </p:spPr>
      </p:pic>
      <p:sp>
        <p:nvSpPr>
          <p:cNvPr id="142"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BUILDING THE CA</a:t>
            </a:r>
            <a:endParaRPr b="0" lang="en-US" sz="1100" spc="-1" strike="noStrike">
              <a:solidFill>
                <a:srgbClr val="000000"/>
              </a:solidFill>
              <a:latin typeface="Arial"/>
            </a:endParaRPr>
          </a:p>
        </p:txBody>
      </p:sp>
      <p:sp>
        <p:nvSpPr>
          <p:cNvPr id="143"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Three steps to a trust chain</a:t>
            </a:r>
            <a:endParaRPr b="0" lang="en-US" sz="2500" spc="-1" strike="noStrike">
              <a:solidFill>
                <a:srgbClr val="000000"/>
              </a:solidFill>
              <a:latin typeface="Arial"/>
            </a:endParaRPr>
          </a:p>
        </p:txBody>
      </p:sp>
      <p:sp>
        <p:nvSpPr>
          <p:cNvPr id="144" name="Shape 3"/>
          <p:cNvSpPr/>
          <p:nvPr/>
        </p:nvSpPr>
        <p:spPr>
          <a:xfrm>
            <a:off x="548640" y="1463040"/>
            <a:ext cx="2587320" cy="3017160"/>
          </a:xfrm>
          <a:prstGeom prst="roundRect">
            <a:avLst>
              <a:gd name="adj" fmla="val 2827"/>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5" name="Shape 4"/>
          <p:cNvSpPr/>
          <p:nvPr/>
        </p:nvSpPr>
        <p:spPr>
          <a:xfrm>
            <a:off x="777240" y="1691640"/>
            <a:ext cx="502560" cy="5025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Text 5"/>
          <p:cNvSpPr/>
          <p:nvPr/>
        </p:nvSpPr>
        <p:spPr>
          <a:xfrm>
            <a:off x="777240" y="169164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Calibri"/>
                <a:ea typeface="Calibri"/>
              </a:rPr>
              <a:t>1</a:t>
            </a:r>
            <a:endParaRPr b="0" lang="en-US" sz="2000" spc="-1" strike="noStrike">
              <a:solidFill>
                <a:srgbClr val="000000"/>
              </a:solidFill>
              <a:latin typeface="Arial"/>
            </a:endParaRPr>
          </a:p>
        </p:txBody>
      </p:sp>
      <p:sp>
        <p:nvSpPr>
          <p:cNvPr id="147" name="Text 6"/>
          <p:cNvSpPr/>
          <p:nvPr/>
        </p:nvSpPr>
        <p:spPr>
          <a:xfrm>
            <a:off x="777240" y="2331720"/>
            <a:ext cx="2130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Root CA</a:t>
            </a:r>
            <a:endParaRPr b="0" lang="en-US" sz="1500" spc="-1" strike="noStrike">
              <a:solidFill>
                <a:srgbClr val="000000"/>
              </a:solidFill>
              <a:latin typeface="Arial"/>
            </a:endParaRPr>
          </a:p>
        </p:txBody>
      </p:sp>
      <p:sp>
        <p:nvSpPr>
          <p:cNvPr id="148" name="Text 7"/>
          <p:cNvSpPr/>
          <p:nvPr/>
        </p:nvSpPr>
        <p:spPr>
          <a:xfrm>
            <a:off x="777240" y="2743200"/>
            <a:ext cx="213012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50" spc="-1" strike="noStrike">
                <a:solidFill>
                  <a:srgbClr val="5e7484"/>
                </a:solidFill>
                <a:latin typeface="Calibri"/>
                <a:ea typeface="Calibri"/>
              </a:rPr>
              <a:t>4096-bit key (AES-256), self-signed certificate, 20-year validity. Generated once, then kept offline.</a:t>
            </a:r>
            <a:endParaRPr b="0" lang="en-US" sz="1150" spc="-1" strike="noStrike">
              <a:solidFill>
                <a:srgbClr val="000000"/>
              </a:solidFill>
              <a:latin typeface="Arial"/>
            </a:endParaRPr>
          </a:p>
        </p:txBody>
      </p:sp>
      <p:sp>
        <p:nvSpPr>
          <p:cNvPr id="149" name="Shape 8"/>
          <p:cNvSpPr/>
          <p:nvPr/>
        </p:nvSpPr>
        <p:spPr>
          <a:xfrm>
            <a:off x="3364920" y="1463040"/>
            <a:ext cx="2587320" cy="3017160"/>
          </a:xfrm>
          <a:prstGeom prst="roundRect">
            <a:avLst>
              <a:gd name="adj" fmla="val 2827"/>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0" name="Shape 9"/>
          <p:cNvSpPr/>
          <p:nvPr/>
        </p:nvSpPr>
        <p:spPr>
          <a:xfrm>
            <a:off x="3593520" y="1691640"/>
            <a:ext cx="502560" cy="5025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1" name="Text 10"/>
          <p:cNvSpPr/>
          <p:nvPr/>
        </p:nvSpPr>
        <p:spPr>
          <a:xfrm>
            <a:off x="3593520" y="169164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Calibri"/>
                <a:ea typeface="Calibri"/>
              </a:rPr>
              <a:t>2</a:t>
            </a:r>
            <a:endParaRPr b="0" lang="en-US" sz="2000" spc="-1" strike="noStrike">
              <a:solidFill>
                <a:srgbClr val="000000"/>
              </a:solidFill>
              <a:latin typeface="Arial"/>
            </a:endParaRPr>
          </a:p>
        </p:txBody>
      </p:sp>
      <p:sp>
        <p:nvSpPr>
          <p:cNvPr id="152" name="Text 11"/>
          <p:cNvSpPr/>
          <p:nvPr/>
        </p:nvSpPr>
        <p:spPr>
          <a:xfrm>
            <a:off x="3593520" y="2331720"/>
            <a:ext cx="2130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Intermediate CA</a:t>
            </a:r>
            <a:endParaRPr b="0" lang="en-US" sz="1500" spc="-1" strike="noStrike">
              <a:solidFill>
                <a:srgbClr val="000000"/>
              </a:solidFill>
              <a:latin typeface="Arial"/>
            </a:endParaRPr>
          </a:p>
        </p:txBody>
      </p:sp>
      <p:sp>
        <p:nvSpPr>
          <p:cNvPr id="153" name="Text 12"/>
          <p:cNvSpPr/>
          <p:nvPr/>
        </p:nvSpPr>
        <p:spPr>
          <a:xfrm>
            <a:off x="3593520" y="2743200"/>
            <a:ext cx="213012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50" spc="-1" strike="noStrike">
                <a:solidFill>
                  <a:srgbClr val="5e7484"/>
                </a:solidFill>
                <a:latin typeface="Calibri"/>
                <a:ea typeface="Calibri"/>
              </a:rPr>
              <a:t>Key + CSR, signed by the Root with pathlen:0. Valid 10 years. Does all day-to-day issuing.</a:t>
            </a:r>
            <a:endParaRPr b="0" lang="en-US" sz="1150" spc="-1" strike="noStrike">
              <a:solidFill>
                <a:srgbClr val="000000"/>
              </a:solidFill>
              <a:latin typeface="Arial"/>
            </a:endParaRPr>
          </a:p>
        </p:txBody>
      </p:sp>
      <p:sp>
        <p:nvSpPr>
          <p:cNvPr id="154" name="Shape 13"/>
          <p:cNvSpPr/>
          <p:nvPr/>
        </p:nvSpPr>
        <p:spPr>
          <a:xfrm>
            <a:off x="6181200" y="1463040"/>
            <a:ext cx="2587320" cy="3017160"/>
          </a:xfrm>
          <a:prstGeom prst="roundRect">
            <a:avLst>
              <a:gd name="adj" fmla="val 2827"/>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5" name="Shape 14"/>
          <p:cNvSpPr/>
          <p:nvPr/>
        </p:nvSpPr>
        <p:spPr>
          <a:xfrm>
            <a:off x="6409800" y="1691640"/>
            <a:ext cx="502560" cy="5025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Text 15"/>
          <p:cNvSpPr/>
          <p:nvPr/>
        </p:nvSpPr>
        <p:spPr>
          <a:xfrm>
            <a:off x="6409800" y="169164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fffff"/>
                </a:solidFill>
                <a:latin typeface="Calibri"/>
                <a:ea typeface="Calibri"/>
              </a:rPr>
              <a:t>3</a:t>
            </a:r>
            <a:endParaRPr b="0" lang="en-US" sz="2000" spc="-1" strike="noStrike">
              <a:solidFill>
                <a:srgbClr val="000000"/>
              </a:solidFill>
              <a:latin typeface="Arial"/>
            </a:endParaRPr>
          </a:p>
        </p:txBody>
      </p:sp>
      <p:sp>
        <p:nvSpPr>
          <p:cNvPr id="157" name="Text 16"/>
          <p:cNvSpPr/>
          <p:nvPr/>
        </p:nvSpPr>
        <p:spPr>
          <a:xfrm>
            <a:off x="6409800" y="2331720"/>
            <a:ext cx="2130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Chain bundle</a:t>
            </a:r>
            <a:endParaRPr b="0" lang="en-US" sz="1500" spc="-1" strike="noStrike">
              <a:solidFill>
                <a:srgbClr val="000000"/>
              </a:solidFill>
              <a:latin typeface="Arial"/>
            </a:endParaRPr>
          </a:p>
        </p:txBody>
      </p:sp>
      <p:sp>
        <p:nvSpPr>
          <p:cNvPr id="158" name="Text 17"/>
          <p:cNvSpPr/>
          <p:nvPr/>
        </p:nvSpPr>
        <p:spPr>
          <a:xfrm>
            <a:off x="6409800" y="2743200"/>
            <a:ext cx="213012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150" spc="-1" strike="noStrike">
                <a:solidFill>
                  <a:srgbClr val="5e7484"/>
                </a:solidFill>
                <a:latin typeface="Calibri"/>
                <a:ea typeface="Calibri"/>
              </a:rPr>
              <a:t>Intermediate + Root concatenated into ca-chain.cert.pem, given to clients to verify the full path.</a:t>
            </a:r>
            <a:endParaRPr b="0" lang="en-US" sz="1150" spc="-1" strike="noStrike">
              <a:solidFill>
                <a:srgbClr val="000000"/>
              </a:solidFill>
              <a:latin typeface="Arial"/>
            </a:endParaRPr>
          </a:p>
        </p:txBody>
      </p:sp>
      <p:sp>
        <p:nvSpPr>
          <p:cNvPr id="159" name="Text 18"/>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60" name="Text 19"/>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7</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61"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62" name="Image 0" descr="preencoded.png"/>
          <p:cNvPicPr/>
          <p:nvPr/>
        </p:nvPicPr>
        <p:blipFill>
          <a:blip r:embed="rId1"/>
          <a:stretch/>
        </p:blipFill>
        <p:spPr>
          <a:xfrm>
            <a:off x="589680" y="516600"/>
            <a:ext cx="301320" cy="301320"/>
          </a:xfrm>
          <a:prstGeom prst="rect">
            <a:avLst/>
          </a:prstGeom>
          <a:ln w="0">
            <a:noFill/>
          </a:ln>
        </p:spPr>
      </p:pic>
      <p:sp>
        <p:nvSpPr>
          <p:cNvPr id="163"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BUILDING THE CA</a:t>
            </a:r>
            <a:endParaRPr b="0" lang="en-US" sz="1100" spc="-1" strike="noStrike">
              <a:solidFill>
                <a:srgbClr val="000000"/>
              </a:solidFill>
              <a:latin typeface="Arial"/>
            </a:endParaRPr>
          </a:p>
        </p:txBody>
      </p:sp>
      <p:sp>
        <p:nvSpPr>
          <p:cNvPr id="164"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Issuing end-entity certificates</a:t>
            </a:r>
            <a:endParaRPr b="0" lang="en-US" sz="2500" spc="-1" strike="noStrike">
              <a:solidFill>
                <a:srgbClr val="000000"/>
              </a:solidFill>
              <a:latin typeface="Arial"/>
            </a:endParaRPr>
          </a:p>
        </p:txBody>
      </p:sp>
      <p:sp>
        <p:nvSpPr>
          <p:cNvPr id="165" name="Shape 3"/>
          <p:cNvSpPr/>
          <p:nvPr/>
        </p:nvSpPr>
        <p:spPr>
          <a:xfrm>
            <a:off x="548640" y="1417320"/>
            <a:ext cx="3977280" cy="1919880"/>
          </a:xfrm>
          <a:prstGeom prst="roundRect">
            <a:avLst>
              <a:gd name="adj" fmla="val 3810"/>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6" name="Shape 4"/>
          <p:cNvSpPr/>
          <p:nvPr/>
        </p:nvSpPr>
        <p:spPr>
          <a:xfrm>
            <a:off x="777240" y="164592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7" name="Image 1" descr="preencoded.png"/>
          <p:cNvPicPr/>
          <p:nvPr/>
        </p:nvPicPr>
        <p:blipFill>
          <a:blip r:embed="rId2"/>
          <a:stretch/>
        </p:blipFill>
        <p:spPr>
          <a:xfrm>
            <a:off x="896040" y="1764720"/>
            <a:ext cx="219240" cy="219240"/>
          </a:xfrm>
          <a:prstGeom prst="rect">
            <a:avLst/>
          </a:prstGeom>
          <a:ln w="0">
            <a:noFill/>
          </a:ln>
        </p:spPr>
      </p:pic>
      <p:sp>
        <p:nvSpPr>
          <p:cNvPr id="168" name="Text 5"/>
          <p:cNvSpPr/>
          <p:nvPr/>
        </p:nvSpPr>
        <p:spPr>
          <a:xfrm>
            <a:off x="1371600" y="1673280"/>
            <a:ext cx="3017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Server certificate</a:t>
            </a:r>
            <a:endParaRPr b="0" lang="en-US" sz="1500" spc="-1" strike="noStrike">
              <a:solidFill>
                <a:srgbClr val="000000"/>
              </a:solidFill>
              <a:latin typeface="Arial"/>
            </a:endParaRPr>
          </a:p>
        </p:txBody>
      </p:sp>
      <p:sp>
        <p:nvSpPr>
          <p:cNvPr id="169" name="Text 6"/>
          <p:cNvSpPr/>
          <p:nvPr/>
        </p:nvSpPr>
        <p:spPr>
          <a:xfrm>
            <a:off x="822960" y="2240280"/>
            <a:ext cx="3565800" cy="10054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CN + SAN = www.cybersec.ulb.ac.be</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EKU: serverAuth</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Served as a fullchain (leaf + intermediate)</a:t>
            </a:r>
            <a:endParaRPr b="0" lang="en-US" sz="1150" spc="-1" strike="noStrike">
              <a:solidFill>
                <a:srgbClr val="000000"/>
              </a:solidFill>
              <a:latin typeface="Arial"/>
            </a:endParaRPr>
          </a:p>
        </p:txBody>
      </p:sp>
      <p:sp>
        <p:nvSpPr>
          <p:cNvPr id="170" name="Shape 7"/>
          <p:cNvSpPr/>
          <p:nvPr/>
        </p:nvSpPr>
        <p:spPr>
          <a:xfrm>
            <a:off x="4617720" y="1417320"/>
            <a:ext cx="3977280" cy="1919880"/>
          </a:xfrm>
          <a:prstGeom prst="roundRect">
            <a:avLst>
              <a:gd name="adj" fmla="val 3810"/>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Shape 8"/>
          <p:cNvSpPr/>
          <p:nvPr/>
        </p:nvSpPr>
        <p:spPr>
          <a:xfrm>
            <a:off x="4846320" y="164592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72" name="Image 2" descr="preencoded.png"/>
          <p:cNvPicPr/>
          <p:nvPr/>
        </p:nvPicPr>
        <p:blipFill>
          <a:blip r:embed="rId3"/>
          <a:stretch/>
        </p:blipFill>
        <p:spPr>
          <a:xfrm>
            <a:off x="4965120" y="1764720"/>
            <a:ext cx="219240" cy="219240"/>
          </a:xfrm>
          <a:prstGeom prst="rect">
            <a:avLst/>
          </a:prstGeom>
          <a:ln w="0">
            <a:noFill/>
          </a:ln>
        </p:spPr>
      </p:pic>
      <p:sp>
        <p:nvSpPr>
          <p:cNvPr id="173" name="Text 9"/>
          <p:cNvSpPr/>
          <p:nvPr/>
        </p:nvSpPr>
        <p:spPr>
          <a:xfrm>
            <a:off x="5440680" y="1673280"/>
            <a:ext cx="3017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Client certificates</a:t>
            </a:r>
            <a:endParaRPr b="0" lang="en-US" sz="1500" spc="-1" strike="noStrike">
              <a:solidFill>
                <a:srgbClr val="000000"/>
              </a:solidFill>
              <a:latin typeface="Arial"/>
            </a:endParaRPr>
          </a:p>
        </p:txBody>
      </p:sp>
      <p:sp>
        <p:nvSpPr>
          <p:cNvPr id="174" name="Text 10"/>
          <p:cNvSpPr/>
          <p:nvPr/>
        </p:nvSpPr>
        <p:spPr>
          <a:xfrm>
            <a:off x="4892040" y="2240280"/>
            <a:ext cx="3565800" cy="10054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prof@…  — stays valid (success test)</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student@…  — revoked later (fail test)</a:t>
            </a:r>
            <a:endParaRPr b="0" lang="en-US" sz="1150" spc="-1" strike="noStrike">
              <a:solidFill>
                <a:srgbClr val="000000"/>
              </a:solidFill>
              <a:latin typeface="Arial"/>
            </a:endParaRPr>
          </a:p>
          <a:p>
            <a:pPr marL="343080" indent="-343080" defTabSz="914400">
              <a:lnSpc>
                <a:spcPct val="100000"/>
              </a:lnSpc>
              <a:spcAft>
                <a:spcPts val="601"/>
              </a:spcAft>
              <a:buClr>
                <a:srgbClr val="16242f"/>
              </a:buClr>
              <a:buFont typeface="Symbol" charset="2"/>
              <a:buChar char=""/>
            </a:pPr>
            <a:r>
              <a:rPr b="0" lang="en-US" sz="1150" spc="-1" strike="noStrike">
                <a:solidFill>
                  <a:srgbClr val="16242f"/>
                </a:solidFill>
                <a:latin typeface="Calibri"/>
                <a:ea typeface="Calibri"/>
              </a:rPr>
              <a:t>EKU: clientAuth</a:t>
            </a:r>
            <a:endParaRPr b="0" lang="en-US" sz="1150" spc="-1" strike="noStrike">
              <a:solidFill>
                <a:srgbClr val="000000"/>
              </a:solidFill>
              <a:latin typeface="Arial"/>
            </a:endParaRPr>
          </a:p>
        </p:txBody>
      </p:sp>
      <p:sp>
        <p:nvSpPr>
          <p:cNvPr id="175" name="Shape 11"/>
          <p:cNvSpPr/>
          <p:nvPr/>
        </p:nvSpPr>
        <p:spPr>
          <a:xfrm>
            <a:off x="548640" y="3520440"/>
            <a:ext cx="8046360" cy="1005480"/>
          </a:xfrm>
          <a:prstGeom prst="roundRect">
            <a:avLst>
              <a:gd name="adj" fmla="val 727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Shape 12"/>
          <p:cNvSpPr/>
          <p:nvPr/>
        </p:nvSpPr>
        <p:spPr>
          <a:xfrm>
            <a:off x="822960" y="3767400"/>
            <a:ext cx="511560" cy="511560"/>
          </a:xfrm>
          <a:prstGeom prst="ellipse">
            <a:avLst/>
          </a:prstGeom>
          <a:solidFill>
            <a:srgbClr val="d893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77" name="Image 3" descr="preencoded.png"/>
          <p:cNvPicPr/>
          <p:nvPr/>
        </p:nvPicPr>
        <p:blipFill>
          <a:blip r:embed="rId4"/>
          <a:stretch/>
        </p:blipFill>
        <p:spPr>
          <a:xfrm>
            <a:off x="956160" y="3900600"/>
            <a:ext cx="245520" cy="245520"/>
          </a:xfrm>
          <a:prstGeom prst="rect">
            <a:avLst/>
          </a:prstGeom>
          <a:ln w="0">
            <a:noFill/>
          </a:ln>
        </p:spPr>
      </p:pic>
      <p:sp>
        <p:nvSpPr>
          <p:cNvPr id="178" name="Text 13"/>
          <p:cNvSpPr/>
          <p:nvPr/>
        </p:nvSpPr>
        <p:spPr>
          <a:xfrm>
            <a:off x="1508760" y="3566160"/>
            <a:ext cx="6857640" cy="9140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1250" spc="-1" strike="noStrike">
                <a:solidFill>
                  <a:srgbClr val="9a6512"/>
                </a:solidFill>
                <a:latin typeface="Calibri"/>
                <a:ea typeface="Calibri"/>
              </a:rPr>
              <a:t>SAN is mandatory.  </a:t>
            </a:r>
            <a:r>
              <a:rPr b="0" lang="en-US" sz="1250" spc="-1" strike="noStrike">
                <a:solidFill>
                  <a:srgbClr val="9a6512"/>
                </a:solidFill>
                <a:latin typeface="Calibri"/>
                <a:ea typeface="Calibri"/>
              </a:rPr>
              <a:t>Modern browsers ignore the Common Name and match the hostname only against the Subject Alternative Name. A server cert without a SAN is rejected — this was our first real bug.</a:t>
            </a:r>
            <a:endParaRPr b="0" lang="en-US" sz="1250" spc="-1" strike="noStrike">
              <a:solidFill>
                <a:srgbClr val="000000"/>
              </a:solidFill>
              <a:latin typeface="Arial"/>
            </a:endParaRPr>
          </a:p>
        </p:txBody>
      </p:sp>
      <p:sp>
        <p:nvSpPr>
          <p:cNvPr id="179" name="Text 14"/>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80" name="Text 15"/>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8</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81"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82" name="Image 0" descr="preencoded.png"/>
          <p:cNvPicPr/>
          <p:nvPr/>
        </p:nvPicPr>
        <p:blipFill>
          <a:blip r:embed="rId1"/>
          <a:stretch/>
        </p:blipFill>
        <p:spPr>
          <a:xfrm>
            <a:off x="589680" y="516600"/>
            <a:ext cx="301320" cy="301320"/>
          </a:xfrm>
          <a:prstGeom prst="rect">
            <a:avLst/>
          </a:prstGeom>
          <a:ln w="0">
            <a:noFill/>
          </a:ln>
        </p:spPr>
      </p:pic>
      <p:sp>
        <p:nvSpPr>
          <p:cNvPr id="183"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REVOCATION &amp; MTLS</a:t>
            </a:r>
            <a:endParaRPr b="0" lang="en-US" sz="1100" spc="-1" strike="noStrike">
              <a:solidFill>
                <a:srgbClr val="000000"/>
              </a:solidFill>
              <a:latin typeface="Arial"/>
            </a:endParaRPr>
          </a:p>
        </p:txBody>
      </p:sp>
      <p:sp>
        <p:nvSpPr>
          <p:cNvPr id="184"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Certificate revocation with a CRL</a:t>
            </a:r>
            <a:endParaRPr b="0" lang="en-US" sz="2500" spc="-1" strike="noStrike">
              <a:solidFill>
                <a:srgbClr val="000000"/>
              </a:solidFill>
              <a:latin typeface="Arial"/>
            </a:endParaRPr>
          </a:p>
        </p:txBody>
      </p:sp>
      <p:sp>
        <p:nvSpPr>
          <p:cNvPr id="185" name="Text 3"/>
          <p:cNvSpPr/>
          <p:nvPr/>
        </p:nvSpPr>
        <p:spPr>
          <a:xfrm>
            <a:off x="548640" y="1417320"/>
            <a:ext cx="4571640" cy="2377080"/>
          </a:xfrm>
          <a:prstGeom prst="rect">
            <a:avLst/>
          </a:prstGeom>
          <a:noFill/>
          <a:ln w="0">
            <a:noFill/>
          </a:ln>
        </p:spPr>
        <p:style>
          <a:lnRef idx="0"/>
          <a:fillRef idx="0"/>
          <a:effectRef idx="0"/>
          <a:fontRef idx="minor"/>
        </p:style>
        <p:txBody>
          <a:bodyPr lIns="0" rIns="0" tIns="0" bIns="0" anchor="t">
            <a:noAutofit/>
          </a:bodyPr>
          <a:p>
            <a:pPr defTabSz="914400">
              <a:lnSpc>
                <a:spcPct val="105000"/>
              </a:lnSpc>
              <a:spcAft>
                <a:spcPts val="1001"/>
              </a:spcAft>
              <a:tabLst>
                <a:tab algn="l" pos="0"/>
              </a:tabLst>
            </a:pPr>
            <a:r>
              <a:rPr b="0" lang="en-US" sz="1300" spc="-1" strike="noStrike">
                <a:solidFill>
                  <a:srgbClr val="16242f"/>
                </a:solidFill>
                <a:latin typeface="Calibri"/>
                <a:ea typeface="Calibri"/>
              </a:rPr>
              <a:t>A CRL is a CA-signed list of revoked serial numbers.</a:t>
            </a:r>
            <a:endParaRPr b="0" lang="en-US" sz="1300" spc="-1" strike="noStrike">
              <a:solidFill>
                <a:srgbClr val="000000"/>
              </a:solidFill>
              <a:latin typeface="Arial"/>
            </a:endParaRPr>
          </a:p>
          <a:p>
            <a:pPr defTabSz="914400">
              <a:lnSpc>
                <a:spcPct val="105000"/>
              </a:lnSpc>
              <a:spcAft>
                <a:spcPts val="1001"/>
              </a:spcAft>
              <a:tabLst>
                <a:tab algn="l" pos="0"/>
              </a:tabLst>
            </a:pPr>
            <a:r>
              <a:rPr b="0" lang="en-US" sz="1300" spc="-1" strike="noStrike">
                <a:solidFill>
                  <a:srgbClr val="16242f"/>
                </a:solidFill>
                <a:latin typeface="Calibri"/>
                <a:ea typeface="Calibri"/>
              </a:rPr>
              <a:t>We revoke </a:t>
            </a:r>
            <a:r>
              <a:rPr b="0" lang="en-US" sz="1250" spc="-1" strike="noStrike">
                <a:solidFill>
                  <a:srgbClr val="0f9c92"/>
                </a:solidFill>
                <a:latin typeface="Courier New"/>
                <a:ea typeface="Courier New"/>
              </a:rPr>
              <a:t>student.client</a:t>
            </a:r>
            <a:r>
              <a:rPr b="0" lang="en-US" sz="1300" spc="-1" strike="noStrike">
                <a:solidFill>
                  <a:srgbClr val="16242f"/>
                </a:solidFill>
                <a:latin typeface="Calibri"/>
                <a:ea typeface="Calibri"/>
              </a:rPr>
              <a:t>, regenerate the CRL, and Nginx checks every handshake against it.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16242f"/>
                </a:solidFill>
                <a:latin typeface="Calibri"/>
                <a:ea typeface="Calibri"/>
              </a:rPr>
              <a:t>Served over plain HTTP — the list is signed and public.</a:t>
            </a:r>
            <a:endParaRPr b="0" lang="en-US" sz="1300" spc="-1" strike="noStrike">
              <a:solidFill>
                <a:srgbClr val="000000"/>
              </a:solidFill>
              <a:latin typeface="Arial"/>
            </a:endParaRPr>
          </a:p>
        </p:txBody>
      </p:sp>
      <p:sp>
        <p:nvSpPr>
          <p:cNvPr id="186" name="Shape 4"/>
          <p:cNvSpPr/>
          <p:nvPr/>
        </p:nvSpPr>
        <p:spPr>
          <a:xfrm>
            <a:off x="5349240" y="1417320"/>
            <a:ext cx="3245760" cy="1462680"/>
          </a:xfrm>
          <a:prstGeom prst="roundRect">
            <a:avLst>
              <a:gd name="adj" fmla="val 5000"/>
            </a:avLst>
          </a:prstGeom>
          <a:solidFill>
            <a:srgbClr val="eaf2f4"/>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7" name="Shape 5"/>
          <p:cNvSpPr/>
          <p:nvPr/>
        </p:nvSpPr>
        <p:spPr>
          <a:xfrm>
            <a:off x="5577840" y="1645920"/>
            <a:ext cx="456840" cy="4568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88" name="Image 1" descr="preencoded.png"/>
          <p:cNvPicPr/>
          <p:nvPr/>
        </p:nvPicPr>
        <p:blipFill>
          <a:blip r:embed="rId2"/>
          <a:stretch/>
        </p:blipFill>
        <p:spPr>
          <a:xfrm>
            <a:off x="5696640" y="1764720"/>
            <a:ext cx="219240" cy="219240"/>
          </a:xfrm>
          <a:prstGeom prst="rect">
            <a:avLst/>
          </a:prstGeom>
          <a:ln w="0">
            <a:noFill/>
          </a:ln>
        </p:spPr>
      </p:pic>
      <p:sp>
        <p:nvSpPr>
          <p:cNvPr id="189" name="Text 6"/>
          <p:cNvSpPr/>
          <p:nvPr/>
        </p:nvSpPr>
        <p:spPr>
          <a:xfrm>
            <a:off x="6172200" y="1673280"/>
            <a:ext cx="2285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16242f"/>
                </a:solidFill>
                <a:latin typeface="Calibri"/>
                <a:ea typeface="Calibri"/>
              </a:rPr>
              <a:t>CRL vs OCSP</a:t>
            </a:r>
            <a:endParaRPr b="0" lang="en-US" sz="1350" spc="-1" strike="noStrike">
              <a:solidFill>
                <a:srgbClr val="000000"/>
              </a:solidFill>
              <a:latin typeface="Arial"/>
            </a:endParaRPr>
          </a:p>
        </p:txBody>
      </p:sp>
      <p:sp>
        <p:nvSpPr>
          <p:cNvPr id="190" name="Text 7"/>
          <p:cNvSpPr/>
          <p:nvPr/>
        </p:nvSpPr>
        <p:spPr>
          <a:xfrm>
            <a:off x="5577840" y="21945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499"/>
              </a:spcAft>
              <a:tabLst>
                <a:tab algn="l" pos="0"/>
              </a:tabLst>
            </a:pPr>
            <a:r>
              <a:rPr b="0" lang="en-US" sz="1100" spc="-1" strike="noStrike">
                <a:solidFill>
                  <a:srgbClr val="16242f"/>
                </a:solidFill>
                <a:latin typeface="Calibri"/>
                <a:ea typeface="Calibri"/>
              </a:rPr>
              <a:t>CRL — download list, match locally (ours)</a:t>
            </a:r>
            <a:endParaRPr b="0" lang="en-US" sz="1100" spc="-1" strike="noStrike">
              <a:solidFill>
                <a:srgbClr val="000000"/>
              </a:solidFill>
              <a:latin typeface="Arial"/>
            </a:endParaRPr>
          </a:p>
          <a:p>
            <a:pPr defTabSz="914400">
              <a:lnSpc>
                <a:spcPct val="100000"/>
              </a:lnSpc>
              <a:tabLst>
                <a:tab algn="l" pos="0"/>
              </a:tabLst>
            </a:pPr>
            <a:r>
              <a:rPr b="0" lang="en-US" sz="1100" spc="-1" strike="noStrike">
                <a:solidFill>
                  <a:srgbClr val="5e7484"/>
                </a:solidFill>
                <a:latin typeface="Calibri"/>
                <a:ea typeface="Calibri"/>
              </a:rPr>
              <a:t>OCSP — real-time query, can leak history</a:t>
            </a:r>
            <a:endParaRPr b="0" lang="en-US" sz="1100" spc="-1" strike="noStrike">
              <a:solidFill>
                <a:srgbClr val="000000"/>
              </a:solidFill>
              <a:latin typeface="Arial"/>
            </a:endParaRPr>
          </a:p>
        </p:txBody>
      </p:sp>
      <p:sp>
        <p:nvSpPr>
          <p:cNvPr id="191" name="Shape 8"/>
          <p:cNvSpPr/>
          <p:nvPr/>
        </p:nvSpPr>
        <p:spPr>
          <a:xfrm>
            <a:off x="5349240" y="3063240"/>
            <a:ext cx="3245760" cy="1416960"/>
          </a:xfrm>
          <a:prstGeom prst="roundRect">
            <a:avLst>
              <a:gd name="adj" fmla="val 5161"/>
            </a:avLst>
          </a:prstGeom>
          <a:solidFill>
            <a:srgbClr val="fbf1d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2" name="Text 9"/>
          <p:cNvSpPr/>
          <p:nvPr/>
        </p:nvSpPr>
        <p:spPr>
          <a:xfrm>
            <a:off x="5577840" y="3200400"/>
            <a:ext cx="2788560" cy="1142640"/>
          </a:xfrm>
          <a:prstGeom prst="rect">
            <a:avLst/>
          </a:prstGeom>
          <a:noFill/>
          <a:ln w="0">
            <a:noFill/>
          </a:ln>
        </p:spPr>
        <p:style>
          <a:lnRef idx="0"/>
          <a:fillRef idx="0"/>
          <a:effectRef idx="0"/>
          <a:fontRef idx="minor"/>
        </p:style>
        <p:txBody>
          <a:bodyPr lIns="0" rIns="0" tIns="0" bIns="0" anchor="ctr">
            <a:noAutofit/>
          </a:bodyPr>
          <a:p>
            <a:pPr defTabSz="914400">
              <a:lnSpc>
                <a:spcPct val="103000"/>
              </a:lnSpc>
              <a:tabLst>
                <a:tab algn="l" pos="0"/>
              </a:tabLst>
            </a:pPr>
            <a:r>
              <a:rPr b="1" lang="en-US" sz="1100" spc="-1" strike="noStrike">
                <a:solidFill>
                  <a:srgbClr val="9a6512"/>
                </a:solidFill>
                <a:latin typeface="Calibri"/>
                <a:ea typeface="Calibri"/>
              </a:rPr>
              <a:t>Our finding:  </a:t>
            </a:r>
            <a:r>
              <a:rPr b="0" lang="en-US" sz="1100" spc="-1" strike="noStrike">
                <a:solidFill>
                  <a:srgbClr val="9a6512"/>
                </a:solidFill>
                <a:latin typeface="Calibri"/>
                <a:ea typeface="Calibri"/>
              </a:rPr>
              <a:t>Nginx checks the whole chain, so it also needs a Root CRL. We serve a combined chain.crl.pem — without it, even valid client certs are rejected.</a:t>
            </a:r>
            <a:endParaRPr b="0" lang="en-US" sz="1100" spc="-1" strike="noStrike">
              <a:solidFill>
                <a:srgbClr val="000000"/>
              </a:solidFill>
              <a:latin typeface="Arial"/>
            </a:endParaRPr>
          </a:p>
        </p:txBody>
      </p:sp>
      <p:sp>
        <p:nvSpPr>
          <p:cNvPr id="193" name="Text 10"/>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194" name="Text 11"/>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9</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95"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96" name="Image 0" descr="preencoded.png"/>
          <p:cNvPicPr/>
          <p:nvPr/>
        </p:nvPicPr>
        <p:blipFill>
          <a:blip r:embed="rId1"/>
          <a:stretch/>
        </p:blipFill>
        <p:spPr>
          <a:xfrm>
            <a:off x="589680" y="516600"/>
            <a:ext cx="301320" cy="301320"/>
          </a:xfrm>
          <a:prstGeom prst="rect">
            <a:avLst/>
          </a:prstGeom>
          <a:ln w="0">
            <a:noFill/>
          </a:ln>
        </p:spPr>
      </p:pic>
      <p:sp>
        <p:nvSpPr>
          <p:cNvPr id="197"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REVOCATION &amp; MTLS</a:t>
            </a:r>
            <a:endParaRPr b="0" lang="en-US" sz="1100" spc="-1" strike="noStrike">
              <a:solidFill>
                <a:srgbClr val="000000"/>
              </a:solidFill>
              <a:latin typeface="Arial"/>
            </a:endParaRPr>
          </a:p>
        </p:txBody>
      </p:sp>
      <p:sp>
        <p:nvSpPr>
          <p:cNvPr id="198"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Standard TLS vs Mutual TLS</a:t>
            </a:r>
            <a:endParaRPr b="0" lang="en-US" sz="2500" spc="-1" strike="noStrike">
              <a:solidFill>
                <a:srgbClr val="000000"/>
              </a:solidFill>
              <a:latin typeface="Arial"/>
            </a:endParaRPr>
          </a:p>
        </p:txBody>
      </p:sp>
      <p:graphicFrame>
        <p:nvGraphicFramePr>
          <p:cNvPr id="199" name="Table 0"/>
          <p:cNvGraphicFramePr/>
          <p:nvPr/>
        </p:nvGraphicFramePr>
        <p:xfrm>
          <a:off x="640080" y="1508760"/>
          <a:ext cx="7863480" cy="2852640"/>
        </p:xfrm>
        <a:graphic>
          <a:graphicData uri="http://schemas.openxmlformats.org/drawingml/2006/table">
            <a:tbl>
              <a:tblPr/>
              <a:tblGrid>
                <a:gridCol w="3108960"/>
                <a:gridCol w="2194560"/>
                <a:gridCol w="2560320"/>
              </a:tblGrid>
              <a:tr h="475200">
                <a:tc>
                  <a:txBody>
                    <a:bodyPr lIns="50760" rIns="50760" tIns="50760" bIns="50760" anchor="ctr">
                      <a:noAutofit/>
                    </a:bodyPr>
                    <a:p>
                      <a:endParaRPr b="0" lang="en-US" sz="1300" spc="-1" strike="noStrike">
                        <a:solidFill>
                          <a:schemeClr val="dk1"/>
                        </a:solidFill>
                        <a:latin typeface="Calibri"/>
                        <a:ea typeface="Calibri"/>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4f7f9"/>
                    </a:solidFill>
                  </a:tcPr>
                </a:tc>
                <a:tc>
                  <a:txBody>
                    <a:bodyPr lIns="50760" rIns="50760" tIns="50760" bIns="50760" anchor="ctr">
                      <a:noAutofit/>
                    </a:bodyPr>
                    <a:p>
                      <a:pPr algn="ctr" defTabSz="914400">
                        <a:lnSpc>
                          <a:spcPct val="100000"/>
                        </a:lnSpc>
                        <a:tabLst>
                          <a:tab algn="l" pos="0"/>
                        </a:tabLst>
                      </a:pPr>
                      <a:r>
                        <a:rPr b="1" lang="en-US" sz="1300" spc="-1" strike="noStrike">
                          <a:solidFill>
                            <a:srgbClr val="ffffff"/>
                          </a:solidFill>
                          <a:latin typeface="Calibri"/>
                          <a:ea typeface="Calibri"/>
                        </a:rPr>
                        <a:t>TLS</a:t>
                      </a:r>
                      <a:endParaRPr b="0" lang="en-US" sz="1300" spc="-1" strike="noStrike">
                        <a:solidFill>
                          <a:srgbClr val="ffffff"/>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143b52"/>
                    </a:solidFill>
                  </a:tcPr>
                </a:tc>
                <a:tc>
                  <a:txBody>
                    <a:bodyPr lIns="50760" rIns="50760" tIns="50760" bIns="50760" anchor="ctr">
                      <a:noAutofit/>
                    </a:bodyPr>
                    <a:p>
                      <a:pPr algn="ctr" defTabSz="914400">
                        <a:lnSpc>
                          <a:spcPct val="100000"/>
                        </a:lnSpc>
                        <a:tabLst>
                          <a:tab algn="l" pos="0"/>
                        </a:tabLst>
                      </a:pPr>
                      <a:r>
                        <a:rPr b="1" lang="en-US" sz="1300" spc="-1" strike="noStrike">
                          <a:solidFill>
                            <a:srgbClr val="ffffff"/>
                          </a:solidFill>
                          <a:latin typeface="Calibri"/>
                          <a:ea typeface="Calibri"/>
                        </a:rPr>
                        <a:t>mTLS</a:t>
                      </a:r>
                      <a:endParaRPr b="0" lang="en-US" sz="1300" spc="-1" strike="noStrike">
                        <a:solidFill>
                          <a:srgbClr val="ffffff"/>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0f9c92"/>
                    </a:solidFill>
                  </a:tcPr>
                </a:tc>
              </a:tr>
              <a:tr h="475200">
                <a:tc>
                  <a:txBody>
                    <a:bodyPr lIns="50760" rIns="50760" tIns="50760" bIns="50760" anchor="ctr">
                      <a:noAutofit/>
                    </a:bodyPr>
                    <a:p>
                      <a:pPr defTabSz="914400">
                        <a:lnSpc>
                          <a:spcPct val="100000"/>
                        </a:lnSpc>
                        <a:tabLst>
                          <a:tab algn="l" pos="0"/>
                        </a:tabLst>
                      </a:pPr>
                      <a:r>
                        <a:rPr b="1" lang="en-US" sz="1200" spc="-1" strike="noStrike">
                          <a:solidFill>
                            <a:srgbClr val="16242f"/>
                          </a:solidFill>
                          <a:latin typeface="Calibri"/>
                          <a:ea typeface="Calibri"/>
                        </a:rPr>
                        <a:t>Server authenticates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5e7484"/>
                          </a:solidFill>
                          <a:latin typeface="Calibri"/>
                          <a:ea typeface="Calibri"/>
                        </a:rPr>
                        <a:t>Yes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0b6f68"/>
                          </a:solidFill>
                          <a:latin typeface="Calibri"/>
                          <a:ea typeface="Calibri"/>
                        </a:rPr>
                        <a:t>Yes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r>
              <a:tr h="475200">
                <a:tc>
                  <a:txBody>
                    <a:bodyPr lIns="50760" rIns="50760" tIns="50760" bIns="50760" anchor="ctr">
                      <a:noAutofit/>
                    </a:bodyPr>
                    <a:p>
                      <a:pPr defTabSz="914400">
                        <a:lnSpc>
                          <a:spcPct val="100000"/>
                        </a:lnSpc>
                        <a:tabLst>
                          <a:tab algn="l" pos="0"/>
                        </a:tabLst>
                      </a:pPr>
                      <a:r>
                        <a:rPr b="1" lang="en-US" sz="1200" spc="-1" strike="noStrike">
                          <a:solidFill>
                            <a:srgbClr val="16242f"/>
                          </a:solidFill>
                          <a:latin typeface="Calibri"/>
                          <a:ea typeface="Calibri"/>
                        </a:rPr>
                        <a:t>Client authenticates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5e7484"/>
                          </a:solidFill>
                          <a:latin typeface="Calibri"/>
                          <a:ea typeface="Calibri"/>
                        </a:rPr>
                        <a:t>No</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0b6f68"/>
                          </a:solidFill>
                          <a:latin typeface="Calibri"/>
                          <a:ea typeface="Calibri"/>
                        </a:rPr>
                        <a:t>Yes — certificate</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r>
              <a:tr h="475200">
                <a:tc>
                  <a:txBody>
                    <a:bodyPr lIns="50760" rIns="50760" tIns="50760" bIns="50760" anchor="ctr">
                      <a:noAutofit/>
                    </a:bodyPr>
                    <a:p>
                      <a:pPr defTabSz="914400">
                        <a:lnSpc>
                          <a:spcPct val="100000"/>
                        </a:lnSpc>
                        <a:tabLst>
                          <a:tab algn="l" pos="0"/>
                        </a:tabLst>
                      </a:pPr>
                      <a:r>
                        <a:rPr b="1" lang="en-US" sz="1200" spc="-1" strike="noStrike">
                          <a:solidFill>
                            <a:srgbClr val="16242f"/>
                          </a:solidFill>
                          <a:latin typeface="Calibri"/>
                          <a:ea typeface="Calibri"/>
                        </a:rPr>
                        <a:t>Client stays anonymous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5e7484"/>
                          </a:solidFill>
                          <a:latin typeface="Calibri"/>
                          <a:ea typeface="Calibri"/>
                        </a:rPr>
                        <a:t>Yes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0b6f68"/>
                          </a:solidFill>
                          <a:latin typeface="Calibri"/>
                          <a:ea typeface="Calibri"/>
                        </a:rPr>
                        <a:t>No</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r>
              <a:tr h="475200">
                <a:tc>
                  <a:txBody>
                    <a:bodyPr lIns="50760" rIns="50760" tIns="50760" bIns="50760" anchor="ctr">
                      <a:noAutofit/>
                    </a:bodyPr>
                    <a:p>
                      <a:pPr defTabSz="914400">
                        <a:lnSpc>
                          <a:spcPct val="100000"/>
                        </a:lnSpc>
                        <a:tabLst>
                          <a:tab algn="l" pos="0"/>
                        </a:tabLst>
                      </a:pPr>
                      <a:r>
                        <a:rPr b="1" lang="en-US" sz="1200" spc="-1" strike="noStrike">
                          <a:solidFill>
                            <a:srgbClr val="16242f"/>
                          </a:solidFill>
                          <a:latin typeface="Calibri"/>
                          <a:ea typeface="Calibri"/>
                        </a:rPr>
                        <a:t>Handshake</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5e7484"/>
                          </a:solidFill>
                          <a:latin typeface="Calibri"/>
                          <a:ea typeface="Calibri"/>
                        </a:rPr>
                        <a:t>Standard</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0b6f68"/>
                          </a:solidFill>
                          <a:latin typeface="Calibri"/>
                          <a:ea typeface="Calibri"/>
                        </a:rPr>
                        <a:t>+ CertificateRequest</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edf3f5"/>
                    </a:solidFill>
                  </a:tcPr>
                </a:tc>
              </a:tr>
              <a:tr h="475200">
                <a:tc>
                  <a:txBody>
                    <a:bodyPr lIns="50760" rIns="50760" tIns="50760" bIns="50760" anchor="ctr">
                      <a:noAutofit/>
                    </a:bodyPr>
                    <a:p>
                      <a:pPr defTabSz="914400">
                        <a:lnSpc>
                          <a:spcPct val="100000"/>
                        </a:lnSpc>
                        <a:tabLst>
                          <a:tab algn="l" pos="0"/>
                        </a:tabLst>
                      </a:pPr>
                      <a:r>
                        <a:rPr b="1" lang="en-US" sz="1200" spc="-1" strike="noStrike">
                          <a:solidFill>
                            <a:srgbClr val="16242f"/>
                          </a:solidFill>
                          <a:latin typeface="Calibri"/>
                          <a:ea typeface="Calibri"/>
                        </a:rPr>
                        <a:t>Typical use</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5e7484"/>
                          </a:solidFill>
                          <a:latin typeface="Calibri"/>
                          <a:ea typeface="Calibri"/>
                        </a:rPr>
                        <a:t>Public websites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c>
                  <a:txBody>
                    <a:bodyPr lIns="50760" rIns="50760" tIns="50760" bIns="50760" anchor="ctr">
                      <a:noAutofit/>
                    </a:bodyPr>
                    <a:p>
                      <a:pPr algn="ctr" defTabSz="914400">
                        <a:lnSpc>
                          <a:spcPct val="100000"/>
                        </a:lnSpc>
                        <a:tabLst>
                          <a:tab algn="l" pos="0"/>
                        </a:tabLst>
                      </a:pPr>
                      <a:r>
                        <a:rPr b="0" lang="en-US" sz="1200" spc="-1" strike="noStrike">
                          <a:solidFill>
                            <a:srgbClr val="0b6f68"/>
                          </a:solidFill>
                          <a:latin typeface="Calibri"/>
                          <a:ea typeface="Calibri"/>
                        </a:rPr>
                        <a:t>APIs, microservices, VPNs</a:t>
                      </a:r>
                      <a:endParaRPr b="0" lang="en-US" sz="1200" spc="-1" strike="noStrike">
                        <a:solidFill>
                          <a:srgbClr val="000000"/>
                        </a:solidFill>
                        <a:latin typeface="Arial"/>
                      </a:endParaRPr>
                    </a:p>
                  </a:txBody>
                  <a:tcPr anchor="ctr" marL="50760" marR="50760">
                    <a:lnL w="12240">
                      <a:solidFill>
                        <a:srgbClr val="dde6ea"/>
                      </a:solidFill>
                      <a:prstDash val="solid"/>
                    </a:lnL>
                    <a:lnR w="12240">
                      <a:solidFill>
                        <a:srgbClr val="dde6ea"/>
                      </a:solidFill>
                      <a:prstDash val="solid"/>
                    </a:lnR>
                    <a:lnT w="12240">
                      <a:solidFill>
                        <a:srgbClr val="dde6ea"/>
                      </a:solidFill>
                      <a:prstDash val="solid"/>
                    </a:lnT>
                    <a:lnB w="12240">
                      <a:solidFill>
                        <a:srgbClr val="dde6ea"/>
                      </a:solidFill>
                      <a:prstDash val="solid"/>
                    </a:lnB>
                    <a:solidFill>
                      <a:srgbClr val="ffffff"/>
                    </a:solidFill>
                  </a:tcPr>
                </a:tc>
              </a:tr>
            </a:tbl>
          </a:graphicData>
        </a:graphic>
      </p:graphicFrame>
      <p:sp>
        <p:nvSpPr>
          <p:cNvPr id="200" name="Text 4"/>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01" name="Text 5"/>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10</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02"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03" name="Image 0" descr="preencoded.png"/>
          <p:cNvPicPr/>
          <p:nvPr/>
        </p:nvPicPr>
        <p:blipFill>
          <a:blip r:embed="rId1"/>
          <a:stretch/>
        </p:blipFill>
        <p:spPr>
          <a:xfrm>
            <a:off x="589680" y="516600"/>
            <a:ext cx="301320" cy="301320"/>
          </a:xfrm>
          <a:prstGeom prst="rect">
            <a:avLst/>
          </a:prstGeom>
          <a:ln w="0">
            <a:noFill/>
          </a:ln>
        </p:spPr>
      </p:pic>
      <p:sp>
        <p:nvSpPr>
          <p:cNvPr id="204"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REVOCATION &amp; MTLS</a:t>
            </a:r>
            <a:endParaRPr b="0" lang="en-US" sz="1100" spc="-1" strike="noStrike">
              <a:solidFill>
                <a:srgbClr val="000000"/>
              </a:solidFill>
              <a:latin typeface="Arial"/>
            </a:endParaRPr>
          </a:p>
        </p:txBody>
      </p:sp>
      <p:sp>
        <p:nvSpPr>
          <p:cNvPr id="205"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The mutual TLS handshake</a:t>
            </a:r>
            <a:endParaRPr b="0" lang="en-US" sz="2500" spc="-1" strike="noStrike">
              <a:solidFill>
                <a:srgbClr val="000000"/>
              </a:solidFill>
              <a:latin typeface="Arial"/>
            </a:endParaRPr>
          </a:p>
        </p:txBody>
      </p:sp>
      <p:sp>
        <p:nvSpPr>
          <p:cNvPr id="206" name="Shape 3"/>
          <p:cNvSpPr/>
          <p:nvPr/>
        </p:nvSpPr>
        <p:spPr>
          <a:xfrm>
            <a:off x="548640" y="1417320"/>
            <a:ext cx="8046360" cy="475200"/>
          </a:xfrm>
          <a:prstGeom prst="roundRect">
            <a:avLst>
              <a:gd name="adj" fmla="val 15385"/>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7" name="Shape 4"/>
          <p:cNvSpPr/>
          <p:nvPr/>
        </p:nvSpPr>
        <p:spPr>
          <a:xfrm>
            <a:off x="713160" y="1490400"/>
            <a:ext cx="328680" cy="328680"/>
          </a:xfrm>
          <a:prstGeom prst="ellipse">
            <a:avLst/>
          </a:prstGeom>
          <a:solidFill>
            <a:srgbClr val="5e748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08" name="Image 1" descr="preencoded.png"/>
          <p:cNvPicPr/>
          <p:nvPr/>
        </p:nvPicPr>
        <p:blipFill>
          <a:blip r:embed="rId2"/>
          <a:stretch/>
        </p:blipFill>
        <p:spPr>
          <a:xfrm>
            <a:off x="786240" y="1563480"/>
            <a:ext cx="182520" cy="182520"/>
          </a:xfrm>
          <a:prstGeom prst="rect">
            <a:avLst/>
          </a:prstGeom>
          <a:ln w="0">
            <a:noFill/>
          </a:ln>
        </p:spPr>
      </p:pic>
      <p:sp>
        <p:nvSpPr>
          <p:cNvPr id="209" name="Text 5"/>
          <p:cNvSpPr/>
          <p:nvPr/>
        </p:nvSpPr>
        <p:spPr>
          <a:xfrm>
            <a:off x="1188720" y="1417320"/>
            <a:ext cx="9140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6242f"/>
                </a:solidFill>
                <a:latin typeface="Calibri"/>
                <a:ea typeface="Calibri"/>
              </a:rPr>
              <a:t>Client</a:t>
            </a:r>
            <a:endParaRPr b="0" lang="en-US" sz="1150" spc="-1" strike="noStrike">
              <a:solidFill>
                <a:srgbClr val="000000"/>
              </a:solidFill>
              <a:latin typeface="Arial"/>
            </a:endParaRPr>
          </a:p>
        </p:txBody>
      </p:sp>
      <p:sp>
        <p:nvSpPr>
          <p:cNvPr id="210" name="Text 6"/>
          <p:cNvSpPr/>
          <p:nvPr/>
        </p:nvSpPr>
        <p:spPr>
          <a:xfrm>
            <a:off x="2103120" y="1417320"/>
            <a:ext cx="63090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e7484"/>
                </a:solidFill>
                <a:latin typeface="Calibri"/>
                <a:ea typeface="Calibri"/>
              </a:rPr>
              <a:t>ClientHello</a:t>
            </a:r>
            <a:endParaRPr b="0" lang="en-US" sz="1200" spc="-1" strike="noStrike">
              <a:solidFill>
                <a:srgbClr val="000000"/>
              </a:solidFill>
              <a:latin typeface="Arial"/>
            </a:endParaRPr>
          </a:p>
        </p:txBody>
      </p:sp>
      <p:sp>
        <p:nvSpPr>
          <p:cNvPr id="211" name="Shape 7"/>
          <p:cNvSpPr/>
          <p:nvPr/>
        </p:nvSpPr>
        <p:spPr>
          <a:xfrm>
            <a:off x="548640" y="1956960"/>
            <a:ext cx="8046360" cy="47520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2" name="Shape 8"/>
          <p:cNvSpPr/>
          <p:nvPr/>
        </p:nvSpPr>
        <p:spPr>
          <a:xfrm>
            <a:off x="713160" y="2030040"/>
            <a:ext cx="328680" cy="32868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13" name="Image 2" descr="preencoded.png"/>
          <p:cNvPicPr/>
          <p:nvPr/>
        </p:nvPicPr>
        <p:blipFill>
          <a:blip r:embed="rId3"/>
          <a:stretch/>
        </p:blipFill>
        <p:spPr>
          <a:xfrm>
            <a:off x="786240" y="2103120"/>
            <a:ext cx="182520" cy="182520"/>
          </a:xfrm>
          <a:prstGeom prst="rect">
            <a:avLst/>
          </a:prstGeom>
          <a:ln w="0">
            <a:noFill/>
          </a:ln>
        </p:spPr>
      </p:pic>
      <p:sp>
        <p:nvSpPr>
          <p:cNvPr id="214" name="Text 9"/>
          <p:cNvSpPr/>
          <p:nvPr/>
        </p:nvSpPr>
        <p:spPr>
          <a:xfrm>
            <a:off x="1188720" y="1956960"/>
            <a:ext cx="9140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Server</a:t>
            </a:r>
            <a:endParaRPr b="0" lang="en-US" sz="1150" spc="-1" strike="noStrike">
              <a:solidFill>
                <a:srgbClr val="000000"/>
              </a:solidFill>
              <a:latin typeface="Arial"/>
            </a:endParaRPr>
          </a:p>
        </p:txBody>
      </p:sp>
      <p:sp>
        <p:nvSpPr>
          <p:cNvPr id="215" name="Text 10"/>
          <p:cNvSpPr/>
          <p:nvPr/>
        </p:nvSpPr>
        <p:spPr>
          <a:xfrm>
            <a:off x="2103120" y="1956960"/>
            <a:ext cx="63090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ServerHello + certificate + CertificateRequest</a:t>
            </a:r>
            <a:endParaRPr b="0" lang="en-US" sz="1200" spc="-1" strike="noStrike">
              <a:solidFill>
                <a:srgbClr val="000000"/>
              </a:solidFill>
              <a:latin typeface="Arial"/>
            </a:endParaRPr>
          </a:p>
        </p:txBody>
      </p:sp>
      <p:sp>
        <p:nvSpPr>
          <p:cNvPr id="216" name="Shape 11"/>
          <p:cNvSpPr/>
          <p:nvPr/>
        </p:nvSpPr>
        <p:spPr>
          <a:xfrm>
            <a:off x="548640" y="2496240"/>
            <a:ext cx="8046360" cy="47520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7" name="Shape 12"/>
          <p:cNvSpPr/>
          <p:nvPr/>
        </p:nvSpPr>
        <p:spPr>
          <a:xfrm>
            <a:off x="713160" y="2569320"/>
            <a:ext cx="328680" cy="32868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18" name="Image 3" descr="preencoded.png"/>
          <p:cNvPicPr/>
          <p:nvPr/>
        </p:nvPicPr>
        <p:blipFill>
          <a:blip r:embed="rId4"/>
          <a:stretch/>
        </p:blipFill>
        <p:spPr>
          <a:xfrm>
            <a:off x="786240" y="2642760"/>
            <a:ext cx="182520" cy="182520"/>
          </a:xfrm>
          <a:prstGeom prst="rect">
            <a:avLst/>
          </a:prstGeom>
          <a:ln w="0">
            <a:noFill/>
          </a:ln>
        </p:spPr>
      </p:pic>
      <p:sp>
        <p:nvSpPr>
          <p:cNvPr id="219" name="Text 13"/>
          <p:cNvSpPr/>
          <p:nvPr/>
        </p:nvSpPr>
        <p:spPr>
          <a:xfrm>
            <a:off x="1188720" y="2496240"/>
            <a:ext cx="9140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Client</a:t>
            </a:r>
            <a:endParaRPr b="0" lang="en-US" sz="1150" spc="-1" strike="noStrike">
              <a:solidFill>
                <a:srgbClr val="000000"/>
              </a:solidFill>
              <a:latin typeface="Arial"/>
            </a:endParaRPr>
          </a:p>
        </p:txBody>
      </p:sp>
      <p:sp>
        <p:nvSpPr>
          <p:cNvPr id="220" name="Text 14"/>
          <p:cNvSpPr/>
          <p:nvPr/>
        </p:nvSpPr>
        <p:spPr>
          <a:xfrm>
            <a:off x="2103120" y="2496240"/>
            <a:ext cx="63090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verifies server, then sends its own certificate</a:t>
            </a:r>
            <a:endParaRPr b="0" lang="en-US" sz="1200" spc="-1" strike="noStrike">
              <a:solidFill>
                <a:srgbClr val="000000"/>
              </a:solidFill>
              <a:latin typeface="Arial"/>
            </a:endParaRPr>
          </a:p>
        </p:txBody>
      </p:sp>
      <p:sp>
        <p:nvSpPr>
          <p:cNvPr id="221" name="Shape 15"/>
          <p:cNvSpPr/>
          <p:nvPr/>
        </p:nvSpPr>
        <p:spPr>
          <a:xfrm>
            <a:off x="548640" y="3035880"/>
            <a:ext cx="8046360" cy="47520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2" name="Shape 16"/>
          <p:cNvSpPr/>
          <p:nvPr/>
        </p:nvSpPr>
        <p:spPr>
          <a:xfrm>
            <a:off x="713160" y="3108960"/>
            <a:ext cx="328680" cy="32868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23" name="Image 4" descr="preencoded.png"/>
          <p:cNvPicPr/>
          <p:nvPr/>
        </p:nvPicPr>
        <p:blipFill>
          <a:blip r:embed="rId5"/>
          <a:stretch/>
        </p:blipFill>
        <p:spPr>
          <a:xfrm>
            <a:off x="786240" y="3182040"/>
            <a:ext cx="182520" cy="182520"/>
          </a:xfrm>
          <a:prstGeom prst="rect">
            <a:avLst/>
          </a:prstGeom>
          <a:ln w="0">
            <a:noFill/>
          </a:ln>
        </p:spPr>
      </p:pic>
      <p:sp>
        <p:nvSpPr>
          <p:cNvPr id="224" name="Text 17"/>
          <p:cNvSpPr/>
          <p:nvPr/>
        </p:nvSpPr>
        <p:spPr>
          <a:xfrm>
            <a:off x="1188720" y="3035880"/>
            <a:ext cx="9140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Client</a:t>
            </a:r>
            <a:endParaRPr b="0" lang="en-US" sz="1150" spc="-1" strike="noStrike">
              <a:solidFill>
                <a:srgbClr val="000000"/>
              </a:solidFill>
              <a:latin typeface="Arial"/>
            </a:endParaRPr>
          </a:p>
        </p:txBody>
      </p:sp>
      <p:sp>
        <p:nvSpPr>
          <p:cNvPr id="225" name="Text 18"/>
          <p:cNvSpPr/>
          <p:nvPr/>
        </p:nvSpPr>
        <p:spPr>
          <a:xfrm>
            <a:off x="2103120" y="3035880"/>
            <a:ext cx="63090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CertificateVerify — signs the transcript (proves key)</a:t>
            </a:r>
            <a:endParaRPr b="0" lang="en-US" sz="1200" spc="-1" strike="noStrike">
              <a:solidFill>
                <a:srgbClr val="000000"/>
              </a:solidFill>
              <a:latin typeface="Arial"/>
            </a:endParaRPr>
          </a:p>
        </p:txBody>
      </p:sp>
      <p:sp>
        <p:nvSpPr>
          <p:cNvPr id="226" name="Shape 19"/>
          <p:cNvSpPr/>
          <p:nvPr/>
        </p:nvSpPr>
        <p:spPr>
          <a:xfrm>
            <a:off x="548640" y="3575160"/>
            <a:ext cx="8046360" cy="475200"/>
          </a:xfrm>
          <a:prstGeom prst="roundRect">
            <a:avLst>
              <a:gd name="adj" fmla="val 15385"/>
            </a:avLst>
          </a:prstGeom>
          <a:solidFill>
            <a:srgbClr val="e7f3f1"/>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7" name="Shape 20"/>
          <p:cNvSpPr/>
          <p:nvPr/>
        </p:nvSpPr>
        <p:spPr>
          <a:xfrm>
            <a:off x="713160" y="3648600"/>
            <a:ext cx="328680" cy="32868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28" name="Image 5" descr="preencoded.png"/>
          <p:cNvPicPr/>
          <p:nvPr/>
        </p:nvPicPr>
        <p:blipFill>
          <a:blip r:embed="rId6"/>
          <a:stretch/>
        </p:blipFill>
        <p:spPr>
          <a:xfrm>
            <a:off x="786240" y="3721680"/>
            <a:ext cx="182520" cy="182520"/>
          </a:xfrm>
          <a:prstGeom prst="rect">
            <a:avLst/>
          </a:prstGeom>
          <a:ln w="0">
            <a:noFill/>
          </a:ln>
        </p:spPr>
      </p:pic>
      <p:sp>
        <p:nvSpPr>
          <p:cNvPr id="229" name="Text 21"/>
          <p:cNvSpPr/>
          <p:nvPr/>
        </p:nvSpPr>
        <p:spPr>
          <a:xfrm>
            <a:off x="1188720" y="3575160"/>
            <a:ext cx="9140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b6f68"/>
                </a:solidFill>
                <a:latin typeface="Calibri"/>
                <a:ea typeface="Calibri"/>
              </a:rPr>
              <a:t>Server</a:t>
            </a:r>
            <a:endParaRPr b="0" lang="en-US" sz="1150" spc="-1" strike="noStrike">
              <a:solidFill>
                <a:srgbClr val="000000"/>
              </a:solidFill>
              <a:latin typeface="Arial"/>
            </a:endParaRPr>
          </a:p>
        </p:txBody>
      </p:sp>
      <p:sp>
        <p:nvSpPr>
          <p:cNvPr id="230" name="Text 22"/>
          <p:cNvSpPr/>
          <p:nvPr/>
        </p:nvSpPr>
        <p:spPr>
          <a:xfrm>
            <a:off x="2103120" y="3575160"/>
            <a:ext cx="63090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verifies client cert + EKU clientAuth + revocation</a:t>
            </a:r>
            <a:endParaRPr b="0" lang="en-US" sz="1200" spc="-1" strike="noStrike">
              <a:solidFill>
                <a:srgbClr val="000000"/>
              </a:solidFill>
              <a:latin typeface="Arial"/>
            </a:endParaRPr>
          </a:p>
        </p:txBody>
      </p:sp>
      <p:sp>
        <p:nvSpPr>
          <p:cNvPr id="231" name="Shape 23"/>
          <p:cNvSpPr/>
          <p:nvPr/>
        </p:nvSpPr>
        <p:spPr>
          <a:xfrm>
            <a:off x="548640" y="4114800"/>
            <a:ext cx="8046360" cy="475200"/>
          </a:xfrm>
          <a:prstGeom prst="roundRect">
            <a:avLst>
              <a:gd name="adj" fmla="val 15385"/>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2" name="Shape 24"/>
          <p:cNvSpPr/>
          <p:nvPr/>
        </p:nvSpPr>
        <p:spPr>
          <a:xfrm>
            <a:off x="713160" y="4187880"/>
            <a:ext cx="328680" cy="328680"/>
          </a:xfrm>
          <a:prstGeom prst="ellipse">
            <a:avLst/>
          </a:prstGeom>
          <a:solidFill>
            <a:srgbClr val="5e7484"/>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33" name="Image 6" descr="preencoded.png"/>
          <p:cNvPicPr/>
          <p:nvPr/>
        </p:nvPicPr>
        <p:blipFill>
          <a:blip r:embed="rId7"/>
          <a:stretch/>
        </p:blipFill>
        <p:spPr>
          <a:xfrm>
            <a:off x="786240" y="4260960"/>
            <a:ext cx="182520" cy="182520"/>
          </a:xfrm>
          <a:prstGeom prst="rect">
            <a:avLst/>
          </a:prstGeom>
          <a:ln w="0">
            <a:noFill/>
          </a:ln>
        </p:spPr>
      </p:pic>
      <p:sp>
        <p:nvSpPr>
          <p:cNvPr id="234" name="Text 25"/>
          <p:cNvSpPr/>
          <p:nvPr/>
        </p:nvSpPr>
        <p:spPr>
          <a:xfrm>
            <a:off x="1188720" y="4114800"/>
            <a:ext cx="91404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16242f"/>
                </a:solidFill>
                <a:latin typeface="Calibri"/>
                <a:ea typeface="Calibri"/>
              </a:rPr>
              <a:t>Both</a:t>
            </a:r>
            <a:endParaRPr b="0" lang="en-US" sz="1150" spc="-1" strike="noStrike">
              <a:solidFill>
                <a:srgbClr val="000000"/>
              </a:solidFill>
              <a:latin typeface="Arial"/>
            </a:endParaRPr>
          </a:p>
        </p:txBody>
      </p:sp>
      <p:sp>
        <p:nvSpPr>
          <p:cNvPr id="235" name="Text 26"/>
          <p:cNvSpPr/>
          <p:nvPr/>
        </p:nvSpPr>
        <p:spPr>
          <a:xfrm>
            <a:off x="2103120" y="4114800"/>
            <a:ext cx="630900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e7484"/>
                </a:solidFill>
                <a:latin typeface="Calibri"/>
                <a:ea typeface="Calibri"/>
              </a:rPr>
              <a:t>derive session keys — both sides authenticated</a:t>
            </a:r>
            <a:endParaRPr b="0" lang="en-US" sz="1200" spc="-1" strike="noStrike">
              <a:solidFill>
                <a:srgbClr val="000000"/>
              </a:solidFill>
              <a:latin typeface="Arial"/>
            </a:endParaRPr>
          </a:p>
        </p:txBody>
      </p:sp>
      <p:sp>
        <p:nvSpPr>
          <p:cNvPr id="236" name="Text 28"/>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37" name="Text 29"/>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11</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2233"/>
        </a:solidFill>
      </p:bgPr>
    </p:bg>
    <p:spTree>
      <p:nvGrpSpPr>
        <p:cNvPr id="1" name=""/>
        <p:cNvGrpSpPr/>
        <p:nvPr/>
      </p:nvGrpSpPr>
      <p:grpSpPr>
        <a:xfrm>
          <a:off x="0" y="0"/>
          <a:ext cx="0" cy="0"/>
          <a:chOff x="0" y="0"/>
          <a:chExt cx="0" cy="0"/>
        </a:xfrm>
      </p:grpSpPr>
      <p:sp>
        <p:nvSpPr>
          <p:cNvPr id="238" name="Shape 0"/>
          <p:cNvSpPr/>
          <p:nvPr/>
        </p:nvSpPr>
        <p:spPr>
          <a:xfrm>
            <a:off x="457200" y="384120"/>
            <a:ext cx="566640" cy="566640"/>
          </a:xfrm>
          <a:prstGeom prst="ellipse">
            <a:avLst/>
          </a:prstGeom>
          <a:solidFill>
            <a:srgbClr val="33c2ce"/>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39" name="Image 0" descr="preencoded.png"/>
          <p:cNvPicPr/>
          <p:nvPr/>
        </p:nvPicPr>
        <p:blipFill>
          <a:blip r:embed="rId1"/>
          <a:stretch/>
        </p:blipFill>
        <p:spPr>
          <a:xfrm>
            <a:off x="589680" y="516600"/>
            <a:ext cx="301320" cy="301320"/>
          </a:xfrm>
          <a:prstGeom prst="rect">
            <a:avLst/>
          </a:prstGeom>
          <a:ln w="0">
            <a:noFill/>
          </a:ln>
        </p:spPr>
      </p:pic>
      <p:sp>
        <p:nvSpPr>
          <p:cNvPr id="240"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33c2ce"/>
                </a:solidFill>
                <a:latin typeface="Calibri"/>
                <a:ea typeface="Calibri"/>
              </a:rPr>
              <a:t>LIVE DEMO</a:t>
            </a:r>
            <a:endParaRPr b="0" lang="en-US" sz="1100" spc="-1" strike="noStrike">
              <a:solidFill>
                <a:srgbClr val="ffffff"/>
              </a:solidFill>
              <a:latin typeface="Arial"/>
            </a:endParaRPr>
          </a:p>
        </p:txBody>
      </p:sp>
      <p:sp>
        <p:nvSpPr>
          <p:cNvPr id="241"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ffffff"/>
                </a:solidFill>
                <a:latin typeface="Calibri"/>
                <a:ea typeface="Calibri"/>
              </a:rPr>
              <a:t>mTLS in action — three requests</a:t>
            </a:r>
            <a:endParaRPr b="0" lang="en-US" sz="2500" spc="-1" strike="noStrike">
              <a:solidFill>
                <a:srgbClr val="ffffff"/>
              </a:solidFill>
              <a:latin typeface="Arial"/>
            </a:endParaRPr>
          </a:p>
        </p:txBody>
      </p:sp>
      <p:sp>
        <p:nvSpPr>
          <p:cNvPr id="242" name="Shape 3"/>
          <p:cNvSpPr/>
          <p:nvPr/>
        </p:nvSpPr>
        <p:spPr>
          <a:xfrm>
            <a:off x="548640" y="1463040"/>
            <a:ext cx="2678760" cy="2331360"/>
          </a:xfrm>
          <a:prstGeom prst="roundRect">
            <a:avLst>
              <a:gd name="adj" fmla="val 3137"/>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Shape 4"/>
          <p:cNvSpPr/>
          <p:nvPr/>
        </p:nvSpPr>
        <p:spPr>
          <a:xfrm>
            <a:off x="1568160" y="1691640"/>
            <a:ext cx="639720" cy="639720"/>
          </a:xfrm>
          <a:prstGeom prst="ellipse">
            <a:avLst/>
          </a:prstGeom>
          <a:solidFill>
            <a:srgbClr val="d24b4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44" name="Image 1" descr="preencoded.png"/>
          <p:cNvPicPr/>
          <p:nvPr/>
        </p:nvPicPr>
        <p:blipFill>
          <a:blip r:embed="rId2"/>
          <a:stretch/>
        </p:blipFill>
        <p:spPr>
          <a:xfrm>
            <a:off x="1734480" y="1857960"/>
            <a:ext cx="306720" cy="306720"/>
          </a:xfrm>
          <a:prstGeom prst="rect">
            <a:avLst/>
          </a:prstGeom>
          <a:ln w="0">
            <a:noFill/>
          </a:ln>
        </p:spPr>
      </p:pic>
      <p:sp>
        <p:nvSpPr>
          <p:cNvPr id="245" name="Text 5"/>
          <p:cNvSpPr/>
          <p:nvPr/>
        </p:nvSpPr>
        <p:spPr>
          <a:xfrm>
            <a:off x="640080" y="2468880"/>
            <a:ext cx="2495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fffff"/>
                </a:solidFill>
                <a:latin typeface="Calibri"/>
                <a:ea typeface="Calibri"/>
              </a:rPr>
              <a:t>No client certificate</a:t>
            </a:r>
            <a:endParaRPr b="0" lang="en-US" sz="1350" spc="-1" strike="noStrike">
              <a:solidFill>
                <a:srgbClr val="ffffff"/>
              </a:solidFill>
              <a:latin typeface="Arial"/>
            </a:endParaRPr>
          </a:p>
        </p:txBody>
      </p:sp>
      <p:sp>
        <p:nvSpPr>
          <p:cNvPr id="246" name="Text 6"/>
          <p:cNvSpPr/>
          <p:nvPr/>
        </p:nvSpPr>
        <p:spPr>
          <a:xfrm>
            <a:off x="640080" y="2853000"/>
            <a:ext cx="2495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d24b4b"/>
                </a:solidFill>
                <a:latin typeface="Calibri"/>
                <a:ea typeface="Calibri"/>
              </a:rPr>
              <a:t>400  ·  blocked</a:t>
            </a:r>
            <a:endParaRPr b="0" lang="en-US" sz="1600" spc="-1" strike="noStrike">
              <a:solidFill>
                <a:srgbClr val="ffffff"/>
              </a:solidFill>
              <a:latin typeface="Arial"/>
            </a:endParaRPr>
          </a:p>
        </p:txBody>
      </p:sp>
      <p:sp>
        <p:nvSpPr>
          <p:cNvPr id="247" name="Text 7"/>
          <p:cNvSpPr/>
          <p:nvPr/>
        </p:nvSpPr>
        <p:spPr>
          <a:xfrm>
            <a:off x="685800" y="3246120"/>
            <a:ext cx="2404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afc3d0"/>
                </a:solidFill>
                <a:latin typeface="Calibri"/>
                <a:ea typeface="Calibri"/>
              </a:rPr>
              <a:t>“</a:t>
            </a:r>
            <a:r>
              <a:rPr b="0" i="1" lang="en-US" sz="950" spc="-1" strike="noStrike">
                <a:solidFill>
                  <a:srgbClr val="afc3d0"/>
                </a:solidFill>
                <a:latin typeface="Calibri"/>
                <a:ea typeface="Calibri"/>
              </a:rPr>
              <a:t>No required SSL certificate was sent”</a:t>
            </a:r>
            <a:endParaRPr b="0" lang="en-US" sz="950" spc="-1" strike="noStrike">
              <a:solidFill>
                <a:srgbClr val="ffffff"/>
              </a:solidFill>
              <a:latin typeface="Arial"/>
            </a:endParaRPr>
          </a:p>
        </p:txBody>
      </p:sp>
      <p:sp>
        <p:nvSpPr>
          <p:cNvPr id="248" name="Shape 8"/>
          <p:cNvSpPr/>
          <p:nvPr/>
        </p:nvSpPr>
        <p:spPr>
          <a:xfrm>
            <a:off x="3415320" y="1463040"/>
            <a:ext cx="2678760" cy="2331360"/>
          </a:xfrm>
          <a:prstGeom prst="roundRect">
            <a:avLst>
              <a:gd name="adj" fmla="val 3137"/>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Shape 9"/>
          <p:cNvSpPr/>
          <p:nvPr/>
        </p:nvSpPr>
        <p:spPr>
          <a:xfrm>
            <a:off x="4434840" y="1691640"/>
            <a:ext cx="639720" cy="639720"/>
          </a:xfrm>
          <a:prstGeom prst="ellipse">
            <a:avLst/>
          </a:prstGeom>
          <a:solidFill>
            <a:srgbClr val="1f9d6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50" name="Image 2" descr="preencoded.png"/>
          <p:cNvPicPr/>
          <p:nvPr/>
        </p:nvPicPr>
        <p:blipFill>
          <a:blip r:embed="rId3"/>
          <a:stretch/>
        </p:blipFill>
        <p:spPr>
          <a:xfrm>
            <a:off x="4601160" y="1857960"/>
            <a:ext cx="306720" cy="306720"/>
          </a:xfrm>
          <a:prstGeom prst="rect">
            <a:avLst/>
          </a:prstGeom>
          <a:ln w="0">
            <a:noFill/>
          </a:ln>
        </p:spPr>
      </p:pic>
      <p:sp>
        <p:nvSpPr>
          <p:cNvPr id="251" name="Text 10"/>
          <p:cNvSpPr/>
          <p:nvPr/>
        </p:nvSpPr>
        <p:spPr>
          <a:xfrm>
            <a:off x="3506760" y="2468880"/>
            <a:ext cx="2495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fffff"/>
                </a:solidFill>
                <a:latin typeface="Calibri"/>
                <a:ea typeface="Calibri"/>
              </a:rPr>
              <a:t>Valid cert  (prof)</a:t>
            </a:r>
            <a:endParaRPr b="0" lang="en-US" sz="1350" spc="-1" strike="noStrike">
              <a:solidFill>
                <a:srgbClr val="ffffff"/>
              </a:solidFill>
              <a:latin typeface="Arial"/>
            </a:endParaRPr>
          </a:p>
        </p:txBody>
      </p:sp>
      <p:sp>
        <p:nvSpPr>
          <p:cNvPr id="252" name="Text 11"/>
          <p:cNvSpPr/>
          <p:nvPr/>
        </p:nvSpPr>
        <p:spPr>
          <a:xfrm>
            <a:off x="3506760" y="2853000"/>
            <a:ext cx="2495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f9d6b"/>
                </a:solidFill>
                <a:latin typeface="Calibri"/>
                <a:ea typeface="Calibri"/>
              </a:rPr>
              <a:t>200  ·  OK</a:t>
            </a:r>
            <a:endParaRPr b="0" lang="en-US" sz="1600" spc="-1" strike="noStrike">
              <a:solidFill>
                <a:srgbClr val="ffffff"/>
              </a:solidFill>
              <a:latin typeface="Arial"/>
            </a:endParaRPr>
          </a:p>
        </p:txBody>
      </p:sp>
      <p:sp>
        <p:nvSpPr>
          <p:cNvPr id="253" name="Text 12"/>
          <p:cNvSpPr/>
          <p:nvPr/>
        </p:nvSpPr>
        <p:spPr>
          <a:xfrm>
            <a:off x="3552480" y="3246120"/>
            <a:ext cx="2404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afc3d0"/>
                </a:solidFill>
                <a:latin typeface="Calibri"/>
                <a:ea typeface="Calibri"/>
              </a:rPr>
              <a:t>X-Client-Verify: SUCCESS</a:t>
            </a:r>
            <a:endParaRPr b="0" lang="en-US" sz="950" spc="-1" strike="noStrike">
              <a:solidFill>
                <a:srgbClr val="ffffff"/>
              </a:solidFill>
              <a:latin typeface="Arial"/>
            </a:endParaRPr>
          </a:p>
        </p:txBody>
      </p:sp>
      <p:sp>
        <p:nvSpPr>
          <p:cNvPr id="254" name="Shape 13"/>
          <p:cNvSpPr/>
          <p:nvPr/>
        </p:nvSpPr>
        <p:spPr>
          <a:xfrm>
            <a:off x="6282000" y="1463040"/>
            <a:ext cx="2678760" cy="2331360"/>
          </a:xfrm>
          <a:prstGeom prst="roundRect">
            <a:avLst>
              <a:gd name="adj" fmla="val 3137"/>
            </a:avLst>
          </a:prstGeom>
          <a:solidFill>
            <a:srgbClr val="143b52"/>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Shape 14"/>
          <p:cNvSpPr/>
          <p:nvPr/>
        </p:nvSpPr>
        <p:spPr>
          <a:xfrm>
            <a:off x="7301520" y="1691640"/>
            <a:ext cx="639720" cy="639720"/>
          </a:xfrm>
          <a:prstGeom prst="ellipse">
            <a:avLst/>
          </a:prstGeom>
          <a:solidFill>
            <a:srgbClr val="d24b4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56" name="Image 3" descr="preencoded.png"/>
          <p:cNvPicPr/>
          <p:nvPr/>
        </p:nvPicPr>
        <p:blipFill>
          <a:blip r:embed="rId4"/>
          <a:stretch/>
        </p:blipFill>
        <p:spPr>
          <a:xfrm>
            <a:off x="7467840" y="1857960"/>
            <a:ext cx="306720" cy="306720"/>
          </a:xfrm>
          <a:prstGeom prst="rect">
            <a:avLst/>
          </a:prstGeom>
          <a:ln w="0">
            <a:noFill/>
          </a:ln>
        </p:spPr>
      </p:pic>
      <p:sp>
        <p:nvSpPr>
          <p:cNvPr id="257" name="Text 15"/>
          <p:cNvSpPr/>
          <p:nvPr/>
        </p:nvSpPr>
        <p:spPr>
          <a:xfrm>
            <a:off x="6373440" y="2468880"/>
            <a:ext cx="2495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fffff"/>
                </a:solidFill>
                <a:latin typeface="Calibri"/>
                <a:ea typeface="Calibri"/>
              </a:rPr>
              <a:t>Revoked cert  (student)</a:t>
            </a:r>
            <a:endParaRPr b="0" lang="en-US" sz="1350" spc="-1" strike="noStrike">
              <a:solidFill>
                <a:srgbClr val="ffffff"/>
              </a:solidFill>
              <a:latin typeface="Arial"/>
            </a:endParaRPr>
          </a:p>
        </p:txBody>
      </p:sp>
      <p:sp>
        <p:nvSpPr>
          <p:cNvPr id="258" name="Text 16"/>
          <p:cNvSpPr/>
          <p:nvPr/>
        </p:nvSpPr>
        <p:spPr>
          <a:xfrm>
            <a:off x="6373440" y="2853000"/>
            <a:ext cx="2495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d24b4b"/>
                </a:solidFill>
                <a:latin typeface="Calibri"/>
                <a:ea typeface="Calibri"/>
              </a:rPr>
              <a:t>400  ·  blocked</a:t>
            </a:r>
            <a:endParaRPr b="0" lang="en-US" sz="1600" spc="-1" strike="noStrike">
              <a:solidFill>
                <a:srgbClr val="ffffff"/>
              </a:solidFill>
              <a:latin typeface="Arial"/>
            </a:endParaRPr>
          </a:p>
        </p:txBody>
      </p:sp>
      <p:sp>
        <p:nvSpPr>
          <p:cNvPr id="259" name="Text 17"/>
          <p:cNvSpPr/>
          <p:nvPr/>
        </p:nvSpPr>
        <p:spPr>
          <a:xfrm>
            <a:off x="6419160" y="3246120"/>
            <a:ext cx="2404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950" spc="-1" strike="noStrike">
                <a:solidFill>
                  <a:srgbClr val="afc3d0"/>
                </a:solidFill>
                <a:latin typeface="Calibri"/>
                <a:ea typeface="Calibri"/>
              </a:rPr>
              <a:t>“</a:t>
            </a:r>
            <a:r>
              <a:rPr b="0" i="1" lang="en-US" sz="950" spc="-1" strike="noStrike">
                <a:solidFill>
                  <a:srgbClr val="afc3d0"/>
                </a:solidFill>
                <a:latin typeface="Calibri"/>
                <a:ea typeface="Calibri"/>
              </a:rPr>
              <a:t>The SSL certificate error”</a:t>
            </a:r>
            <a:endParaRPr b="0" lang="en-US" sz="950" spc="-1" strike="noStrike">
              <a:solidFill>
                <a:srgbClr val="ffffff"/>
              </a:solidFill>
              <a:latin typeface="Arial"/>
            </a:endParaRPr>
          </a:p>
        </p:txBody>
      </p:sp>
      <p:sp>
        <p:nvSpPr>
          <p:cNvPr id="260" name="Shape 18"/>
          <p:cNvSpPr/>
          <p:nvPr/>
        </p:nvSpPr>
        <p:spPr>
          <a:xfrm>
            <a:off x="548640" y="3977640"/>
            <a:ext cx="8046360" cy="566640"/>
          </a:xfrm>
          <a:prstGeom prst="roundRect">
            <a:avLst>
              <a:gd name="adj" fmla="val 9677"/>
            </a:avLst>
          </a:prstGeom>
          <a:solidFill>
            <a:srgbClr val="081a2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Text 19"/>
          <p:cNvSpPr/>
          <p:nvPr/>
        </p:nvSpPr>
        <p:spPr>
          <a:xfrm>
            <a:off x="777240" y="3977640"/>
            <a:ext cx="76806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33c2ce"/>
                </a:solidFill>
                <a:latin typeface="Calibri"/>
                <a:ea typeface="Calibri"/>
              </a:rPr>
              <a:t>Then in the browser:  </a:t>
            </a:r>
            <a:r>
              <a:rPr b="0" lang="en-US" sz="1150" spc="-1" strike="noStrike">
                <a:solidFill>
                  <a:srgbClr val="d7e2e8"/>
                </a:solidFill>
                <a:latin typeface="Calibri"/>
                <a:ea typeface="Calibri"/>
              </a:rPr>
              <a:t>open https://www.cybersec.ulb.ac.be → pick the client cert → padlock shows the full chain.</a:t>
            </a:r>
            <a:endParaRPr b="0" lang="en-US"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62"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63" name="Image 0" descr="preencoded.png"/>
          <p:cNvPicPr/>
          <p:nvPr/>
        </p:nvPicPr>
        <p:blipFill>
          <a:blip r:embed="rId1"/>
          <a:stretch/>
        </p:blipFill>
        <p:spPr>
          <a:xfrm>
            <a:off x="589680" y="516600"/>
            <a:ext cx="301320" cy="301320"/>
          </a:xfrm>
          <a:prstGeom prst="rect">
            <a:avLst/>
          </a:prstGeom>
          <a:ln w="0">
            <a:noFill/>
          </a:ln>
        </p:spPr>
      </p:pic>
      <p:sp>
        <p:nvSpPr>
          <p:cNvPr id="264"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AUTOMATION</a:t>
            </a:r>
            <a:endParaRPr b="0" lang="en-US" sz="1100" spc="-1" strike="noStrike">
              <a:solidFill>
                <a:srgbClr val="000000"/>
              </a:solidFill>
              <a:latin typeface="Arial"/>
            </a:endParaRPr>
          </a:p>
        </p:txBody>
      </p:sp>
      <p:sp>
        <p:nvSpPr>
          <p:cNvPr id="265"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Automated certificate renewal</a:t>
            </a:r>
            <a:endParaRPr b="0" lang="en-US" sz="2500" spc="-1" strike="noStrike">
              <a:solidFill>
                <a:srgbClr val="000000"/>
              </a:solidFill>
              <a:latin typeface="Arial"/>
            </a:endParaRPr>
          </a:p>
        </p:txBody>
      </p:sp>
      <p:sp>
        <p:nvSpPr>
          <p:cNvPr id="266" name="Shape 3"/>
          <p:cNvSpPr/>
          <p:nvPr/>
        </p:nvSpPr>
        <p:spPr>
          <a:xfrm>
            <a:off x="548640" y="1417320"/>
            <a:ext cx="3017160" cy="3062880"/>
          </a:xfrm>
          <a:prstGeom prst="roundRect">
            <a:avLst>
              <a:gd name="adj" fmla="val 2424"/>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7" name="Text 4"/>
          <p:cNvSpPr/>
          <p:nvPr/>
        </p:nvSpPr>
        <p:spPr>
          <a:xfrm>
            <a:off x="777240" y="1600200"/>
            <a:ext cx="26514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f9c92"/>
                </a:solidFill>
                <a:latin typeface="Calibri"/>
                <a:ea typeface="Calibri"/>
              </a:rPr>
              <a:t>Why it matters</a:t>
            </a:r>
            <a:endParaRPr b="0" lang="en-US" sz="1400" spc="-1" strike="noStrike">
              <a:solidFill>
                <a:srgbClr val="000000"/>
              </a:solidFill>
              <a:latin typeface="Arial"/>
            </a:endParaRPr>
          </a:p>
        </p:txBody>
      </p:sp>
      <p:sp>
        <p:nvSpPr>
          <p:cNvPr id="268" name="Text 5"/>
          <p:cNvSpPr/>
          <p:nvPr/>
        </p:nvSpPr>
        <p:spPr>
          <a:xfrm>
            <a:off x="777240" y="2011680"/>
            <a:ext cx="25599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d24b4b"/>
                </a:solidFill>
                <a:latin typeface="Calibri"/>
                <a:ea typeface="Calibri"/>
              </a:rPr>
              <a:t>147M</a:t>
            </a:r>
            <a:endParaRPr b="0" lang="en-US" sz="4400" spc="-1" strike="noStrike">
              <a:solidFill>
                <a:srgbClr val="000000"/>
              </a:solidFill>
              <a:latin typeface="Arial"/>
            </a:endParaRPr>
          </a:p>
        </p:txBody>
      </p:sp>
      <p:sp>
        <p:nvSpPr>
          <p:cNvPr id="269" name="Text 6"/>
          <p:cNvSpPr/>
          <p:nvPr/>
        </p:nvSpPr>
        <p:spPr>
          <a:xfrm>
            <a:off x="777240" y="2743200"/>
            <a:ext cx="260568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00" spc="-1" strike="noStrike">
                <a:solidFill>
                  <a:srgbClr val="5e7484"/>
                </a:solidFill>
                <a:latin typeface="Calibri"/>
                <a:ea typeface="Calibri"/>
              </a:rPr>
              <a:t>records breached at Equifax (2017) — traced to one internal certificate left expired for ten months.</a:t>
            </a:r>
            <a:endParaRPr b="0" lang="en-US" sz="1200" spc="-1" strike="noStrike">
              <a:solidFill>
                <a:srgbClr val="000000"/>
              </a:solidFill>
              <a:latin typeface="Arial"/>
            </a:endParaRPr>
          </a:p>
        </p:txBody>
      </p:sp>
      <p:sp>
        <p:nvSpPr>
          <p:cNvPr id="270" name="Text 7"/>
          <p:cNvSpPr/>
          <p:nvPr/>
        </p:nvSpPr>
        <p:spPr>
          <a:xfrm>
            <a:off x="3840480" y="1463040"/>
            <a:ext cx="47545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6242f"/>
                </a:solidFill>
                <a:latin typeface="Calibri"/>
                <a:ea typeface="Calibri"/>
              </a:rPr>
              <a:t>Our renewal pipeline</a:t>
            </a:r>
            <a:endParaRPr b="0" lang="en-US" sz="1400" spc="-1" strike="noStrike">
              <a:solidFill>
                <a:srgbClr val="000000"/>
              </a:solidFill>
              <a:latin typeface="Arial"/>
            </a:endParaRPr>
          </a:p>
        </p:txBody>
      </p:sp>
      <p:sp>
        <p:nvSpPr>
          <p:cNvPr id="271" name="Shape 8"/>
          <p:cNvSpPr/>
          <p:nvPr/>
        </p:nvSpPr>
        <p:spPr>
          <a:xfrm>
            <a:off x="3886200" y="1847160"/>
            <a:ext cx="273960" cy="2739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72" name="Image 1" descr="preencoded.png"/>
          <p:cNvPicPr/>
          <p:nvPr/>
        </p:nvPicPr>
        <p:blipFill>
          <a:blip r:embed="rId2"/>
          <a:stretch/>
        </p:blipFill>
        <p:spPr>
          <a:xfrm>
            <a:off x="3931920" y="1892880"/>
            <a:ext cx="182520" cy="182520"/>
          </a:xfrm>
          <a:prstGeom prst="rect">
            <a:avLst/>
          </a:prstGeom>
          <a:ln w="0">
            <a:noFill/>
          </a:ln>
        </p:spPr>
      </p:pic>
      <p:sp>
        <p:nvSpPr>
          <p:cNvPr id="273" name="Text 9"/>
          <p:cNvSpPr/>
          <p:nvPr/>
        </p:nvSpPr>
        <p:spPr>
          <a:xfrm>
            <a:off x="4297680" y="1792080"/>
            <a:ext cx="42973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Daily cron — runs unattended</a:t>
            </a:r>
            <a:endParaRPr b="0" lang="en-US" sz="1200" spc="-1" strike="noStrike">
              <a:solidFill>
                <a:srgbClr val="000000"/>
              </a:solidFill>
              <a:latin typeface="Arial"/>
            </a:endParaRPr>
          </a:p>
        </p:txBody>
      </p:sp>
      <p:sp>
        <p:nvSpPr>
          <p:cNvPr id="274" name="Shape 10"/>
          <p:cNvSpPr/>
          <p:nvPr/>
        </p:nvSpPr>
        <p:spPr>
          <a:xfrm>
            <a:off x="3886200" y="2295000"/>
            <a:ext cx="273960" cy="2739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75" name="Image 2" descr="preencoded.png"/>
          <p:cNvPicPr/>
          <p:nvPr/>
        </p:nvPicPr>
        <p:blipFill>
          <a:blip r:embed="rId3"/>
          <a:stretch/>
        </p:blipFill>
        <p:spPr>
          <a:xfrm>
            <a:off x="3931920" y="2340720"/>
            <a:ext cx="182520" cy="182520"/>
          </a:xfrm>
          <a:prstGeom prst="rect">
            <a:avLst/>
          </a:prstGeom>
          <a:ln w="0">
            <a:noFill/>
          </a:ln>
        </p:spPr>
      </p:pic>
      <p:sp>
        <p:nvSpPr>
          <p:cNvPr id="276" name="Text 11"/>
          <p:cNvSpPr/>
          <p:nvPr/>
        </p:nvSpPr>
        <p:spPr>
          <a:xfrm>
            <a:off x="4297680" y="2240280"/>
            <a:ext cx="42973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Renew only if &lt; 30 days left </a:t>
            </a:r>
            <a:endParaRPr b="0" lang="en-US" sz="1200" spc="-1" strike="noStrike">
              <a:solidFill>
                <a:srgbClr val="000000"/>
              </a:solidFill>
              <a:latin typeface="Arial"/>
            </a:endParaRPr>
          </a:p>
        </p:txBody>
      </p:sp>
      <p:sp>
        <p:nvSpPr>
          <p:cNvPr id="277" name="Shape 12"/>
          <p:cNvSpPr/>
          <p:nvPr/>
        </p:nvSpPr>
        <p:spPr>
          <a:xfrm>
            <a:off x="3886200" y="2743200"/>
            <a:ext cx="273960" cy="2739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78" name="Image 3" descr="preencoded.png"/>
          <p:cNvPicPr/>
          <p:nvPr/>
        </p:nvPicPr>
        <p:blipFill>
          <a:blip r:embed="rId4"/>
          <a:stretch/>
        </p:blipFill>
        <p:spPr>
          <a:xfrm>
            <a:off x="3931920" y="2788920"/>
            <a:ext cx="182520" cy="182520"/>
          </a:xfrm>
          <a:prstGeom prst="rect">
            <a:avLst/>
          </a:prstGeom>
          <a:ln w="0">
            <a:noFill/>
          </a:ln>
        </p:spPr>
      </p:pic>
      <p:sp>
        <p:nvSpPr>
          <p:cNvPr id="279" name="Text 13"/>
          <p:cNvSpPr/>
          <p:nvPr/>
        </p:nvSpPr>
        <p:spPr>
          <a:xfrm>
            <a:off x="4297680" y="2688480"/>
            <a:ext cx="42973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Re-key, new CSR, sign, verify vs chain</a:t>
            </a:r>
            <a:endParaRPr b="0" lang="en-US" sz="1200" spc="-1" strike="noStrike">
              <a:solidFill>
                <a:srgbClr val="000000"/>
              </a:solidFill>
              <a:latin typeface="Arial"/>
            </a:endParaRPr>
          </a:p>
        </p:txBody>
      </p:sp>
      <p:sp>
        <p:nvSpPr>
          <p:cNvPr id="280" name="Shape 14"/>
          <p:cNvSpPr/>
          <p:nvPr/>
        </p:nvSpPr>
        <p:spPr>
          <a:xfrm>
            <a:off x="3886200" y="3191400"/>
            <a:ext cx="273960" cy="2739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81" name="Image 4" descr="preencoded.png"/>
          <p:cNvPicPr/>
          <p:nvPr/>
        </p:nvPicPr>
        <p:blipFill>
          <a:blip r:embed="rId5"/>
          <a:stretch/>
        </p:blipFill>
        <p:spPr>
          <a:xfrm>
            <a:off x="3931920" y="3237120"/>
            <a:ext cx="182520" cy="182520"/>
          </a:xfrm>
          <a:prstGeom prst="rect">
            <a:avLst/>
          </a:prstGeom>
          <a:ln w="0">
            <a:noFill/>
          </a:ln>
        </p:spPr>
      </p:pic>
      <p:sp>
        <p:nvSpPr>
          <p:cNvPr id="282" name="Text 15"/>
          <p:cNvSpPr/>
          <p:nvPr/>
        </p:nvSpPr>
        <p:spPr>
          <a:xfrm>
            <a:off x="4297680" y="3136320"/>
            <a:ext cx="42973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Back up, atomic swap, reload Nginx</a:t>
            </a:r>
            <a:endParaRPr b="0" lang="en-US" sz="1200" spc="-1" strike="noStrike">
              <a:solidFill>
                <a:srgbClr val="000000"/>
              </a:solidFill>
              <a:latin typeface="Arial"/>
            </a:endParaRPr>
          </a:p>
        </p:txBody>
      </p:sp>
      <p:sp>
        <p:nvSpPr>
          <p:cNvPr id="283" name="Shape 16"/>
          <p:cNvSpPr/>
          <p:nvPr/>
        </p:nvSpPr>
        <p:spPr>
          <a:xfrm>
            <a:off x="3886200" y="3639240"/>
            <a:ext cx="273960" cy="2739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84" name="Image 5" descr="preencoded.png"/>
          <p:cNvPicPr/>
          <p:nvPr/>
        </p:nvPicPr>
        <p:blipFill>
          <a:blip r:embed="rId6"/>
          <a:stretch/>
        </p:blipFill>
        <p:spPr>
          <a:xfrm>
            <a:off x="3931920" y="3684960"/>
            <a:ext cx="182520" cy="182520"/>
          </a:xfrm>
          <a:prstGeom prst="rect">
            <a:avLst/>
          </a:prstGeom>
          <a:ln w="0">
            <a:noFill/>
          </a:ln>
        </p:spPr>
      </p:pic>
      <p:sp>
        <p:nvSpPr>
          <p:cNvPr id="285" name="Text 17"/>
          <p:cNvSpPr/>
          <p:nvPr/>
        </p:nvSpPr>
        <p:spPr>
          <a:xfrm>
            <a:off x="4297680" y="3584520"/>
            <a:ext cx="42973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Server and client certs both tracked</a:t>
            </a:r>
            <a:endParaRPr b="0" lang="en-US" sz="1200" spc="-1" strike="noStrike">
              <a:solidFill>
                <a:srgbClr val="000000"/>
              </a:solidFill>
              <a:latin typeface="Arial"/>
            </a:endParaRPr>
          </a:p>
        </p:txBody>
      </p:sp>
      <p:sp>
        <p:nvSpPr>
          <p:cNvPr id="286" name="Shape 18"/>
          <p:cNvSpPr/>
          <p:nvPr/>
        </p:nvSpPr>
        <p:spPr>
          <a:xfrm>
            <a:off x="3886200" y="4087440"/>
            <a:ext cx="273960" cy="27396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87" name="Image 6" descr="preencoded.png"/>
          <p:cNvPicPr/>
          <p:nvPr/>
        </p:nvPicPr>
        <p:blipFill>
          <a:blip r:embed="rId7"/>
          <a:stretch/>
        </p:blipFill>
        <p:spPr>
          <a:xfrm>
            <a:off x="3931920" y="4133160"/>
            <a:ext cx="182520" cy="182520"/>
          </a:xfrm>
          <a:prstGeom prst="rect">
            <a:avLst/>
          </a:prstGeom>
          <a:ln w="0">
            <a:noFill/>
          </a:ln>
        </p:spPr>
      </p:pic>
      <p:sp>
        <p:nvSpPr>
          <p:cNvPr id="288" name="Text 19"/>
          <p:cNvSpPr/>
          <p:nvPr/>
        </p:nvSpPr>
        <p:spPr>
          <a:xfrm>
            <a:off x="4297680" y="4032360"/>
            <a:ext cx="42973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6242f"/>
                </a:solidFill>
                <a:latin typeface="Calibri"/>
                <a:ea typeface="Calibri"/>
              </a:rPr>
              <a:t>Weekly CRL refresh keeps it valid</a:t>
            </a:r>
            <a:endParaRPr b="0" lang="en-US" sz="1200" spc="-1" strike="noStrike">
              <a:solidFill>
                <a:srgbClr val="000000"/>
              </a:solidFill>
              <a:latin typeface="Arial"/>
            </a:endParaRPr>
          </a:p>
        </p:txBody>
      </p:sp>
      <p:sp>
        <p:nvSpPr>
          <p:cNvPr id="289" name="Text 20"/>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290" name="Text 21"/>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13</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91"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92" name="Image 0" descr="preencoded.png"/>
          <p:cNvPicPr/>
          <p:nvPr/>
        </p:nvPicPr>
        <p:blipFill>
          <a:blip r:embed="rId1"/>
          <a:stretch/>
        </p:blipFill>
        <p:spPr>
          <a:xfrm>
            <a:off x="589680" y="516600"/>
            <a:ext cx="301320" cy="301320"/>
          </a:xfrm>
          <a:prstGeom prst="rect">
            <a:avLst/>
          </a:prstGeom>
          <a:ln w="0">
            <a:noFill/>
          </a:ln>
        </p:spPr>
      </p:pic>
      <p:sp>
        <p:nvSpPr>
          <p:cNvPr id="293"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LIMITATIONS</a:t>
            </a:r>
            <a:endParaRPr b="0" lang="en-US" sz="1100" spc="-1" strike="noStrike">
              <a:solidFill>
                <a:srgbClr val="000000"/>
              </a:solidFill>
              <a:latin typeface="Arial"/>
            </a:endParaRPr>
          </a:p>
        </p:txBody>
      </p:sp>
      <p:sp>
        <p:nvSpPr>
          <p:cNvPr id="294"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When PKI breaks — real incidents</a:t>
            </a:r>
            <a:endParaRPr b="0" lang="en-US" sz="2500" spc="-1" strike="noStrike">
              <a:solidFill>
                <a:srgbClr val="000000"/>
              </a:solidFill>
              <a:latin typeface="Arial"/>
            </a:endParaRPr>
          </a:p>
        </p:txBody>
      </p:sp>
      <p:sp>
        <p:nvSpPr>
          <p:cNvPr id="295" name="Shape 3"/>
          <p:cNvSpPr/>
          <p:nvPr/>
        </p:nvSpPr>
        <p:spPr>
          <a:xfrm>
            <a:off x="548640" y="1417320"/>
            <a:ext cx="3931560" cy="1416960"/>
          </a:xfrm>
          <a:prstGeom prst="roundRect">
            <a:avLst>
              <a:gd name="adj" fmla="val 516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6" name="Text 4"/>
          <p:cNvSpPr/>
          <p:nvPr/>
        </p:nvSpPr>
        <p:spPr>
          <a:xfrm>
            <a:off x="777240" y="153612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DigiNotar</a:t>
            </a:r>
            <a:endParaRPr b="0" lang="en-US" sz="1500" spc="-1" strike="noStrike">
              <a:solidFill>
                <a:srgbClr val="000000"/>
              </a:solidFill>
              <a:latin typeface="Arial"/>
            </a:endParaRPr>
          </a:p>
        </p:txBody>
      </p:sp>
      <p:sp>
        <p:nvSpPr>
          <p:cNvPr id="297" name="Text 5"/>
          <p:cNvSpPr/>
          <p:nvPr/>
        </p:nvSpPr>
        <p:spPr>
          <a:xfrm>
            <a:off x="3383280" y="1536120"/>
            <a:ext cx="91404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00" spc="-1" strike="noStrike">
                <a:solidFill>
                  <a:srgbClr val="d24b4b"/>
                </a:solidFill>
                <a:latin typeface="Calibri"/>
                <a:ea typeface="Calibri"/>
              </a:rPr>
              <a:t>2011</a:t>
            </a:r>
            <a:endParaRPr b="0" lang="en-US" sz="1200" spc="-1" strike="noStrike">
              <a:solidFill>
                <a:srgbClr val="000000"/>
              </a:solidFill>
              <a:latin typeface="Arial"/>
            </a:endParaRPr>
          </a:p>
        </p:txBody>
      </p:sp>
      <p:sp>
        <p:nvSpPr>
          <p:cNvPr id="298" name="Text 6"/>
          <p:cNvSpPr/>
          <p:nvPr/>
        </p:nvSpPr>
        <p:spPr>
          <a:xfrm>
            <a:off x="777240" y="1874520"/>
            <a:ext cx="3520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CA breached → 531 fake certs, *.google.com used to spy on 300k users.</a:t>
            </a:r>
            <a:endParaRPr b="0" lang="en-US" sz="1050" spc="-1" strike="noStrike">
              <a:solidFill>
                <a:srgbClr val="000000"/>
              </a:solidFill>
              <a:latin typeface="Arial"/>
            </a:endParaRPr>
          </a:p>
        </p:txBody>
      </p:sp>
      <p:sp>
        <p:nvSpPr>
          <p:cNvPr id="299" name="Text 7"/>
          <p:cNvSpPr/>
          <p:nvPr/>
        </p:nvSpPr>
        <p:spPr>
          <a:xfrm>
            <a:off x="777240" y="2477880"/>
            <a:ext cx="35200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0f9c92"/>
                </a:solidFill>
                <a:latin typeface="Calibri"/>
                <a:ea typeface="Calibri"/>
              </a:rPr>
              <a:t>→ </a:t>
            </a:r>
            <a:r>
              <a:rPr b="1" lang="en-US" sz="1050" spc="-1" strike="noStrike">
                <a:solidFill>
                  <a:srgbClr val="0f9c92"/>
                </a:solidFill>
                <a:latin typeface="Calibri"/>
                <a:ea typeface="Calibri"/>
              </a:rPr>
              <a:t>keep the Root offline</a:t>
            </a:r>
            <a:endParaRPr b="0" lang="en-US" sz="1050" spc="-1" strike="noStrike">
              <a:solidFill>
                <a:srgbClr val="000000"/>
              </a:solidFill>
              <a:latin typeface="Arial"/>
            </a:endParaRPr>
          </a:p>
        </p:txBody>
      </p:sp>
      <p:sp>
        <p:nvSpPr>
          <p:cNvPr id="300" name="Shape 8"/>
          <p:cNvSpPr/>
          <p:nvPr/>
        </p:nvSpPr>
        <p:spPr>
          <a:xfrm>
            <a:off x="4663440" y="1417320"/>
            <a:ext cx="3931560" cy="1416960"/>
          </a:xfrm>
          <a:prstGeom prst="roundRect">
            <a:avLst>
              <a:gd name="adj" fmla="val 516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1" name="Text 9"/>
          <p:cNvSpPr/>
          <p:nvPr/>
        </p:nvSpPr>
        <p:spPr>
          <a:xfrm>
            <a:off x="4892040" y="153612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Symantec</a:t>
            </a:r>
            <a:endParaRPr b="0" lang="en-US" sz="1500" spc="-1" strike="noStrike">
              <a:solidFill>
                <a:srgbClr val="000000"/>
              </a:solidFill>
              <a:latin typeface="Arial"/>
            </a:endParaRPr>
          </a:p>
        </p:txBody>
      </p:sp>
      <p:sp>
        <p:nvSpPr>
          <p:cNvPr id="302" name="Text 10"/>
          <p:cNvSpPr/>
          <p:nvPr/>
        </p:nvSpPr>
        <p:spPr>
          <a:xfrm>
            <a:off x="7498080" y="1536120"/>
            <a:ext cx="91404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00" spc="-1" strike="noStrike">
                <a:solidFill>
                  <a:srgbClr val="d24b4b"/>
                </a:solidFill>
                <a:latin typeface="Calibri"/>
                <a:ea typeface="Calibri"/>
              </a:rPr>
              <a:t>2017</a:t>
            </a:r>
            <a:endParaRPr b="0" lang="en-US" sz="1200" spc="-1" strike="noStrike">
              <a:solidFill>
                <a:srgbClr val="000000"/>
              </a:solidFill>
              <a:latin typeface="Arial"/>
            </a:endParaRPr>
          </a:p>
        </p:txBody>
      </p:sp>
      <p:sp>
        <p:nvSpPr>
          <p:cNvPr id="303" name="Text 11"/>
          <p:cNvSpPr/>
          <p:nvPr/>
        </p:nvSpPr>
        <p:spPr>
          <a:xfrm>
            <a:off x="4892040" y="1874520"/>
            <a:ext cx="3520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30,000+ misissued certs via unsupervised resellers → distrusted by Chrome.</a:t>
            </a:r>
            <a:endParaRPr b="0" lang="en-US" sz="1050" spc="-1" strike="noStrike">
              <a:solidFill>
                <a:srgbClr val="000000"/>
              </a:solidFill>
              <a:latin typeface="Arial"/>
            </a:endParaRPr>
          </a:p>
        </p:txBody>
      </p:sp>
      <p:sp>
        <p:nvSpPr>
          <p:cNvPr id="304" name="Text 12"/>
          <p:cNvSpPr/>
          <p:nvPr/>
        </p:nvSpPr>
        <p:spPr>
          <a:xfrm>
            <a:off x="4892040" y="2477880"/>
            <a:ext cx="35200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0f9c92"/>
                </a:solidFill>
                <a:latin typeface="Calibri"/>
                <a:ea typeface="Calibri"/>
              </a:rPr>
              <a:t>→ </a:t>
            </a:r>
            <a:r>
              <a:rPr b="1" lang="en-US" sz="1050" spc="-1" strike="noStrike">
                <a:solidFill>
                  <a:srgbClr val="0f9c92"/>
                </a:solidFill>
                <a:latin typeface="Calibri"/>
                <a:ea typeface="Calibri"/>
              </a:rPr>
              <a:t>governance &amp; oversight</a:t>
            </a:r>
            <a:endParaRPr b="0" lang="en-US" sz="1050" spc="-1" strike="noStrike">
              <a:solidFill>
                <a:srgbClr val="000000"/>
              </a:solidFill>
              <a:latin typeface="Arial"/>
            </a:endParaRPr>
          </a:p>
        </p:txBody>
      </p:sp>
      <p:sp>
        <p:nvSpPr>
          <p:cNvPr id="305" name="Shape 13"/>
          <p:cNvSpPr/>
          <p:nvPr/>
        </p:nvSpPr>
        <p:spPr>
          <a:xfrm>
            <a:off x="548640" y="2990160"/>
            <a:ext cx="3931560" cy="1416960"/>
          </a:xfrm>
          <a:prstGeom prst="roundRect">
            <a:avLst>
              <a:gd name="adj" fmla="val 516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6" name="Text 14"/>
          <p:cNvSpPr/>
          <p:nvPr/>
        </p:nvSpPr>
        <p:spPr>
          <a:xfrm>
            <a:off x="777240" y="310896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Heartbleed</a:t>
            </a:r>
            <a:endParaRPr b="0" lang="en-US" sz="1500" spc="-1" strike="noStrike">
              <a:solidFill>
                <a:srgbClr val="000000"/>
              </a:solidFill>
              <a:latin typeface="Arial"/>
            </a:endParaRPr>
          </a:p>
        </p:txBody>
      </p:sp>
      <p:sp>
        <p:nvSpPr>
          <p:cNvPr id="307" name="Text 15"/>
          <p:cNvSpPr/>
          <p:nvPr/>
        </p:nvSpPr>
        <p:spPr>
          <a:xfrm>
            <a:off x="3383280" y="3108960"/>
            <a:ext cx="91404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00" spc="-1" strike="noStrike">
                <a:solidFill>
                  <a:srgbClr val="d24b4b"/>
                </a:solidFill>
                <a:latin typeface="Calibri"/>
                <a:ea typeface="Calibri"/>
              </a:rPr>
              <a:t>2014</a:t>
            </a:r>
            <a:endParaRPr b="0" lang="en-US" sz="1200" spc="-1" strike="noStrike">
              <a:solidFill>
                <a:srgbClr val="000000"/>
              </a:solidFill>
              <a:latin typeface="Arial"/>
            </a:endParaRPr>
          </a:p>
        </p:txBody>
      </p:sp>
      <p:sp>
        <p:nvSpPr>
          <p:cNvPr id="308" name="Text 16"/>
          <p:cNvSpPr/>
          <p:nvPr/>
        </p:nvSpPr>
        <p:spPr>
          <a:xfrm>
            <a:off x="777240" y="3447360"/>
            <a:ext cx="3520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Keys leaked on ~17% of servers; ~98% of revocations were ignored.</a:t>
            </a:r>
            <a:endParaRPr b="0" lang="en-US" sz="1050" spc="-1" strike="noStrike">
              <a:solidFill>
                <a:srgbClr val="000000"/>
              </a:solidFill>
              <a:latin typeface="Arial"/>
            </a:endParaRPr>
          </a:p>
        </p:txBody>
      </p:sp>
      <p:sp>
        <p:nvSpPr>
          <p:cNvPr id="309" name="Text 17"/>
          <p:cNvSpPr/>
          <p:nvPr/>
        </p:nvSpPr>
        <p:spPr>
          <a:xfrm>
            <a:off x="777240" y="4050720"/>
            <a:ext cx="35200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0f9c92"/>
                </a:solidFill>
                <a:latin typeface="Calibri"/>
                <a:ea typeface="Calibri"/>
              </a:rPr>
              <a:t>→ </a:t>
            </a:r>
            <a:r>
              <a:rPr b="1" lang="en-US" sz="1050" spc="-1" strike="noStrike">
                <a:solidFill>
                  <a:srgbClr val="0f9c92"/>
                </a:solidFill>
                <a:latin typeface="Calibri"/>
                <a:ea typeface="Calibri"/>
              </a:rPr>
              <a:t>short-lived certs</a:t>
            </a:r>
            <a:endParaRPr b="0" lang="en-US" sz="1050" spc="-1" strike="noStrike">
              <a:solidFill>
                <a:srgbClr val="000000"/>
              </a:solidFill>
              <a:latin typeface="Arial"/>
            </a:endParaRPr>
          </a:p>
        </p:txBody>
      </p:sp>
      <p:sp>
        <p:nvSpPr>
          <p:cNvPr id="310" name="Shape 18"/>
          <p:cNvSpPr/>
          <p:nvPr/>
        </p:nvSpPr>
        <p:spPr>
          <a:xfrm>
            <a:off x="4663440" y="2990160"/>
            <a:ext cx="3931560" cy="1416960"/>
          </a:xfrm>
          <a:prstGeom prst="roundRect">
            <a:avLst>
              <a:gd name="adj" fmla="val 5161"/>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1" name="Text 19"/>
          <p:cNvSpPr/>
          <p:nvPr/>
        </p:nvSpPr>
        <p:spPr>
          <a:xfrm>
            <a:off x="4892040" y="310896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6242f"/>
                </a:solidFill>
                <a:latin typeface="Calibri"/>
                <a:ea typeface="Calibri"/>
              </a:rPr>
              <a:t>Equifax</a:t>
            </a:r>
            <a:endParaRPr b="0" lang="en-US" sz="1500" spc="-1" strike="noStrike">
              <a:solidFill>
                <a:srgbClr val="000000"/>
              </a:solidFill>
              <a:latin typeface="Arial"/>
            </a:endParaRPr>
          </a:p>
        </p:txBody>
      </p:sp>
      <p:sp>
        <p:nvSpPr>
          <p:cNvPr id="312" name="Text 20"/>
          <p:cNvSpPr/>
          <p:nvPr/>
        </p:nvSpPr>
        <p:spPr>
          <a:xfrm>
            <a:off x="7498080" y="3108960"/>
            <a:ext cx="914040" cy="3196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00" spc="-1" strike="noStrike">
                <a:solidFill>
                  <a:srgbClr val="d24b4b"/>
                </a:solidFill>
                <a:latin typeface="Calibri"/>
                <a:ea typeface="Calibri"/>
              </a:rPr>
              <a:t>2017</a:t>
            </a:r>
            <a:endParaRPr b="0" lang="en-US" sz="1200" spc="-1" strike="noStrike">
              <a:solidFill>
                <a:srgbClr val="000000"/>
              </a:solidFill>
              <a:latin typeface="Arial"/>
            </a:endParaRPr>
          </a:p>
        </p:txBody>
      </p:sp>
      <p:sp>
        <p:nvSpPr>
          <p:cNvPr id="313" name="Text 21"/>
          <p:cNvSpPr/>
          <p:nvPr/>
        </p:nvSpPr>
        <p:spPr>
          <a:xfrm>
            <a:off x="4892040" y="3447360"/>
            <a:ext cx="35200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5e7484"/>
                </a:solidFill>
                <a:latin typeface="Calibri"/>
                <a:ea typeface="Calibri"/>
              </a:rPr>
              <a:t>One internal cert expired for 10 months → 145M records exfiltrated.</a:t>
            </a:r>
            <a:endParaRPr b="0" lang="en-US" sz="1050" spc="-1" strike="noStrike">
              <a:solidFill>
                <a:srgbClr val="000000"/>
              </a:solidFill>
              <a:latin typeface="Arial"/>
            </a:endParaRPr>
          </a:p>
        </p:txBody>
      </p:sp>
      <p:sp>
        <p:nvSpPr>
          <p:cNvPr id="314" name="Text 22"/>
          <p:cNvSpPr/>
          <p:nvPr/>
        </p:nvSpPr>
        <p:spPr>
          <a:xfrm>
            <a:off x="4892040" y="4050720"/>
            <a:ext cx="35200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0f9c92"/>
                </a:solidFill>
                <a:latin typeface="Calibri"/>
                <a:ea typeface="Calibri"/>
              </a:rPr>
              <a:t>→ </a:t>
            </a:r>
            <a:r>
              <a:rPr b="1" lang="en-US" sz="1050" spc="-1" strike="noStrike">
                <a:solidFill>
                  <a:srgbClr val="0f9c92"/>
                </a:solidFill>
                <a:latin typeface="Calibri"/>
                <a:ea typeface="Calibri"/>
              </a:rPr>
              <a:t>automate renewal</a:t>
            </a:r>
            <a:endParaRPr b="0" lang="en-US" sz="1050" spc="-1" strike="noStrike">
              <a:solidFill>
                <a:srgbClr val="000000"/>
              </a:solidFill>
              <a:latin typeface="Arial"/>
            </a:endParaRPr>
          </a:p>
        </p:txBody>
      </p:sp>
      <p:sp>
        <p:nvSpPr>
          <p:cNvPr id="315" name="Text 23"/>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316" name="Text 24"/>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14</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317" name="Shape 0"/>
          <p:cNvSpPr/>
          <p:nvPr/>
        </p:nvSpPr>
        <p:spPr>
          <a:xfrm>
            <a:off x="457200" y="384120"/>
            <a:ext cx="566640" cy="566640"/>
          </a:xfrm>
          <a:prstGeom prst="ellipse">
            <a:avLst/>
          </a:prstGeom>
          <a:solidFill>
            <a:srgbClr val="0f9c9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318" name="Image 0" descr="preencoded.png"/>
          <p:cNvPicPr/>
          <p:nvPr/>
        </p:nvPicPr>
        <p:blipFill>
          <a:blip r:embed="rId1"/>
          <a:stretch/>
        </p:blipFill>
        <p:spPr>
          <a:xfrm>
            <a:off x="589680" y="516600"/>
            <a:ext cx="301320" cy="301320"/>
          </a:xfrm>
          <a:prstGeom prst="rect">
            <a:avLst/>
          </a:prstGeom>
          <a:ln w="0">
            <a:noFill/>
          </a:ln>
        </p:spPr>
      </p:pic>
      <p:sp>
        <p:nvSpPr>
          <p:cNvPr id="319" name="Text 1"/>
          <p:cNvSpPr/>
          <p:nvPr/>
        </p:nvSpPr>
        <p:spPr>
          <a:xfrm>
            <a:off x="1188720" y="402480"/>
            <a:ext cx="73148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0f9c92"/>
                </a:solidFill>
                <a:latin typeface="Calibri"/>
                <a:ea typeface="Calibri"/>
              </a:rPr>
              <a:t>LIMITATIONS</a:t>
            </a:r>
            <a:endParaRPr b="0" lang="en-US" sz="1100" spc="-1" strike="noStrike">
              <a:solidFill>
                <a:srgbClr val="000000"/>
              </a:solidFill>
              <a:latin typeface="Arial"/>
            </a:endParaRPr>
          </a:p>
        </p:txBody>
      </p:sp>
      <p:sp>
        <p:nvSpPr>
          <p:cNvPr id="320" name="Text 2"/>
          <p:cNvSpPr/>
          <p:nvPr/>
        </p:nvSpPr>
        <p:spPr>
          <a:xfrm>
            <a:off x="1170360" y="603360"/>
            <a:ext cx="7497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6242f"/>
                </a:solidFill>
                <a:latin typeface="Calibri"/>
                <a:ea typeface="Calibri"/>
              </a:rPr>
              <a:t>Lessons → our design choices</a:t>
            </a:r>
            <a:endParaRPr b="0" lang="en-US" sz="2500" spc="-1" strike="noStrike">
              <a:solidFill>
                <a:srgbClr val="000000"/>
              </a:solidFill>
              <a:latin typeface="Arial"/>
            </a:endParaRPr>
          </a:p>
        </p:txBody>
      </p:sp>
      <p:sp>
        <p:nvSpPr>
          <p:cNvPr id="321" name="Shape 3"/>
          <p:cNvSpPr/>
          <p:nvPr/>
        </p:nvSpPr>
        <p:spPr>
          <a:xfrm>
            <a:off x="548640" y="1463040"/>
            <a:ext cx="3931560" cy="89568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2" name="Shape 4"/>
          <p:cNvSpPr/>
          <p:nvPr/>
        </p:nvSpPr>
        <p:spPr>
          <a:xfrm>
            <a:off x="731520" y="168264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23" name="Image 1" descr="preencoded.png"/>
          <p:cNvPicPr/>
          <p:nvPr/>
        </p:nvPicPr>
        <p:blipFill>
          <a:blip r:embed="rId2"/>
          <a:stretch/>
        </p:blipFill>
        <p:spPr>
          <a:xfrm>
            <a:off x="850320" y="1801440"/>
            <a:ext cx="219240" cy="219240"/>
          </a:xfrm>
          <a:prstGeom prst="rect">
            <a:avLst/>
          </a:prstGeom>
          <a:ln w="0">
            <a:noFill/>
          </a:ln>
        </p:spPr>
      </p:pic>
      <p:sp>
        <p:nvSpPr>
          <p:cNvPr id="324" name="Text 5"/>
          <p:cNvSpPr/>
          <p:nvPr/>
        </p:nvSpPr>
        <p:spPr>
          <a:xfrm>
            <a:off x="1325880" y="1463040"/>
            <a:ext cx="3017160" cy="895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Offline Root CA</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compromise can't reach the trust anchor</a:t>
            </a:r>
            <a:endParaRPr b="0" lang="en-US" sz="1000" spc="-1" strike="noStrike">
              <a:solidFill>
                <a:srgbClr val="000000"/>
              </a:solidFill>
              <a:latin typeface="Arial"/>
            </a:endParaRPr>
          </a:p>
        </p:txBody>
      </p:sp>
      <p:sp>
        <p:nvSpPr>
          <p:cNvPr id="325" name="Shape 6"/>
          <p:cNvSpPr/>
          <p:nvPr/>
        </p:nvSpPr>
        <p:spPr>
          <a:xfrm>
            <a:off x="4663440" y="1463040"/>
            <a:ext cx="3931560" cy="89568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6" name="Shape 7"/>
          <p:cNvSpPr/>
          <p:nvPr/>
        </p:nvSpPr>
        <p:spPr>
          <a:xfrm>
            <a:off x="4846320" y="168264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27" name="Image 2" descr="preencoded.png"/>
          <p:cNvPicPr/>
          <p:nvPr/>
        </p:nvPicPr>
        <p:blipFill>
          <a:blip r:embed="rId3"/>
          <a:stretch/>
        </p:blipFill>
        <p:spPr>
          <a:xfrm>
            <a:off x="4965120" y="1801440"/>
            <a:ext cx="219240" cy="219240"/>
          </a:xfrm>
          <a:prstGeom prst="rect">
            <a:avLst/>
          </a:prstGeom>
          <a:ln w="0">
            <a:noFill/>
          </a:ln>
        </p:spPr>
      </p:pic>
      <p:sp>
        <p:nvSpPr>
          <p:cNvPr id="328" name="Text 8"/>
          <p:cNvSpPr/>
          <p:nvPr/>
        </p:nvSpPr>
        <p:spPr>
          <a:xfrm>
            <a:off x="5440680" y="1463040"/>
            <a:ext cx="3017160" cy="895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Strict EKU separation</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server vs client roles never overlap</a:t>
            </a:r>
            <a:endParaRPr b="0" lang="en-US" sz="1000" spc="-1" strike="noStrike">
              <a:solidFill>
                <a:srgbClr val="000000"/>
              </a:solidFill>
              <a:latin typeface="Arial"/>
            </a:endParaRPr>
          </a:p>
        </p:txBody>
      </p:sp>
      <p:sp>
        <p:nvSpPr>
          <p:cNvPr id="329" name="Shape 9"/>
          <p:cNvSpPr/>
          <p:nvPr/>
        </p:nvSpPr>
        <p:spPr>
          <a:xfrm>
            <a:off x="548640" y="2496240"/>
            <a:ext cx="3931560" cy="89568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0" name="Shape 10"/>
          <p:cNvSpPr/>
          <p:nvPr/>
        </p:nvSpPr>
        <p:spPr>
          <a:xfrm>
            <a:off x="731520" y="271584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1" name="Image 3" descr="preencoded.png"/>
          <p:cNvPicPr/>
          <p:nvPr/>
        </p:nvPicPr>
        <p:blipFill>
          <a:blip r:embed="rId4"/>
          <a:stretch/>
        </p:blipFill>
        <p:spPr>
          <a:xfrm>
            <a:off x="850320" y="2834640"/>
            <a:ext cx="219240" cy="219240"/>
          </a:xfrm>
          <a:prstGeom prst="rect">
            <a:avLst/>
          </a:prstGeom>
          <a:ln w="0">
            <a:noFill/>
          </a:ln>
        </p:spPr>
      </p:pic>
      <p:sp>
        <p:nvSpPr>
          <p:cNvPr id="332" name="Text 11"/>
          <p:cNvSpPr/>
          <p:nvPr/>
        </p:nvSpPr>
        <p:spPr>
          <a:xfrm>
            <a:off x="1325880" y="2496240"/>
            <a:ext cx="3017160" cy="895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Automated renewal</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no certificate ever silently expires</a:t>
            </a:r>
            <a:endParaRPr b="0" lang="en-US" sz="1000" spc="-1" strike="noStrike">
              <a:solidFill>
                <a:srgbClr val="000000"/>
              </a:solidFill>
              <a:latin typeface="Arial"/>
            </a:endParaRPr>
          </a:p>
        </p:txBody>
      </p:sp>
      <p:sp>
        <p:nvSpPr>
          <p:cNvPr id="333" name="Shape 12"/>
          <p:cNvSpPr/>
          <p:nvPr/>
        </p:nvSpPr>
        <p:spPr>
          <a:xfrm>
            <a:off x="4663440" y="2496240"/>
            <a:ext cx="3931560" cy="89568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4" name="Shape 13"/>
          <p:cNvSpPr/>
          <p:nvPr/>
        </p:nvSpPr>
        <p:spPr>
          <a:xfrm>
            <a:off x="4846320" y="271584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5" name="Image 4" descr="preencoded.png"/>
          <p:cNvPicPr/>
          <p:nvPr/>
        </p:nvPicPr>
        <p:blipFill>
          <a:blip r:embed="rId5"/>
          <a:stretch/>
        </p:blipFill>
        <p:spPr>
          <a:xfrm>
            <a:off x="4965120" y="2834640"/>
            <a:ext cx="219240" cy="219240"/>
          </a:xfrm>
          <a:prstGeom prst="rect">
            <a:avLst/>
          </a:prstGeom>
          <a:ln w="0">
            <a:noFill/>
          </a:ln>
        </p:spPr>
      </p:pic>
      <p:sp>
        <p:nvSpPr>
          <p:cNvPr id="336" name="Text 14"/>
          <p:cNvSpPr/>
          <p:nvPr/>
        </p:nvSpPr>
        <p:spPr>
          <a:xfrm>
            <a:off x="5440680" y="2496240"/>
            <a:ext cx="3017160" cy="895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Scheduled CRL refresh</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revocation stays current and valid</a:t>
            </a:r>
            <a:endParaRPr b="0" lang="en-US" sz="1000" spc="-1" strike="noStrike">
              <a:solidFill>
                <a:srgbClr val="000000"/>
              </a:solidFill>
              <a:latin typeface="Arial"/>
            </a:endParaRPr>
          </a:p>
        </p:txBody>
      </p:sp>
      <p:sp>
        <p:nvSpPr>
          <p:cNvPr id="337" name="Shape 15"/>
          <p:cNvSpPr/>
          <p:nvPr/>
        </p:nvSpPr>
        <p:spPr>
          <a:xfrm>
            <a:off x="548640" y="3529440"/>
            <a:ext cx="3931560" cy="89568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8" name="Shape 16"/>
          <p:cNvSpPr/>
          <p:nvPr/>
        </p:nvSpPr>
        <p:spPr>
          <a:xfrm>
            <a:off x="731520" y="374904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9" name="Image 5" descr="preencoded.png"/>
          <p:cNvPicPr/>
          <p:nvPr/>
        </p:nvPicPr>
        <p:blipFill>
          <a:blip r:embed="rId6"/>
          <a:stretch/>
        </p:blipFill>
        <p:spPr>
          <a:xfrm>
            <a:off x="850320" y="3867840"/>
            <a:ext cx="219240" cy="219240"/>
          </a:xfrm>
          <a:prstGeom prst="rect">
            <a:avLst/>
          </a:prstGeom>
          <a:ln w="0">
            <a:noFill/>
          </a:ln>
        </p:spPr>
      </p:pic>
      <p:sp>
        <p:nvSpPr>
          <p:cNvPr id="340" name="Text 17"/>
          <p:cNvSpPr/>
          <p:nvPr/>
        </p:nvSpPr>
        <p:spPr>
          <a:xfrm>
            <a:off x="1325880" y="3529440"/>
            <a:ext cx="3017160" cy="895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Encrypted keys, 0600 perms</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private keys protected at rest</a:t>
            </a:r>
            <a:endParaRPr b="0" lang="en-US" sz="1000" spc="-1" strike="noStrike">
              <a:solidFill>
                <a:srgbClr val="000000"/>
              </a:solidFill>
              <a:latin typeface="Arial"/>
            </a:endParaRPr>
          </a:p>
        </p:txBody>
      </p:sp>
      <p:sp>
        <p:nvSpPr>
          <p:cNvPr id="341" name="Shape 18"/>
          <p:cNvSpPr/>
          <p:nvPr/>
        </p:nvSpPr>
        <p:spPr>
          <a:xfrm>
            <a:off x="4663440" y="3529440"/>
            <a:ext cx="3931560" cy="895680"/>
          </a:xfrm>
          <a:prstGeom prst="roundRect">
            <a:avLst>
              <a:gd name="adj" fmla="val 8163"/>
            </a:avLst>
          </a:prstGeom>
          <a:solidFill>
            <a:srgbClr val="ffffff"/>
          </a:solidFill>
          <a:ln w="0">
            <a:noFill/>
          </a:ln>
          <a:effectLst>
            <a:outerShdw algn="bl" blurRad="88920" dir="5400000" dist="38160" kx="0" ky="0" rotWithShape="0" sx="100000" sy="100000">
              <a:srgbClr val="0c2233">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2" name="Shape 19"/>
          <p:cNvSpPr/>
          <p:nvPr/>
        </p:nvSpPr>
        <p:spPr>
          <a:xfrm>
            <a:off x="4846320" y="3749040"/>
            <a:ext cx="456840" cy="456840"/>
          </a:xfrm>
          <a:prstGeom prst="ellipse">
            <a:avLst/>
          </a:prstGeom>
          <a:solidFill>
            <a:srgbClr val="eaf2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43" name="Image 6" descr="preencoded.png"/>
          <p:cNvPicPr/>
          <p:nvPr/>
        </p:nvPicPr>
        <p:blipFill>
          <a:blip r:embed="rId7"/>
          <a:stretch/>
        </p:blipFill>
        <p:spPr>
          <a:xfrm>
            <a:off x="4965120" y="3867840"/>
            <a:ext cx="219240" cy="219240"/>
          </a:xfrm>
          <a:prstGeom prst="rect">
            <a:avLst/>
          </a:prstGeom>
          <a:ln w="0">
            <a:noFill/>
          </a:ln>
        </p:spPr>
      </p:pic>
      <p:sp>
        <p:nvSpPr>
          <p:cNvPr id="344" name="Text 20"/>
          <p:cNvSpPr/>
          <p:nvPr/>
        </p:nvSpPr>
        <p:spPr>
          <a:xfrm>
            <a:off x="5440680" y="3529440"/>
            <a:ext cx="3017160" cy="895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6242f"/>
                </a:solidFill>
                <a:latin typeface="Calibri"/>
                <a:ea typeface="Calibri"/>
              </a:rPr>
              <a:t>SAN + fullchain everywhere</a:t>
            </a:r>
            <a:endParaRPr b="0" lang="en-US" sz="1300" spc="-1" strike="noStrike">
              <a:solidFill>
                <a:srgbClr val="000000"/>
              </a:solidFill>
              <a:latin typeface="Arial"/>
            </a:endParaRPr>
          </a:p>
          <a:p>
            <a:pPr defTabSz="914400">
              <a:lnSpc>
                <a:spcPct val="100000"/>
              </a:lnSpc>
              <a:tabLst>
                <a:tab algn="l" pos="0"/>
              </a:tabLst>
            </a:pPr>
            <a:r>
              <a:rPr b="0" lang="en-US" sz="1000" spc="-1" strike="noStrike">
                <a:solidFill>
                  <a:srgbClr val="5e7484"/>
                </a:solidFill>
                <a:latin typeface="Calibri"/>
                <a:ea typeface="Calibri"/>
              </a:rPr>
              <a:t>works in real browsers, not just curl</a:t>
            </a:r>
            <a:endParaRPr b="0" lang="en-US" sz="1000" spc="-1" strike="noStrike">
              <a:solidFill>
                <a:srgbClr val="000000"/>
              </a:solidFill>
              <a:latin typeface="Arial"/>
            </a:endParaRPr>
          </a:p>
        </p:txBody>
      </p:sp>
      <p:sp>
        <p:nvSpPr>
          <p:cNvPr id="345" name="Text 21"/>
          <p:cNvSpPr/>
          <p:nvPr/>
        </p:nvSpPr>
        <p:spPr>
          <a:xfrm>
            <a:off x="457200" y="4855320"/>
            <a:ext cx="54860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5e7484"/>
                </a:solidFill>
                <a:latin typeface="Calibri"/>
                <a:ea typeface="Calibri"/>
              </a:rPr>
              <a:t>Certificate Authority Chain &amp; Mutual TLS</a:t>
            </a:r>
            <a:endParaRPr b="0" lang="en-US" sz="800" spc="-1" strike="noStrike">
              <a:solidFill>
                <a:srgbClr val="000000"/>
              </a:solidFill>
              <a:latin typeface="Arial"/>
            </a:endParaRPr>
          </a:p>
        </p:txBody>
      </p:sp>
      <p:sp>
        <p:nvSpPr>
          <p:cNvPr id="346" name="Text 22"/>
          <p:cNvSpPr/>
          <p:nvPr/>
        </p:nvSpPr>
        <p:spPr>
          <a:xfrm>
            <a:off x="8229600" y="4855320"/>
            <a:ext cx="456840" cy="228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5e7484"/>
                </a:solidFill>
                <a:latin typeface="Calibri"/>
                <a:ea typeface="Calibri"/>
              </a:rPr>
              <a:t>15</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2061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2026-06-12T07:39:54Z</dcterms:created>
  <dc:creator>ULB Cybersecurity Lab</dc:creator>
  <dc:description/>
  <dc:language>en-US</dc:language>
  <cp:lastModifiedBy/>
  <dcterms:modified xsi:type="dcterms:W3CDTF">2026-06-13T20:17:04Z</dcterms:modified>
  <cp:revision>10</cp:revision>
  <dc:subject>PptxGenJS Presentation</dc:subject>
  <dc:title>Certificate Authority Chain &amp; Mutual TLS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